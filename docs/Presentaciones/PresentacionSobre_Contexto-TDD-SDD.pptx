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Arranque. Presentación breve del objetivo: no venimos a vender una herramienta, venimos a entender por qué el agente se comporta como se comporta y qué disciplinas de trabajo nos dan mejores resultados.
Tres bloques: (1) el modelo mental de cómo funciona el contexto — esto es lo que más impacto tiene en el día a día; (2) TDD, muy breve, porque probablemente ya lo conocen; (3) SDD, que es lo más nuevo y donde quiero dejar la idea instalada.
Aclarar que TDD y SDD no se presentan como competidores: son dos prácticas distintas, cada una con su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agenda en 30 segundos, sin detenerse.
Marcar el énfasis: los primeros tres bloques son un solo hilo — cómo funciona el contexto y cómo lo administramos. Los últimos dos son prácticas de desarrollo.
Si el tiempo aprieta, el bloque de comandos se puede acortar porque queda como material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quiero que se lleven aunque se olviden de todo lo demás.
Una llamada al modelo es literalmente stateless: entra un texto, sale un texto. Es más parecido a una función pura que a una persona con la que venís charlando.
La sensación de conversación es una ilusión que construye el cliente. Cuando escribís el segundo mensaje, el modelo no 'se acuerda' del primero: el cliente le vuelve a mandar el primero, junto con su respuesta, junto con el nuevo mensaje.
Aclarar también que el modelo no aprende de vos en el uso diario: los pesos son fijos. Lo que llamamos 'memoria' (archivos tipo CLAUDE.md, memorias guardadas) es texto que alguien vuelve a pegar en el contexto.
Pregunta retórica para enganchar con la próxima slide: si no recuerda nada, ¿cómo hace para seguir el hilo?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está el esquema clave. Leer las columnas de izquierda a derecha.
Turno 1: se manda el system prompt + definiciones de herramientas + tu mensaje. Turno 2: se manda TODO lo del turno 1, más la respuesta del agente, más tu nuevo mensaje. Turno 3: lo mismo otra vez, más grande.
Lo que no está dibujado y conviene mencionar: los resultados de herramientas. Cada archivo leído, cada salida de test, cada respuesta de un grep entra también en esa pila y suele pesar mucho más que los mensajes de texto.
Punto económico: no pagás por pregunta difícil, pagás por conversación larga. Una pregunta trivial en el turno 40 cuesta bastante más que la misma pregunta en el turno 2.
Punto técnico: hay caché de prompt, que abarata la parte repetida del contexto, pero se invalida cuando cambia algo al principio del contexto. No cambia la conclusión: contexto largo = turnos caros y lentos.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ventana de contexto es grande pero finita. Pensarla como un presupuesto ayuda a tomar decisiones.
Lo importante de este gráfico: los dos bloques más grandes — resultados de herramientas y archivos leídos — son los que menos controlamos conscientemente. Nadie decide 'voy a gastar el 30% del contexto en la salida de un test', simplemente pasa.
Ejemplo concreto para contar: pedirle al agente que lea un archivo de 3.000 líneas para cambiar una función. Ese archivo entero queda en el contexto por el resto de la sesión y se retransmite en cada turno.
El último bloque, 'espacio libre para razonar', es el que se sacrifica primero cuando todo lo demás crece. Ahí es donde empieza a degradarse la calidad.
Aclarar que las proporciones son ilustrativas: si alguien quiere el número real de su sesión, existe /context, que vemos en unas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razones, dos económicas y dos de calidad. Las de calidad son las que más sorprenden.
Costo y latencia son consecuencia directa de la slide anterior: reenviás todo, pagás todo, esperás por todo.
Precisión: existe un efecto bien documentado — a veces llamado 'lost in the middle' — donde los modelos recuperan mejor lo que está al principio y al final del contexto que lo que quedó en el medio. Una conversación de 60 turnos entierra la instrucción importante del turno 5.
Distracción es la más traicionera: el contexto no distingue entre 'lo que funcionó' y 'lo que probamos y descartamos'. Si estuviste media hora peleando con un enfoque equivocado, todo ese ruido sigue ahí y el agente lo sigue considerando material válido. Es la causa más común de que un agente 'se vuelva tonto' a mitad de la sesión.
Frase para dejar: el contexto no es un log, es el espacio de trabajo. Se ordena.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la parte práctica del diagnóstico. Pedirles que levanten la mano si les pasó alguna: casi siempre las cinco.
La idea es reencuadrar estos síntomas. No son 'el modelo está fallando' ni 'hoy está tonto': son señales de que el contexto necesita mantenimiento, igual que un IDE que necesita reindexar.
El más importante es el primero: repetir un error ya corregido. Pasa porque en el contexto conviven el intento malo y la corrección, sin ninguna marca de cuál está vigente.
El fenómeno tiene nombre: context rot. El término viene del informe técnico de Chroma (julio 2025, 'Context Rot: How Increasing Input Tokens Impacts LLM Performance', 18 modelos evaluados), y Anthropic lo retoma en 'Effective context engineering for AI agents' con la idea de presupuesto de atención: cada token nuevo consume parte de ese presupuesto.
Importante para no exagerar el dato: es un gradiente, no un acantilado. Anthropic lo dice con todas las letras — 'a performance gradient rather than a hard cliff'. No hay un porcentaje exacto de llenado a partir del cual el modelo se rompe; la degradación es progresiva y empieza mucho antes del límite de la ventana. Si alguien pregunta por un número, la respuesta honesta es que depende de la tarea y del modelo.
Transición: la buena noticia es que hay comandos concretos para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limpiar, medir. Estos dos comandos son de lectura, no cambian nada.
/context es el que más recomiendo incorporar como hábito. Te muestra una grilla con el uso de la ventana y el desglose por elemento. Es donde uno descubre que el 40% se lo comió un archivo que se leyó una vez.
/usage es el otro lado: cuánto se está gastando, con atribución por skills, MCP y plugins, y detección de comportamientos anómalos. Tiene vistas de 24 horas y 7 días.
Sugerencia práctica: correr /context cuando sentís que el agente se puso lento o raro, antes de compactar a ciegas. Muchas veces la respuesta es obvia apenas lo mirás.
Nota: la parte de atribución de /usage está disponible en planes Pro y superiores; la sección de sesión se ve en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comandos de acción. Los dos primeros limpian; el tercero evita ensuciar.
/compact resume: libera espacio pero conserva el hilo. Preserva reglas, skills y archivos de memoria. Lo más útil y menos conocido es que acepta instrucciones: podés decirle en qué enfocar el resumen, por ejemplo 'preservá la lista completa de archivos modificados'.
/clear vacía: perdés todo el historial y arrancás limpio. Tiene alias /reset y /new.
/btw es el menos conocido y el que más me gusta recomendar: sirve para esa pregunta lateral que aparece en el medio de una tarea — 'a todo esto, ¿cómo era la sintaxis de tal cosa?'. La respuesta llega aislada y no se queda en el historial. Sin /btw, esa curiosidad de dos minutos se paga en cada turno de las próximas dos horas.
Regla práctica: misma tarea, sin espacio → /compact. Tarea nueva → /clear. Consulta que no es parte de la tarea → /btw. El error típico es arrastrar una conversación de tres horas para preguntar algo que no tiene nada que ver.
Sobre auto-compact: se dispara sola cerca del límite. No está mal, pero decide ella qué conservar y suele activarse justo cuando estás en el medio de algo.
Mencionar al pasar /rewind, que permite volver a un checkpoint anterior de la conversación o del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de contexto: seis hábitos, ordenados por retorno sobre esfuerzo.
El primero es el que más rinde y el que menos cuesta: /clear entre tareas. Literalmente una tecla.
El tercero suele sorprender: el archivo de reglas del proyecto se envía en cada turno. Si tiene 400 líneas con convenciones de un framework que ya no usamos, eso se paga en cada llamada y además compite con la atención del modelo.
El cuarto es el más potente en tareas grandes: los subagentes procesan material verboso en su propio contexto y devuelven solo la conclusión. El contexto principal se mantiene limpio.
El último es una cuestión de comunicación: el agente no infiere que descartaste un enfoque. Si no se lo decís, lo sigue teniendo como opción viva.
Transición al bloque de prácticas de desarrollo.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Definir los dos términos en una frase cada uno y no filosofar.
Determinista: misma entrada, misma salida, siempre. Un compilador, una función pura, un test. La propiedad clave no es la exactitud: es que se puede reproducir. Si falla, falla igual las diez veces, y por eso se puede depurar.
No determinista: la misma entrada puede dar salidas distintas. El modelo elige cada token muestreando de una distribución. Aclarar que bajar la temperatura acota la variación pero no la garantiza, y que además el contexto casi nunca es exactamente el mismo dos veces — con lo cual, en la práctica, nunca repetís la misma entrada.
Por qué es LA batalla del desarrollo con agentes: todo nuestro oficio está construido sobre la reproducibilidad. Los tests, el control de versiones, los pipelines, el debugging. Metimos en el medio un componente que no se comporta igual dos veces, y encima le delegamos la parte que más volumen tiene.
El error común es intentar domesticar al modelo — buscar el prompt mágico que siempre devuelva lo mismo. No existe: es una propiedad del modelo, no un bug de tu prompt.
La estrategia que sí funciona es la del recuadro: aceptar que el núcleo es no determinista y rodearlo de bordes deterministas. Entrada estable (una spec), salida verificable (tests), y contexto reducido para achicar la superficie de variación.
Transición: eso es exactamente lo que hacen las dos prácticas que vienen. TDD pone el borde determinista en la salida; SDD lo pone en la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skills son la forma de que el conocimiento del equipo deje de vivir en la cabeza de cada uno y en prompts improvisados.
Qué es, en concreto: una carpeta con un SKILL.md. Arriba, un frontmatter con dos campos que importan — name y description. Abajo, el procedimiento escrito en Markdown, como se lo explicarías a alguien que recién entra. Al lado pueden ir scripts y plantillas. La description es la parte más importante del archivo: tiene que decir qué hace y cuándo usarla, porque es lo que el modelo lee para decidir si la activa.
Dónde se instalan — la parte práctica. Hay dos alcances y vale la pena tenerlos claros:
· En el repositorio: quedan versionadas y las usa todo el equipo. En Claude Code van en .claude/skills. Copilot acepta .github/skills, .agents/skills y también .claude/skills.
· En tu carpeta de usuario: te siguen a todos tus proyectos pero nadie más las ve. En Claude Code, ~/.claude/skills. En Copilot, ~/.copilot/skills o ~/.agents/skills.
El dato que conviene remarcar: como Copilot lee .claude/skills en el repo, una misma carpeta de skills versionada puede servir a las dos herramientas. No hay que mantener dos copias. El formato SKILL.md es prácticamente un estándar abierto en este momento.
Regla de decisión: si la skill le sirve al equipo, va al repo. Si es tu manía personal, va a tu carpeta de usuario.
La carga progresiva es el punto que conecta con la primera parte de la charla. Solo el nivel 1 — name y description — está en contexto desde el arranque. El SKILL.md completo entra recién cuando se activa, y los scripts y archivos de apoyo solo si se referencian. De un script se paga su salida, no su código. Podés tener veinte skills instaladas y el costo fijo sigue siendo mínimo.
Contrastar con CLAUDE.md: ahí todo lo que escribís se envía en cada turno, aplique o no. Convenciones del proyecto van en CLAUDE.md; procedimientos que se repiten van en una skill.
Y la conexión con la slide anterior: una skill es una entrada estable. En vez de explicar el procedimiento distinto cada vez, queda escrito y versionado. Es otra forma de acotar la varianza — la misma idea que después vamos a ver en grande con SDD.
Si hay tiempo: proponer que cada uno piense en una tarea que ya explicó tres veces. Esa es la primera skill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el puente entre la primera parte y las dos prácticas que vienen.
Antes: el grueso del día era tipear código. Todo lo demás — arquitectura, seguridad, UX, tests, code review, documentación — se comprimía en un margen chico, y por eso solía ser lo primero que se recortaba cuando apretaba la fecha.
Ahora, en la mayoría de los proyectos: la escritura de código y de tests baja a casi cero. No porque desaparezca el trabajo, sino porque lo hace el agente.
Aclarar bien esto, porque es donde suele haber malentendidos: el tiempo no se libera, se desplaza. Aparecen tareas que antes casi no existían — escribir especificaciones, definir criterios de aceptación, revisar críticamente código que no escribiste, administrar el contexto del agente. Y las que antes se recortaban ahora son el trabajo principal.
Los porcentajes son una estimación para ilustrar la magnitud del desplazamiento, no una medición. Si alguien objeta los números, el punto no son los números: es que el bloque grande cambió de lado.
Consecuencia y transición: si el cuello de botella ya no es tipear sino especificar y verificar, tiene sentido invertir en las dos disciplinas que veremos — TDD para verificar a nivel de unidad, SDD para especificar a nivel de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Separador. Aclarar de entrada que este bloque es breve y a modo de repaso: la mayoría ya lo conoce o lo practicó.
El objetivo no es enseñar TDD sino tenerlo fresco para poder contrastar el nivel al que opera, frente a SDD que veremos después. Cada una tiene su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rápido del ciclo rojo–verde–refactor. No detenerse mucho: 2 minutos.
Rojo: el test falla y eso es información. Si no falla, el test no está probando lo que creés.
Verde: el mínimo código para pasar. La disciplina de escribir lo mínimo es lo que evita sobre-ingeniería.
Refactor: acá se cobra la inversión — podés cambiar el diseño con confianza porque los tests te avisan si rompés algo.
El punto que quiero subrayar es el del recuadro: el test es una especificación ejecutable, pero a nivel de unidad. Define cómo se comporta una función o una clase. Guardar esa frase para cuando lleguemos a SDD, que opera un nivel más arriba.
Si el grupo tiene experiencia con agentes, mencionar que TDD funciona muy bien con agentes: el test da un criterio de éxito objetivo y verificable, en lugar de que el agente decida solo cuándo terminó.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honesto. No quiero venderlo como bala de plata.
De las ventajas, la que más pesa en la práctica es la primera: sin tests, refactorizar da miedo, y el miedo a refactorizar es cómo se pudre una base de código. La tercera también es fuerte: si algo es muy difícil de testear, normalmente el problema está en el diseño, no en el test.
De las desventajas, la más honesta es la cuarta: en exploración pura o en un prototipo que va a la basura en dos días, TDD es fricción sin retorno. Vale decirlo abiertamente.
Y la tercera merece un comentario: tests frágiles, atados a detalles de implementación, terminan siendo un impuesto en cada cambio. Testear comportamiento, no implementación.
No abrir debate largo acá si el tiempo aprieta; ofrecer seguir en el espacio 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Separador. Cambio de tema: esto es lo más nuevo y lo que quiero que se lleven como idea para probar.
Anticipar que SDD ganó tracción justamente por el uso de agentes: cuando el que escribe el código es un agente, el cuello de botella deja de ser tipear y pasa a ser especificar bien qué querés.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SDD invierte el orden habitual: en vez de que la spec sea un documento que se escribe al principio, se ignora, y queda desactualizado, la spec es el artefacto principal y el código es lo derivado.
Recorrer el flujo: especificación (qué y por qué, con criterios de aceptación, sin decidir el cómo) → plan técnico (el cómo) → tareas chicas y verificables → implementación. Cada paso es revisable antes de pasar al siguiente, que es donde está el ahorro.
La regla que lo define está en la barra del medio: si algo salió distinto de lo esperado, se corrige la spec y se vuelve a derivar. Si parcheás el código y no tocás la spec, en dos semanas la spec ya no vale nada y volviste al punto de partida.
Conectar con la primera parte de la charla: la spec vive en un archivo, no en la conversación. Sobrevive a /clear, a la compactación y al cambio de sesión. Es la mejor respuesta al problema de memoria que vimos al principio.
Y el punto que quiero que se lleven de esta slide, dicho con todas las letras: SDD es el principal método que tenemos para reducir el no determinismo. Volver al esquema anterior — el modelo es no determinista y no lo vamos a cambiar; lo único que controlamos es la entrada. Una spec escrita es una entrada estable: dos corridas contra la misma especificación convergen, dos explicaciones improvisadas divergen. No elimina la varianza, la acota, y eso es todo lo que se puede pedir.
Y remarcar: el trabajo caro con agentes no es escribir el código, es acordar qué hay que construir. SDD pone el esfuerzo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más común con SDD es aplicarlo a todo. La ceremonia mata la práctica.
Del lado de 'conviene', lo que tienen en común los cinco casos es que el costo de un malentendido es alto: o porque toca muchas partes, o porque hay varias personas involucradas, o porque el comportamiento correcto no es obvio.
Del lado de 'no conviene', el caso más importante es la exploración. Si todavía no sabés qué querés construir, no podés especificarlo — y forzar una spec ahí sirve para fijar prematuramente decisiones equivocadas.
La regla del pie de página es la que me resulta más útil en el día a día: si explicar la tarea cuesta más que hacerla, hacela. Si la vas a explicar tres veces — a vos mismo mañana, al agente en otra sesión, a un compañero en la review — escribila una vez bien.
Sugerencia de adopción: empezar por una feature mediana, no por la más crítica ni por un bugfix.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de SDD, con el mismo criterio honesto que usamos con TDD.
De las ventajas, la primera y la última son las que conectan con la primera parte de la charla: la spec es memoria externa. No depende de que la conversación siga viva.
La segunda es la que más plata ahorra: encontrar el malentendido cuando es un párrafo, no cuando ya son 2.000 líneas.
De las desventajas, las dos más peligrosas son la ceremonia y la desactualización, y en el fondo son la misma: si especificás todo, no vas a poder mantener nada. Mejor pocas specs vivas que muchas muertas.
La última — el acuerdo del equipo — es más social que técnica pero es la que suele hundir la práctica. Una spec que solo respeta el que la escribió es un documento, no una fuente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repitiendo las cinco ideas, una frase cada una, sin volver a explicarlas. Si hay que quedarse con una sola, es la quinta: SDD es la principal palanca que tenemos contra el no determinismo.
Si querés dejar una sola acción concreta: que prueben /context en su próxima sesión larga y vean el desglose. Es el cambio de hábito más barato y el que más rápido se nota.
Y una segunda, para quien quiera ir más lejos: elegir una feature mediana de las próximas y escribirle la spec antes de tocar código.
Abrir preguntas. Temas probables: cómo se combina esto con nuestro proceso de PRs, si conviene versionar las specs en el repo (sí), y cuánto detalle es 'suficiente' en una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final. Dejarla proyectada mientras se abren las preguntas: sirve como pantalla de fondo y a la vez deja las fuentes a la vista para quien quiera fotografiarlas.
Las cuatro preguntas de la izquierda están para romper el hielo si nadie arranca. La segunda y la tercera suelen generar la mejor conversación porque son decisiones concretas que el equipo puede tomar esta semana.
Sobre las referencias: el libro de Chip Huyen es el marco general de ingeniería con modelos. El informe de Chroma es el origen del término context rot y el respaldo del bloque de contexto. El artículo de Anthropic aporta la idea de presupuesto de atención y las prácticas de context engineering. La documentación de Claude Code cubre los comandos y las Agent Skills que vimos.
El libro de Kent Beck va aparte, como lectura recomendada: no es fuente de esta charla, es la referencia canónica de TDD por si alguien quiere profundizar.
Si te piden el material, ofrecé compartir el deck: los enlaces son clickeables en la versión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oreilly.com/library/view/ai-engineering/9781098166298/" TargetMode="External"/><Relationship Id="rId2" Type="http://schemas.openxmlformats.org/officeDocument/2006/relationships/hyperlink" Target="https://www.trychroma.com/research/context-rot" TargetMode="External"/><Relationship Id="rId3" Type="http://schemas.openxmlformats.org/officeDocument/2006/relationships/hyperlink" Target="https://www.anthropic.com/engineering/effective-context-engineering-for-ai-agents" TargetMode="External"/><Relationship Id="rId4" Type="http://schemas.openxmlformats.org/officeDocument/2006/relationships/hyperlink" Target="https://code.claude.com/docs" TargetMode="External"/><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E8734A">
              <a:alpha val="12000"/>
            </a:srgbClr>
          </a:solidFill>
          <a:ln/>
        </p:spPr>
      </p:sp>
      <p:sp>
        <p:nvSpPr>
          <p:cNvPr id="3" name="Shape 1"/>
          <p:cNvSpPr/>
          <p:nvPr/>
        </p:nvSpPr>
        <p:spPr>
          <a:xfrm>
            <a:off x="9966960" y="-182880"/>
            <a:ext cx="2743200" cy="2743200"/>
          </a:xfrm>
          <a:prstGeom prst="ellipse">
            <a:avLst/>
          </a:prstGeom>
          <a:solidFill>
            <a:srgbClr val="4FD1C5">
              <a:alpha val="10000"/>
            </a:srgbClr>
          </a:solidFill>
          <a:ln/>
        </p:spPr>
      </p:sp>
      <p:sp>
        <p:nvSpPr>
          <p:cNvPr id="4" name="Text 2"/>
          <p:cNvSpPr txBox="1"/>
          <p:nvPr/>
        </p:nvSpPr>
        <p:spPr>
          <a:xfrm>
            <a:off x="777240" y="1691640"/>
            <a:ext cx="8229600" cy="274320"/>
          </a:xfrm>
          <a:prstGeom prst="rect">
            <a:avLst/>
          </a:prstGeom>
          <a:noFill/>
          <a:ln/>
        </p:spPr>
        <p:txBody>
          <a:bodyPr wrap="square" lIns="0" tIns="0" rIns="0" bIns="0" rtlCol="0" anchor="ctr"/>
          <a:lstStyle/>
          <a:p>
            <a:pPr indent="0" marL="0">
              <a:buNone/>
            </a:pPr>
            <a:r>
              <a:rPr lang="en-US" sz="1300" b="1" spc="200" kern="0" dirty="0">
                <a:solidFill>
                  <a:srgbClr val="E8734A"/>
                </a:solidFill>
                <a:latin typeface="Calibri" pitchFamily="34" charset="0"/>
                <a:ea typeface="Calibri" pitchFamily="34" charset="-122"/>
                <a:cs typeface="Calibri" pitchFamily="34" charset="-120"/>
              </a:rPr>
              <a:t>EQUIPO DE DESARROLLO  ·  SESIÓN TÉCNICA</a:t>
            </a:r>
            <a:endParaRPr lang="en-US" sz="1300" dirty="0"/>
          </a:p>
        </p:txBody>
      </p:sp>
      <p:sp>
        <p:nvSpPr>
          <p:cNvPr id="5" name="Text 3"/>
          <p:cNvSpPr txBox="1"/>
          <p:nvPr/>
        </p:nvSpPr>
        <p:spPr>
          <a:xfrm>
            <a:off x="777240" y="2057400"/>
            <a:ext cx="10241280" cy="1463040"/>
          </a:xfrm>
          <a:prstGeom prst="rect">
            <a:avLst/>
          </a:prstGeom>
          <a:noFill/>
          <a:ln/>
        </p:spPr>
        <p:txBody>
          <a:bodyPr wrap="square" lIns="0" tIns="0" rIns="0" bIns="0" rtlCol="0" anchor="t"/>
          <a:lstStyle/>
          <a:p>
            <a:pPr indent="0" marL="0">
              <a:lnSpc>
                <a:spcPts val="5200"/>
              </a:lnSpc>
              <a:buNone/>
            </a:pPr>
            <a:r>
              <a:rPr lang="en-US" sz="4200" b="1" dirty="0">
                <a:solidFill>
                  <a:srgbClr val="E9EDF2"/>
                </a:solidFill>
                <a:latin typeface="Arial" pitchFamily="34" charset="0"/>
                <a:ea typeface="Arial" pitchFamily="34" charset="-122"/>
                <a:cs typeface="Arial" pitchFamily="34" charset="-120"/>
              </a:rPr>
              <a:t>Contexto de Agente, Determinismo,</a:t>
            </a:r>
            <a:endParaRPr lang="en-US" sz="4200" dirty="0"/>
          </a:p>
          <a:p>
            <a:pPr indent="0" marL="0">
              <a:lnSpc>
                <a:spcPts val="5200"/>
              </a:lnSpc>
              <a:buNone/>
            </a:pPr>
            <a:r>
              <a:rPr lang="en-US" sz="4200" b="1" dirty="0">
                <a:solidFill>
                  <a:srgbClr val="E9EDF2"/>
                </a:solidFill>
                <a:latin typeface="Arial" pitchFamily="34" charset="0"/>
                <a:ea typeface="Arial" pitchFamily="34" charset="-122"/>
                <a:cs typeface="Arial" pitchFamily="34" charset="-120"/>
              </a:rPr>
              <a:t>TDD y SDD</a:t>
            </a:r>
            <a:endParaRPr lang="en-US" sz="4200" dirty="0"/>
          </a:p>
        </p:txBody>
      </p:sp>
      <p:sp>
        <p:nvSpPr>
          <p:cNvPr id="6" name="Text 4"/>
          <p:cNvSpPr txBox="1"/>
          <p:nvPr/>
        </p:nvSpPr>
        <p:spPr>
          <a:xfrm>
            <a:off x="777240" y="3703320"/>
            <a:ext cx="9692640" cy="822960"/>
          </a:xfrm>
          <a:prstGeom prst="rect">
            <a:avLst/>
          </a:prstGeom>
          <a:noFill/>
          <a:ln/>
        </p:spPr>
        <p:txBody>
          <a:bodyPr wrap="square" lIns="0" tIns="0" rIns="0" bIns="0" rtlCol="0" anchor="t"/>
          <a:lstStyle/>
          <a:p>
            <a:pPr indent="0" marL="0">
              <a:lnSpc>
                <a:spcPts val="2500"/>
              </a:lnSpc>
              <a:buNone/>
            </a:pPr>
            <a:r>
              <a:rPr lang="en-US" sz="1600" dirty="0">
                <a:solidFill>
                  <a:srgbClr val="97A3B2"/>
                </a:solidFill>
                <a:latin typeface="Calibri" pitchFamily="34" charset="0"/>
                <a:ea typeface="Calibri" pitchFamily="34" charset="-122"/>
                <a:cs typeface="Calibri" pitchFamily="34" charset="-120"/>
              </a:rPr>
              <a:t>Cómo funciona (y cómo se agota) la memoria de un agente de código, por qué el no determinismo es la batalla a ganar, y dos disciplinas para dirigirlo: Test-Driven y Spec-Driven Development.</a:t>
            </a:r>
            <a:endParaRPr lang="en-US" sz="1600" dirty="0"/>
          </a:p>
        </p:txBody>
      </p:sp>
      <p:sp>
        <p:nvSpPr>
          <p:cNvPr id="7" name="Shape 5"/>
          <p:cNvSpPr/>
          <p:nvPr/>
        </p:nvSpPr>
        <p:spPr>
          <a:xfrm>
            <a:off x="777240" y="4800600"/>
            <a:ext cx="3566160" cy="457200"/>
          </a:xfrm>
          <a:prstGeom prst="roundRect">
            <a:avLst>
              <a:gd name="adj" fmla="val 50000"/>
            </a:avLst>
          </a:prstGeom>
          <a:solidFill>
            <a:srgbClr val="1A212B"/>
          </a:solidFill>
          <a:ln w="12700">
            <a:solidFill>
              <a:srgbClr val="2E3A48"/>
            </a:solidFill>
            <a:prstDash val="solid"/>
          </a:ln>
        </p:spPr>
      </p:sp>
      <p:sp>
        <p:nvSpPr>
          <p:cNvPr id="8" name="Text 6"/>
          <p:cNvSpPr txBox="1"/>
          <p:nvPr/>
        </p:nvSpPr>
        <p:spPr>
          <a:xfrm>
            <a:off x="777240" y="4800600"/>
            <a:ext cx="3566160" cy="457200"/>
          </a:xfrm>
          <a:prstGeom prst="rect">
            <a:avLst/>
          </a:prstGeom>
          <a:noFill/>
          <a:ln/>
        </p:spPr>
        <p:txBody>
          <a:bodyPr wrap="square" lIns="0" tIns="0" rIns="0" bIns="0" rtlCol="0" anchor="ctr"/>
          <a:lstStyle/>
          <a:p>
            <a:pPr algn="ctr" indent="0" marL="0">
              <a:buNone/>
            </a:pPr>
            <a:r>
              <a:rPr lang="en-US" sz="1200" dirty="0">
                <a:solidFill>
                  <a:srgbClr val="97A3B2"/>
                </a:solidFill>
                <a:latin typeface="Calibri" pitchFamily="34" charset="0"/>
                <a:ea typeface="Calibri" pitchFamily="34" charset="-122"/>
                <a:cs typeface="Calibri" pitchFamily="34" charset="-120"/>
              </a:rPr>
              <a:t>~25 min  ·  con espacio para preguntas</a:t>
            </a:r>
            <a:endParaRPr lang="en-US" sz="1200" dirty="0"/>
          </a:p>
        </p:txBody>
      </p:sp>
      <p:sp>
        <p:nvSpPr>
          <p:cNvPr id="9" name="Text 7"/>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1100" i="1" dirty="0">
                <a:solidFill>
                  <a:srgbClr val="97A3B2"/>
                </a:solidFill>
                <a:latin typeface="Calibri" pitchFamily="34" charset="0"/>
                <a:ea typeface="Calibri" pitchFamily="34" charset="-122"/>
                <a:cs typeface="Calibri" pitchFamily="34" charset="-120"/>
              </a:rPr>
              <a:t>Septiembre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De qué vamos a hablar</a:t>
            </a:r>
            <a:endParaRPr lang="en-US" sz="3200" dirty="0"/>
          </a:p>
        </p:txBody>
      </p:sp>
      <p:sp>
        <p:nvSpPr>
          <p:cNvPr id="4" name="Shape 2"/>
          <p:cNvSpPr/>
          <p:nvPr/>
        </p:nvSpPr>
        <p:spPr>
          <a:xfrm>
            <a:off x="777240" y="1572768"/>
            <a:ext cx="10637215" cy="621792"/>
          </a:xfrm>
          <a:prstGeom prst="roundRect">
            <a:avLst>
              <a:gd name="adj" fmla="val 14706"/>
            </a:avLst>
          </a:prstGeom>
          <a:solidFill>
            <a:srgbClr val="1A212B"/>
          </a:solidFill>
          <a:ln w="12700">
            <a:solidFill>
              <a:srgbClr val="2E3A48"/>
            </a:solidFill>
            <a:prstDash val="solid"/>
          </a:ln>
        </p:spPr>
      </p:sp>
      <p:sp>
        <p:nvSpPr>
          <p:cNvPr id="5" name="Shape 3"/>
          <p:cNvSpPr/>
          <p:nvPr/>
        </p:nvSpPr>
        <p:spPr>
          <a:xfrm>
            <a:off x="1097280" y="1691640"/>
            <a:ext cx="384048" cy="384048"/>
          </a:xfrm>
          <a:prstGeom prst="ellipse">
            <a:avLst/>
          </a:prstGeom>
          <a:solidFill>
            <a:srgbClr val="E8734A"/>
          </a:solidFill>
          <a:ln w="12700">
            <a:solidFill>
              <a:srgbClr val="E8734A"/>
            </a:solidFill>
            <a:prstDash val="solid"/>
          </a:ln>
        </p:spPr>
      </p:sp>
      <p:sp>
        <p:nvSpPr>
          <p:cNvPr id="6" name="Text 4"/>
          <p:cNvSpPr txBox="1"/>
          <p:nvPr/>
        </p:nvSpPr>
        <p:spPr>
          <a:xfrm>
            <a:off x="1097280" y="1691640"/>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737360" y="1627632"/>
            <a:ext cx="4206240" cy="256032"/>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El LLM no tiene memoria</a:t>
            </a:r>
            <a:endParaRPr lang="en-US" sz="1400" dirty="0"/>
          </a:p>
        </p:txBody>
      </p:sp>
      <p:sp>
        <p:nvSpPr>
          <p:cNvPr id="8" name="Text 6"/>
          <p:cNvSpPr txBox="1"/>
          <p:nvPr/>
        </p:nvSpPr>
        <p:spPr>
          <a:xfrm>
            <a:off x="1737360" y="1892808"/>
            <a:ext cx="9052560" cy="256032"/>
          </a:xfrm>
          <a:prstGeom prst="rect">
            <a:avLst/>
          </a:prstGeom>
          <a:noFill/>
          <a:ln/>
        </p:spPr>
        <p:txBody>
          <a:bodyPr wrap="square" lIns="0" tIns="0" rIns="0" bIns="0" rtlCol="0" anchor="ctr"/>
          <a:lstStyle/>
          <a:p>
            <a:pPr indent="0" marL="0">
              <a:buNone/>
            </a:pPr>
            <a:r>
              <a:rPr lang="en-US" sz="1150" dirty="0">
                <a:solidFill>
                  <a:srgbClr val="97A3B2"/>
                </a:solidFill>
                <a:latin typeface="Calibri" pitchFamily="34" charset="0"/>
                <a:ea typeface="Calibri" pitchFamily="34" charset="-122"/>
                <a:cs typeface="Calibri" pitchFamily="34" charset="-120"/>
              </a:rPr>
              <a:t>Qué es realmente una llamada al modelo y por qué hay que reinyectar todo.</a:t>
            </a:r>
            <a:endParaRPr lang="en-US" sz="1150" dirty="0"/>
          </a:p>
        </p:txBody>
      </p:sp>
      <p:sp>
        <p:nvSpPr>
          <p:cNvPr id="9" name="Shape 7"/>
          <p:cNvSpPr/>
          <p:nvPr/>
        </p:nvSpPr>
        <p:spPr>
          <a:xfrm>
            <a:off x="777240" y="2267712"/>
            <a:ext cx="10637215" cy="621792"/>
          </a:xfrm>
          <a:prstGeom prst="roundRect">
            <a:avLst>
              <a:gd name="adj" fmla="val 14706"/>
            </a:avLst>
          </a:prstGeom>
          <a:solidFill>
            <a:srgbClr val="1A212B"/>
          </a:solidFill>
          <a:ln w="12700">
            <a:solidFill>
              <a:srgbClr val="2E3A48"/>
            </a:solidFill>
            <a:prstDash val="solid"/>
          </a:ln>
        </p:spPr>
      </p:sp>
      <p:sp>
        <p:nvSpPr>
          <p:cNvPr id="10" name="Shape 8"/>
          <p:cNvSpPr/>
          <p:nvPr/>
        </p:nvSpPr>
        <p:spPr>
          <a:xfrm>
            <a:off x="1097280" y="2386584"/>
            <a:ext cx="384048" cy="384048"/>
          </a:xfrm>
          <a:prstGeom prst="ellipse">
            <a:avLst/>
          </a:prstGeom>
          <a:solidFill>
            <a:srgbClr val="E8734A"/>
          </a:solidFill>
          <a:ln w="12700">
            <a:solidFill>
              <a:srgbClr val="E8734A"/>
            </a:solidFill>
            <a:prstDash val="solid"/>
          </a:ln>
        </p:spPr>
      </p:sp>
      <p:sp>
        <p:nvSpPr>
          <p:cNvPr id="11" name="Text 9"/>
          <p:cNvSpPr txBox="1"/>
          <p:nvPr/>
        </p:nvSpPr>
        <p:spPr>
          <a:xfrm>
            <a:off x="1097280" y="2386584"/>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1737360" y="2322576"/>
            <a:ext cx="4206240" cy="256032"/>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El contexto del agente</a:t>
            </a:r>
            <a:endParaRPr lang="en-US" sz="1400" dirty="0"/>
          </a:p>
        </p:txBody>
      </p:sp>
      <p:sp>
        <p:nvSpPr>
          <p:cNvPr id="13" name="Text 11"/>
          <p:cNvSpPr txBox="1"/>
          <p:nvPr/>
        </p:nvSpPr>
        <p:spPr>
          <a:xfrm>
            <a:off x="1737360" y="2587752"/>
            <a:ext cx="9052560" cy="256032"/>
          </a:xfrm>
          <a:prstGeom prst="rect">
            <a:avLst/>
          </a:prstGeom>
          <a:noFill/>
          <a:ln/>
        </p:spPr>
        <p:txBody>
          <a:bodyPr wrap="square" lIns="0" tIns="0" rIns="0" bIns="0" rtlCol="0" anchor="ctr"/>
          <a:lstStyle/>
          <a:p>
            <a:pPr indent="0" marL="0">
              <a:buNone/>
            </a:pPr>
            <a:r>
              <a:rPr lang="en-US" sz="1150" dirty="0">
                <a:solidFill>
                  <a:srgbClr val="97A3B2"/>
                </a:solidFill>
                <a:latin typeface="Calibri" pitchFamily="34" charset="0"/>
                <a:ea typeface="Calibri" pitchFamily="34" charset="-122"/>
                <a:cs typeface="Calibri" pitchFamily="34" charset="-120"/>
              </a:rPr>
              <a:t>Qué lo llena, por qué conviene mantenerlo reducido y limpio.</a:t>
            </a:r>
            <a:endParaRPr lang="en-US" sz="1150" dirty="0"/>
          </a:p>
        </p:txBody>
      </p:sp>
      <p:sp>
        <p:nvSpPr>
          <p:cNvPr id="14" name="Shape 12"/>
          <p:cNvSpPr/>
          <p:nvPr/>
        </p:nvSpPr>
        <p:spPr>
          <a:xfrm>
            <a:off x="777240" y="2962656"/>
            <a:ext cx="10637215" cy="621792"/>
          </a:xfrm>
          <a:prstGeom prst="roundRect">
            <a:avLst>
              <a:gd name="adj" fmla="val 14706"/>
            </a:avLst>
          </a:prstGeom>
          <a:solidFill>
            <a:srgbClr val="1A212B"/>
          </a:solidFill>
          <a:ln w="12700">
            <a:solidFill>
              <a:srgbClr val="2E3A48"/>
            </a:solidFill>
            <a:prstDash val="solid"/>
          </a:ln>
        </p:spPr>
      </p:sp>
      <p:sp>
        <p:nvSpPr>
          <p:cNvPr id="15" name="Shape 13"/>
          <p:cNvSpPr/>
          <p:nvPr/>
        </p:nvSpPr>
        <p:spPr>
          <a:xfrm>
            <a:off x="1097280" y="3081528"/>
            <a:ext cx="384048" cy="384048"/>
          </a:xfrm>
          <a:prstGeom prst="ellipse">
            <a:avLst/>
          </a:prstGeom>
          <a:solidFill>
            <a:srgbClr val="E8734A"/>
          </a:solidFill>
          <a:ln w="12700">
            <a:solidFill>
              <a:srgbClr val="E8734A"/>
            </a:solidFill>
            <a:prstDash val="solid"/>
          </a:ln>
        </p:spPr>
      </p:sp>
      <p:sp>
        <p:nvSpPr>
          <p:cNvPr id="16" name="Text 14"/>
          <p:cNvSpPr txBox="1"/>
          <p:nvPr/>
        </p:nvSpPr>
        <p:spPr>
          <a:xfrm>
            <a:off x="1097280" y="3081528"/>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1737360" y="3017520"/>
            <a:ext cx="4206240" cy="256032"/>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Comandos de higiene</a:t>
            </a:r>
            <a:endParaRPr lang="en-US" sz="1400" dirty="0"/>
          </a:p>
        </p:txBody>
      </p:sp>
      <p:sp>
        <p:nvSpPr>
          <p:cNvPr id="18" name="Text 16"/>
          <p:cNvSpPr txBox="1"/>
          <p:nvPr/>
        </p:nvSpPr>
        <p:spPr>
          <a:xfrm>
            <a:off x="1737360" y="3282696"/>
            <a:ext cx="9052560" cy="256032"/>
          </a:xfrm>
          <a:prstGeom prst="rect">
            <a:avLst/>
          </a:prstGeom>
          <a:noFill/>
          <a:ln/>
        </p:spPr>
        <p:txBody>
          <a:bodyPr wrap="square" lIns="0" tIns="0" rIns="0" bIns="0" rtlCol="0" anchor="ctr"/>
          <a:lstStyle/>
          <a:p>
            <a:pPr indent="0" marL="0">
              <a:buNone/>
            </a:pPr>
            <a:r>
              <a:rPr lang="en-US" sz="1150" dirty="0">
                <a:solidFill>
                  <a:srgbClr val="97A3B2"/>
                </a:solidFill>
                <a:latin typeface="Calibri" pitchFamily="34" charset="0"/>
                <a:ea typeface="Calibri" pitchFamily="34" charset="-122"/>
                <a:cs typeface="Calibri" pitchFamily="34" charset="-120"/>
              </a:rPr>
              <a:t>/context, /usage, /compact, /clear, /btw — cuándo usar cada uno.</a:t>
            </a:r>
            <a:endParaRPr lang="en-US" sz="1150" dirty="0"/>
          </a:p>
        </p:txBody>
      </p:sp>
      <p:sp>
        <p:nvSpPr>
          <p:cNvPr id="19" name="Shape 17"/>
          <p:cNvSpPr/>
          <p:nvPr/>
        </p:nvSpPr>
        <p:spPr>
          <a:xfrm>
            <a:off x="777240" y="3657600"/>
            <a:ext cx="10637215" cy="621792"/>
          </a:xfrm>
          <a:prstGeom prst="roundRect">
            <a:avLst>
              <a:gd name="adj" fmla="val 14706"/>
            </a:avLst>
          </a:prstGeom>
          <a:solidFill>
            <a:srgbClr val="1A212B"/>
          </a:solidFill>
          <a:ln w="12700">
            <a:solidFill>
              <a:srgbClr val="2E3A48"/>
            </a:solidFill>
            <a:prstDash val="solid"/>
          </a:ln>
        </p:spPr>
      </p:sp>
      <p:sp>
        <p:nvSpPr>
          <p:cNvPr id="20" name="Shape 18"/>
          <p:cNvSpPr/>
          <p:nvPr/>
        </p:nvSpPr>
        <p:spPr>
          <a:xfrm>
            <a:off x="1097280" y="3776472"/>
            <a:ext cx="384048" cy="384048"/>
          </a:xfrm>
          <a:prstGeom prst="ellipse">
            <a:avLst/>
          </a:prstGeom>
          <a:solidFill>
            <a:srgbClr val="E8734A"/>
          </a:solidFill>
          <a:ln w="12700">
            <a:solidFill>
              <a:srgbClr val="E8734A"/>
            </a:solidFill>
            <a:prstDash val="solid"/>
          </a:ln>
        </p:spPr>
      </p:sp>
      <p:sp>
        <p:nvSpPr>
          <p:cNvPr id="21" name="Text 19"/>
          <p:cNvSpPr txBox="1"/>
          <p:nvPr/>
        </p:nvSpPr>
        <p:spPr>
          <a:xfrm>
            <a:off x="1097280" y="377647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737360" y="3712464"/>
            <a:ext cx="4206240" cy="256032"/>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Determinismo vs. no determinismo</a:t>
            </a:r>
            <a:endParaRPr lang="en-US" sz="1400" dirty="0"/>
          </a:p>
        </p:txBody>
      </p:sp>
      <p:sp>
        <p:nvSpPr>
          <p:cNvPr id="23" name="Text 21"/>
          <p:cNvSpPr txBox="1"/>
          <p:nvPr/>
        </p:nvSpPr>
        <p:spPr>
          <a:xfrm>
            <a:off x="1737360" y="3977640"/>
            <a:ext cx="9052560" cy="256032"/>
          </a:xfrm>
          <a:prstGeom prst="rect">
            <a:avLst/>
          </a:prstGeom>
          <a:noFill/>
          <a:ln/>
        </p:spPr>
        <p:txBody>
          <a:bodyPr wrap="square" lIns="0" tIns="0" rIns="0" bIns="0" rtlCol="0" anchor="ctr"/>
          <a:lstStyle/>
          <a:p>
            <a:pPr indent="0" marL="0">
              <a:buNone/>
            </a:pPr>
            <a:r>
              <a:rPr lang="en-US" sz="1150" dirty="0">
                <a:solidFill>
                  <a:srgbClr val="97A3B2"/>
                </a:solidFill>
                <a:latin typeface="Calibri" pitchFamily="34" charset="0"/>
                <a:ea typeface="Calibri" pitchFamily="34" charset="-122"/>
                <a:cs typeface="Calibri" pitchFamily="34" charset="-120"/>
              </a:rPr>
              <a:t>Qué es cada uno y por qué es la batalla central del desarrollo con agentes.</a:t>
            </a:r>
            <a:endParaRPr lang="en-US" sz="1150" dirty="0"/>
          </a:p>
        </p:txBody>
      </p:sp>
      <p:sp>
        <p:nvSpPr>
          <p:cNvPr id="24" name="Shape 22"/>
          <p:cNvSpPr/>
          <p:nvPr/>
        </p:nvSpPr>
        <p:spPr>
          <a:xfrm>
            <a:off x="777240" y="4352544"/>
            <a:ext cx="10637215" cy="621792"/>
          </a:xfrm>
          <a:prstGeom prst="roundRect">
            <a:avLst>
              <a:gd name="adj" fmla="val 14706"/>
            </a:avLst>
          </a:prstGeom>
          <a:solidFill>
            <a:srgbClr val="1A212B"/>
          </a:solidFill>
          <a:ln w="12700">
            <a:solidFill>
              <a:srgbClr val="2E3A48"/>
            </a:solidFill>
            <a:prstDash val="solid"/>
          </a:ln>
        </p:spPr>
      </p:sp>
      <p:sp>
        <p:nvSpPr>
          <p:cNvPr id="25" name="Shape 23"/>
          <p:cNvSpPr/>
          <p:nvPr/>
        </p:nvSpPr>
        <p:spPr>
          <a:xfrm>
            <a:off x="1097280" y="4471416"/>
            <a:ext cx="384048" cy="384048"/>
          </a:xfrm>
          <a:prstGeom prst="ellipse">
            <a:avLst/>
          </a:prstGeom>
          <a:solidFill>
            <a:srgbClr val="E8734A"/>
          </a:solidFill>
          <a:ln w="12700">
            <a:solidFill>
              <a:srgbClr val="E8734A"/>
            </a:solidFill>
            <a:prstDash val="solid"/>
          </a:ln>
        </p:spPr>
      </p:sp>
      <p:sp>
        <p:nvSpPr>
          <p:cNvPr id="26" name="Text 24"/>
          <p:cNvSpPr txBox="1"/>
          <p:nvPr/>
        </p:nvSpPr>
        <p:spPr>
          <a:xfrm>
            <a:off x="1097280" y="4471416"/>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5</a:t>
            </a:r>
            <a:endParaRPr lang="en-US" sz="1400" dirty="0"/>
          </a:p>
        </p:txBody>
      </p:sp>
      <p:sp>
        <p:nvSpPr>
          <p:cNvPr id="27" name="Text 25"/>
          <p:cNvSpPr txBox="1"/>
          <p:nvPr/>
        </p:nvSpPr>
        <p:spPr>
          <a:xfrm>
            <a:off x="1737360" y="4407408"/>
            <a:ext cx="4206240" cy="256032"/>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Skills</a:t>
            </a:r>
            <a:endParaRPr lang="en-US" sz="1400" dirty="0"/>
          </a:p>
        </p:txBody>
      </p:sp>
      <p:sp>
        <p:nvSpPr>
          <p:cNvPr id="28" name="Text 26"/>
          <p:cNvSpPr txBox="1"/>
          <p:nvPr/>
        </p:nvSpPr>
        <p:spPr>
          <a:xfrm>
            <a:off x="1737360" y="4672584"/>
            <a:ext cx="9052560" cy="256032"/>
          </a:xfrm>
          <a:prstGeom prst="rect">
            <a:avLst/>
          </a:prstGeom>
          <a:noFill/>
          <a:ln/>
        </p:spPr>
        <p:txBody>
          <a:bodyPr wrap="square" lIns="0" tIns="0" rIns="0" bIns="0" rtlCol="0" anchor="ctr"/>
          <a:lstStyle/>
          <a:p>
            <a:pPr indent="0" marL="0">
              <a:buNone/>
            </a:pPr>
            <a:r>
              <a:rPr lang="en-US" sz="1150" dirty="0">
                <a:solidFill>
                  <a:srgbClr val="97A3B2"/>
                </a:solidFill>
                <a:latin typeface="Calibri" pitchFamily="34" charset="0"/>
                <a:ea typeface="Calibri" pitchFamily="34" charset="-122"/>
                <a:cs typeface="Calibri" pitchFamily="34" charset="-120"/>
              </a:rPr>
              <a:t>Procedimientos empaquetados que se cargan solo cuando aplican.</a:t>
            </a:r>
            <a:endParaRPr lang="en-US" sz="1150" dirty="0"/>
          </a:p>
        </p:txBody>
      </p:sp>
      <p:sp>
        <p:nvSpPr>
          <p:cNvPr id="29" name="Shape 27"/>
          <p:cNvSpPr/>
          <p:nvPr/>
        </p:nvSpPr>
        <p:spPr>
          <a:xfrm>
            <a:off x="777240" y="5047488"/>
            <a:ext cx="10637215" cy="621792"/>
          </a:xfrm>
          <a:prstGeom prst="roundRect">
            <a:avLst>
              <a:gd name="adj" fmla="val 14706"/>
            </a:avLst>
          </a:prstGeom>
          <a:solidFill>
            <a:srgbClr val="1A212B"/>
          </a:solidFill>
          <a:ln w="12700">
            <a:solidFill>
              <a:srgbClr val="2E3A48"/>
            </a:solidFill>
            <a:prstDash val="solid"/>
          </a:ln>
        </p:spPr>
      </p:sp>
      <p:sp>
        <p:nvSpPr>
          <p:cNvPr id="30" name="Shape 28"/>
          <p:cNvSpPr/>
          <p:nvPr/>
        </p:nvSpPr>
        <p:spPr>
          <a:xfrm>
            <a:off x="1097280" y="5166360"/>
            <a:ext cx="384048" cy="384048"/>
          </a:xfrm>
          <a:prstGeom prst="ellipse">
            <a:avLst/>
          </a:prstGeom>
          <a:solidFill>
            <a:srgbClr val="4FD1C5"/>
          </a:solidFill>
          <a:ln w="12700">
            <a:solidFill>
              <a:srgbClr val="4FD1C5"/>
            </a:solidFill>
            <a:prstDash val="solid"/>
          </a:ln>
        </p:spPr>
      </p:sp>
      <p:sp>
        <p:nvSpPr>
          <p:cNvPr id="31" name="Text 29"/>
          <p:cNvSpPr txBox="1"/>
          <p:nvPr/>
        </p:nvSpPr>
        <p:spPr>
          <a:xfrm>
            <a:off x="1097280" y="5166360"/>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6</a:t>
            </a:r>
            <a:endParaRPr lang="en-US" sz="1400" dirty="0"/>
          </a:p>
        </p:txBody>
      </p:sp>
      <p:sp>
        <p:nvSpPr>
          <p:cNvPr id="32" name="Text 30"/>
          <p:cNvSpPr txBox="1"/>
          <p:nvPr/>
        </p:nvSpPr>
        <p:spPr>
          <a:xfrm>
            <a:off x="1737360" y="5102352"/>
            <a:ext cx="4206240" cy="256032"/>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TDD en pocas palabras</a:t>
            </a:r>
            <a:endParaRPr lang="en-US" sz="1400" dirty="0"/>
          </a:p>
        </p:txBody>
      </p:sp>
      <p:sp>
        <p:nvSpPr>
          <p:cNvPr id="33" name="Text 31"/>
          <p:cNvSpPr txBox="1"/>
          <p:nvPr/>
        </p:nvSpPr>
        <p:spPr>
          <a:xfrm>
            <a:off x="1737360" y="5367528"/>
            <a:ext cx="9052560" cy="256032"/>
          </a:xfrm>
          <a:prstGeom prst="rect">
            <a:avLst/>
          </a:prstGeom>
          <a:noFill/>
          <a:ln/>
        </p:spPr>
        <p:txBody>
          <a:bodyPr wrap="square" lIns="0" tIns="0" rIns="0" bIns="0" rtlCol="0" anchor="ctr"/>
          <a:lstStyle/>
          <a:p>
            <a:pPr indent="0" marL="0">
              <a:buNone/>
            </a:pPr>
            <a:r>
              <a:rPr lang="en-US" sz="1150" dirty="0">
                <a:solidFill>
                  <a:srgbClr val="97A3B2"/>
                </a:solidFill>
                <a:latin typeface="Calibri" pitchFamily="34" charset="0"/>
                <a:ea typeface="Calibri" pitchFamily="34" charset="-122"/>
                <a:cs typeface="Calibri" pitchFamily="34" charset="-120"/>
              </a:rPr>
              <a:t>El ciclo, sus ventajas y sus costos.</a:t>
            </a:r>
            <a:endParaRPr lang="en-US" sz="1150" dirty="0"/>
          </a:p>
        </p:txBody>
      </p:sp>
      <p:sp>
        <p:nvSpPr>
          <p:cNvPr id="34" name="Shape 32"/>
          <p:cNvSpPr/>
          <p:nvPr/>
        </p:nvSpPr>
        <p:spPr>
          <a:xfrm>
            <a:off x="777240" y="5742432"/>
            <a:ext cx="10637215" cy="621792"/>
          </a:xfrm>
          <a:prstGeom prst="roundRect">
            <a:avLst>
              <a:gd name="adj" fmla="val 14706"/>
            </a:avLst>
          </a:prstGeom>
          <a:solidFill>
            <a:srgbClr val="1A212B"/>
          </a:solidFill>
          <a:ln w="12700">
            <a:solidFill>
              <a:srgbClr val="2E3A48"/>
            </a:solidFill>
            <a:prstDash val="solid"/>
          </a:ln>
        </p:spPr>
      </p:sp>
      <p:sp>
        <p:nvSpPr>
          <p:cNvPr id="35" name="Shape 33"/>
          <p:cNvSpPr/>
          <p:nvPr/>
        </p:nvSpPr>
        <p:spPr>
          <a:xfrm>
            <a:off x="1097280" y="5861304"/>
            <a:ext cx="384048" cy="384048"/>
          </a:xfrm>
          <a:prstGeom prst="ellipse">
            <a:avLst/>
          </a:prstGeom>
          <a:solidFill>
            <a:srgbClr val="4FD1C5"/>
          </a:solidFill>
          <a:ln w="12700">
            <a:solidFill>
              <a:srgbClr val="4FD1C5"/>
            </a:solidFill>
            <a:prstDash val="solid"/>
          </a:ln>
        </p:spPr>
      </p:sp>
      <p:sp>
        <p:nvSpPr>
          <p:cNvPr id="36" name="Text 34"/>
          <p:cNvSpPr txBox="1"/>
          <p:nvPr/>
        </p:nvSpPr>
        <p:spPr>
          <a:xfrm>
            <a:off x="1097280" y="5861304"/>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7</a:t>
            </a:r>
            <a:endParaRPr lang="en-US" sz="1400" dirty="0"/>
          </a:p>
        </p:txBody>
      </p:sp>
      <p:sp>
        <p:nvSpPr>
          <p:cNvPr id="37" name="Text 35"/>
          <p:cNvSpPr txBox="1"/>
          <p:nvPr/>
        </p:nvSpPr>
        <p:spPr>
          <a:xfrm>
            <a:off x="1737360" y="5797296"/>
            <a:ext cx="4206240" cy="256032"/>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SDD: Spec-Driven Development</a:t>
            </a:r>
            <a:endParaRPr lang="en-US" sz="1400" dirty="0"/>
          </a:p>
        </p:txBody>
      </p:sp>
      <p:sp>
        <p:nvSpPr>
          <p:cNvPr id="38" name="Text 36"/>
          <p:cNvSpPr txBox="1"/>
          <p:nvPr/>
        </p:nvSpPr>
        <p:spPr>
          <a:xfrm>
            <a:off x="1737360" y="6062472"/>
            <a:ext cx="9052560" cy="256032"/>
          </a:xfrm>
          <a:prstGeom prst="rect">
            <a:avLst/>
          </a:prstGeom>
          <a:noFill/>
          <a:ln/>
        </p:spPr>
        <p:txBody>
          <a:bodyPr wrap="square" lIns="0" tIns="0" rIns="0" bIns="0" rtlCol="0" anchor="ctr"/>
          <a:lstStyle/>
          <a:p>
            <a:pPr indent="0" marL="0">
              <a:buNone/>
            </a:pPr>
            <a:r>
              <a:rPr lang="en-US" sz="1150" dirty="0">
                <a:solidFill>
                  <a:srgbClr val="97A3B2"/>
                </a:solidFill>
                <a:latin typeface="Calibri" pitchFamily="34" charset="0"/>
                <a:ea typeface="Calibri" pitchFamily="34" charset="-122"/>
                <a:cs typeface="Calibri" pitchFamily="34" charset="-120"/>
              </a:rPr>
              <a:t>Qué es, cuándo conviene, qué te cobra.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MODELO MENTAL</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Un LLM no tiene memoria</a:t>
            </a:r>
            <a:endParaRPr lang="en-US" sz="3200" dirty="0"/>
          </a:p>
        </p:txBody>
      </p:sp>
      <p:sp>
        <p:nvSpPr>
          <p:cNvPr id="4" name="Text 2"/>
          <p:cNvSpPr txBox="1"/>
          <p:nvPr/>
        </p:nvSpPr>
        <p:spPr>
          <a:xfrm>
            <a:off x="777240" y="1444752"/>
            <a:ext cx="10637215" cy="292608"/>
          </a:xfrm>
          <a:prstGeom prst="rect">
            <a:avLst/>
          </a:prstGeom>
          <a:noFill/>
          <a:ln/>
        </p:spPr>
        <p:txBody>
          <a:bodyPr wrap="square" lIns="0" tIns="0" rIns="0" bIns="0" rtlCol="0" anchor="ctr"/>
          <a:lstStyle/>
          <a:p>
            <a:pPr indent="0" marL="0">
              <a:buNone/>
            </a:pPr>
            <a:r>
              <a:rPr lang="en-US" sz="1500" dirty="0">
                <a:solidFill>
                  <a:srgbClr val="97A3B2"/>
                </a:solidFill>
                <a:latin typeface="Calibri" pitchFamily="34" charset="0"/>
                <a:ea typeface="Calibri" pitchFamily="34" charset="-122"/>
                <a:cs typeface="Calibri" pitchFamily="34" charset="-120"/>
              </a:rPr>
              <a:t>Cada llamada al modelo es una función sin estado: entra un texto, sale un texto. Cuando termina, no queda nada.</a:t>
            </a:r>
            <a:endParaRPr lang="en-US" sz="1500" dirty="0"/>
          </a:p>
        </p:txBody>
      </p:sp>
      <p:sp>
        <p:nvSpPr>
          <p:cNvPr id="5" name="Shape 3"/>
          <p:cNvSpPr/>
          <p:nvPr/>
        </p:nvSpPr>
        <p:spPr>
          <a:xfrm>
            <a:off x="777240" y="2103120"/>
            <a:ext cx="3200400" cy="1325880"/>
          </a:xfrm>
          <a:prstGeom prst="roundRect">
            <a:avLst>
              <a:gd name="adj" fmla="val 6897"/>
            </a:avLst>
          </a:prstGeom>
          <a:solidFill>
            <a:srgbClr val="1A212B"/>
          </a:solidFill>
          <a:ln w="12700">
            <a:solidFill>
              <a:srgbClr val="2E3A48"/>
            </a:solidFill>
            <a:prstDash val="solid"/>
          </a:ln>
        </p:spPr>
      </p:sp>
      <p:sp>
        <p:nvSpPr>
          <p:cNvPr id="6" name="Text 4"/>
          <p:cNvSpPr txBox="1"/>
          <p:nvPr/>
        </p:nvSpPr>
        <p:spPr>
          <a:xfrm>
            <a:off x="777240" y="2322576"/>
            <a:ext cx="3200400" cy="256032"/>
          </a:xfrm>
          <a:prstGeom prst="rect">
            <a:avLst/>
          </a:prstGeom>
          <a:noFill/>
          <a:ln/>
        </p:spPr>
        <p:txBody>
          <a:bodyPr wrap="square" lIns="0" tIns="0" rIns="0" bIns="0" rtlCol="0" anchor="ctr"/>
          <a:lstStyle/>
          <a:p>
            <a:pPr algn="ctr" indent="0" marL="0">
              <a:buNone/>
            </a:pPr>
            <a:r>
              <a:rPr lang="en-US" sz="1100" b="1" spc="200" kern="0" dirty="0">
                <a:solidFill>
                  <a:srgbClr val="4FD1C5"/>
                </a:solidFill>
                <a:latin typeface="Calibri" pitchFamily="34" charset="0"/>
                <a:ea typeface="Calibri" pitchFamily="34" charset="-122"/>
                <a:cs typeface="Calibri" pitchFamily="34" charset="-120"/>
              </a:rPr>
              <a:t>CONTEXTO</a:t>
            </a:r>
            <a:endParaRPr lang="en-US" sz="1100" dirty="0"/>
          </a:p>
        </p:txBody>
      </p:sp>
      <p:sp>
        <p:nvSpPr>
          <p:cNvPr id="7" name="Text 5"/>
          <p:cNvSpPr txBox="1"/>
          <p:nvPr/>
        </p:nvSpPr>
        <p:spPr>
          <a:xfrm>
            <a:off x="960120" y="2633472"/>
            <a:ext cx="2834640" cy="548640"/>
          </a:xfrm>
          <a:prstGeom prst="rect">
            <a:avLst/>
          </a:prstGeom>
          <a:noFill/>
          <a:ln/>
        </p:spPr>
        <p:txBody>
          <a:bodyPr wrap="square" lIns="0" tIns="0" rIns="0" bIns="0" rtlCol="0" anchor="ctr"/>
          <a:lstStyle/>
          <a:p>
            <a:pPr algn="ctr" indent="0" marL="0">
              <a:lnSpc>
                <a:spcPts val="1800"/>
              </a:lnSpc>
              <a:buNone/>
            </a:pPr>
            <a:r>
              <a:rPr lang="en-US" sz="1300" dirty="0">
                <a:solidFill>
                  <a:srgbClr val="97A3B2"/>
                </a:solidFill>
                <a:latin typeface="Calibri" pitchFamily="34" charset="0"/>
                <a:ea typeface="Calibri" pitchFamily="34" charset="-122"/>
                <a:cs typeface="Calibri" pitchFamily="34" charset="-120"/>
              </a:rPr>
              <a:t>Todo el texto que le mandás</a:t>
            </a:r>
            <a:endParaRPr lang="en-US" sz="1300" dirty="0"/>
          </a:p>
          <a:p>
            <a:pPr algn="ctr" indent="0" marL="0">
              <a:lnSpc>
                <a:spcPts val="1800"/>
              </a:lnSpc>
              <a:buNone/>
            </a:pPr>
            <a:r>
              <a:rPr lang="en-US" sz="1300" dirty="0">
                <a:solidFill>
                  <a:srgbClr val="97A3B2"/>
                </a:solidFill>
                <a:latin typeface="Calibri" pitchFamily="34" charset="0"/>
                <a:ea typeface="Calibri" pitchFamily="34" charset="-122"/>
                <a:cs typeface="Calibri" pitchFamily="34" charset="-120"/>
              </a:rPr>
              <a:t>en esta llamada</a:t>
            </a:r>
            <a:endParaRPr lang="en-US" sz="1300" dirty="0"/>
          </a:p>
        </p:txBody>
      </p:sp>
      <p:sp>
        <p:nvSpPr>
          <p:cNvPr id="8" name="Shape 6"/>
          <p:cNvSpPr/>
          <p:nvPr/>
        </p:nvSpPr>
        <p:spPr>
          <a:xfrm>
            <a:off x="4142232" y="2615184"/>
            <a:ext cx="658368" cy="219456"/>
          </a:xfrm>
          <a:prstGeom prst="rightArrow">
            <a:avLst/>
          </a:prstGeom>
          <a:solidFill>
            <a:srgbClr val="2E3A48"/>
          </a:solidFill>
          <a:ln w="12700">
            <a:solidFill>
              <a:srgbClr val="2E3A48"/>
            </a:solidFill>
            <a:prstDash val="solid"/>
          </a:ln>
        </p:spPr>
      </p:sp>
      <p:sp>
        <p:nvSpPr>
          <p:cNvPr id="9" name="Shape 7"/>
          <p:cNvSpPr/>
          <p:nvPr/>
        </p:nvSpPr>
        <p:spPr>
          <a:xfrm>
            <a:off x="4965192" y="2103120"/>
            <a:ext cx="3200400" cy="1325880"/>
          </a:xfrm>
          <a:prstGeom prst="roundRect">
            <a:avLst>
              <a:gd name="adj" fmla="val 6897"/>
            </a:avLst>
          </a:prstGeom>
          <a:solidFill>
            <a:srgbClr val="222B37"/>
          </a:solidFill>
          <a:ln w="12700">
            <a:solidFill>
              <a:srgbClr val="2E3A48"/>
            </a:solidFill>
            <a:prstDash val="solid"/>
          </a:ln>
        </p:spPr>
      </p:sp>
      <p:sp>
        <p:nvSpPr>
          <p:cNvPr id="10" name="Text 8"/>
          <p:cNvSpPr txBox="1"/>
          <p:nvPr/>
        </p:nvSpPr>
        <p:spPr>
          <a:xfrm>
            <a:off x="4965192" y="2322576"/>
            <a:ext cx="3200400" cy="256032"/>
          </a:xfrm>
          <a:prstGeom prst="rect">
            <a:avLst/>
          </a:prstGeom>
          <a:noFill/>
          <a:ln/>
        </p:spPr>
        <p:txBody>
          <a:bodyPr wrap="square" lIns="0" tIns="0" rIns="0" bIns="0" rtlCol="0" anchor="ctr"/>
          <a:lstStyle/>
          <a:p>
            <a:pPr algn="ctr" indent="0" marL="0">
              <a:buNone/>
            </a:pPr>
            <a:r>
              <a:rPr lang="en-US" sz="1100" b="1" spc="200" kern="0" dirty="0">
                <a:solidFill>
                  <a:srgbClr val="E8734A"/>
                </a:solidFill>
                <a:latin typeface="Calibri" pitchFamily="34" charset="0"/>
                <a:ea typeface="Calibri" pitchFamily="34" charset="-122"/>
                <a:cs typeface="Calibri" pitchFamily="34" charset="-120"/>
              </a:rPr>
              <a:t>MODELO</a:t>
            </a:r>
            <a:endParaRPr lang="en-US" sz="1100" dirty="0"/>
          </a:p>
        </p:txBody>
      </p:sp>
      <p:sp>
        <p:nvSpPr>
          <p:cNvPr id="11" name="Text 9"/>
          <p:cNvSpPr txBox="1"/>
          <p:nvPr/>
        </p:nvSpPr>
        <p:spPr>
          <a:xfrm>
            <a:off x="5148072" y="2633472"/>
            <a:ext cx="2834640" cy="548640"/>
          </a:xfrm>
          <a:prstGeom prst="rect">
            <a:avLst/>
          </a:prstGeom>
          <a:noFill/>
          <a:ln/>
        </p:spPr>
        <p:txBody>
          <a:bodyPr wrap="square" lIns="0" tIns="0" rIns="0" bIns="0" rtlCol="0" anchor="ctr"/>
          <a:lstStyle/>
          <a:p>
            <a:pPr algn="ctr" indent="0" marL="0">
              <a:lnSpc>
                <a:spcPts val="1800"/>
              </a:lnSpc>
              <a:buNone/>
            </a:pPr>
            <a:r>
              <a:rPr lang="en-US" sz="1300" dirty="0">
                <a:solidFill>
                  <a:srgbClr val="E9EDF2"/>
                </a:solidFill>
                <a:latin typeface="Calibri" pitchFamily="34" charset="0"/>
                <a:ea typeface="Calibri" pitchFamily="34" charset="-122"/>
                <a:cs typeface="Calibri" pitchFamily="34" charset="-120"/>
              </a:rPr>
              <a:t>Función pura, sin estado.</a:t>
            </a:r>
            <a:endParaRPr lang="en-US" sz="1300" dirty="0"/>
          </a:p>
          <a:p>
            <a:pPr algn="ctr" indent="0" marL="0">
              <a:lnSpc>
                <a:spcPts val="1800"/>
              </a:lnSpc>
              <a:buNone/>
            </a:pPr>
            <a:r>
              <a:rPr lang="en-US" sz="1300" dirty="0">
                <a:solidFill>
                  <a:srgbClr val="E9EDF2"/>
                </a:solidFill>
                <a:latin typeface="Calibri" pitchFamily="34" charset="0"/>
                <a:ea typeface="Calibri" pitchFamily="34" charset="-122"/>
                <a:cs typeface="Calibri" pitchFamily="34" charset="-120"/>
              </a:rPr>
              <a:t>No guarda nada entre llamadas.</a:t>
            </a:r>
            <a:endParaRPr lang="en-US" sz="1300" dirty="0"/>
          </a:p>
        </p:txBody>
      </p:sp>
      <p:sp>
        <p:nvSpPr>
          <p:cNvPr id="12" name="Shape 10"/>
          <p:cNvSpPr/>
          <p:nvPr/>
        </p:nvSpPr>
        <p:spPr>
          <a:xfrm>
            <a:off x="8330184" y="2615184"/>
            <a:ext cx="658368" cy="219456"/>
          </a:xfrm>
          <a:prstGeom prst="rightArrow">
            <a:avLst/>
          </a:prstGeom>
          <a:solidFill>
            <a:srgbClr val="2E3A48"/>
          </a:solidFill>
          <a:ln w="12700">
            <a:solidFill>
              <a:srgbClr val="2E3A48"/>
            </a:solidFill>
            <a:prstDash val="solid"/>
          </a:ln>
        </p:spPr>
      </p:sp>
      <p:sp>
        <p:nvSpPr>
          <p:cNvPr id="13" name="Shape 11"/>
          <p:cNvSpPr/>
          <p:nvPr/>
        </p:nvSpPr>
        <p:spPr>
          <a:xfrm>
            <a:off x="9153144" y="2103120"/>
            <a:ext cx="2258568" cy="1325880"/>
          </a:xfrm>
          <a:prstGeom prst="roundRect">
            <a:avLst>
              <a:gd name="adj" fmla="val 6897"/>
            </a:avLst>
          </a:prstGeom>
          <a:solidFill>
            <a:srgbClr val="1A212B"/>
          </a:solidFill>
          <a:ln w="12700">
            <a:solidFill>
              <a:srgbClr val="2E3A48"/>
            </a:solidFill>
            <a:prstDash val="solid"/>
          </a:ln>
        </p:spPr>
      </p:sp>
      <p:sp>
        <p:nvSpPr>
          <p:cNvPr id="14" name="Text 12"/>
          <p:cNvSpPr txBox="1"/>
          <p:nvPr/>
        </p:nvSpPr>
        <p:spPr>
          <a:xfrm>
            <a:off x="9153144" y="2322576"/>
            <a:ext cx="2258568" cy="256032"/>
          </a:xfrm>
          <a:prstGeom prst="rect">
            <a:avLst/>
          </a:prstGeom>
          <a:noFill/>
          <a:ln/>
        </p:spPr>
        <p:txBody>
          <a:bodyPr wrap="square" lIns="0" tIns="0" rIns="0" bIns="0" rtlCol="0" anchor="ctr"/>
          <a:lstStyle/>
          <a:p>
            <a:pPr algn="ctr" indent="0" marL="0">
              <a:buNone/>
            </a:pPr>
            <a:r>
              <a:rPr lang="en-US" sz="1100" b="1" spc="200" kern="0" dirty="0">
                <a:solidFill>
                  <a:srgbClr val="4FD1C5"/>
                </a:solidFill>
                <a:latin typeface="Calibri" pitchFamily="34" charset="0"/>
                <a:ea typeface="Calibri" pitchFamily="34" charset="-122"/>
                <a:cs typeface="Calibri" pitchFamily="34" charset="-120"/>
              </a:rPr>
              <a:t>RESPUESTA</a:t>
            </a:r>
            <a:endParaRPr lang="en-US" sz="1100" dirty="0"/>
          </a:p>
        </p:txBody>
      </p:sp>
      <p:sp>
        <p:nvSpPr>
          <p:cNvPr id="15" name="Text 13"/>
          <p:cNvSpPr txBox="1"/>
          <p:nvPr/>
        </p:nvSpPr>
        <p:spPr>
          <a:xfrm>
            <a:off x="9244584" y="2633472"/>
            <a:ext cx="2075688" cy="548640"/>
          </a:xfrm>
          <a:prstGeom prst="rect">
            <a:avLst/>
          </a:prstGeom>
          <a:noFill/>
          <a:ln/>
        </p:spPr>
        <p:txBody>
          <a:bodyPr wrap="square" lIns="0" tIns="0" rIns="0" bIns="0" rtlCol="0" anchor="ctr"/>
          <a:lstStyle/>
          <a:p>
            <a:pPr algn="ctr" indent="0" marL="0">
              <a:lnSpc>
                <a:spcPts val="1800"/>
              </a:lnSpc>
              <a:buNone/>
            </a:pPr>
            <a:r>
              <a:rPr lang="en-US" sz="1300" dirty="0">
                <a:solidFill>
                  <a:srgbClr val="97A3B2"/>
                </a:solidFill>
                <a:latin typeface="Calibri" pitchFamily="34" charset="0"/>
                <a:ea typeface="Calibri" pitchFamily="34" charset="-122"/>
                <a:cs typeface="Calibri" pitchFamily="34" charset="-120"/>
              </a:rPr>
              <a:t>Texto o llamada</a:t>
            </a:r>
            <a:endParaRPr lang="en-US" sz="1300" dirty="0"/>
          </a:p>
          <a:p>
            <a:pPr algn="ctr" indent="0" marL="0">
              <a:lnSpc>
                <a:spcPts val="1800"/>
              </a:lnSpc>
              <a:buNone/>
            </a:pPr>
            <a:r>
              <a:rPr lang="en-US" sz="1300" dirty="0">
                <a:solidFill>
                  <a:srgbClr val="97A3B2"/>
                </a:solidFill>
                <a:latin typeface="Calibri" pitchFamily="34" charset="0"/>
                <a:ea typeface="Calibri" pitchFamily="34" charset="-122"/>
                <a:cs typeface="Calibri" pitchFamily="34" charset="-120"/>
              </a:rPr>
              <a:t>a una herramienta</a:t>
            </a:r>
            <a:endParaRPr lang="en-US" sz="1300" dirty="0"/>
          </a:p>
        </p:txBody>
      </p:sp>
      <p:sp>
        <p:nvSpPr>
          <p:cNvPr id="16" name="Shape 14"/>
          <p:cNvSpPr/>
          <p:nvPr/>
        </p:nvSpPr>
        <p:spPr>
          <a:xfrm>
            <a:off x="777240" y="3977640"/>
            <a:ext cx="3362858" cy="1737360"/>
          </a:xfrm>
          <a:prstGeom prst="roundRect">
            <a:avLst>
              <a:gd name="adj" fmla="val 5263"/>
            </a:avLst>
          </a:prstGeom>
          <a:solidFill>
            <a:srgbClr val="1A212B"/>
          </a:solidFill>
          <a:ln w="12700">
            <a:solidFill>
              <a:srgbClr val="2E3A48"/>
            </a:solidFill>
            <a:prstDash val="solid"/>
          </a:ln>
        </p:spPr>
      </p:sp>
      <p:sp>
        <p:nvSpPr>
          <p:cNvPr id="17" name="Shape 15"/>
          <p:cNvSpPr/>
          <p:nvPr/>
        </p:nvSpPr>
        <p:spPr>
          <a:xfrm>
            <a:off x="1051560" y="4270248"/>
            <a:ext cx="146304" cy="146304"/>
          </a:xfrm>
          <a:prstGeom prst="ellipse">
            <a:avLst/>
          </a:prstGeom>
          <a:solidFill>
            <a:srgbClr val="E8734A"/>
          </a:solidFill>
          <a:ln w="12700">
            <a:solidFill>
              <a:srgbClr val="E8734A"/>
            </a:solidFill>
            <a:prstDash val="solid"/>
          </a:ln>
        </p:spPr>
      </p:sp>
      <p:sp>
        <p:nvSpPr>
          <p:cNvPr id="18" name="Text 16"/>
          <p:cNvSpPr txBox="1"/>
          <p:nvPr/>
        </p:nvSpPr>
        <p:spPr>
          <a:xfrm>
            <a:off x="1051560" y="4526280"/>
            <a:ext cx="2814218" cy="457200"/>
          </a:xfrm>
          <a:prstGeom prst="rect">
            <a:avLst/>
          </a:prstGeom>
          <a:noFill/>
          <a:ln/>
        </p:spPr>
        <p:txBody>
          <a:bodyPr wrap="square" lIns="0" tIns="0" rIns="0" bIns="0" rtlCol="0" anchor="ctr"/>
          <a:lstStyle/>
          <a:p>
            <a:pPr indent="0" marL="0">
              <a:lnSpc>
                <a:spcPts val="2000"/>
              </a:lnSpc>
              <a:buNone/>
            </a:pPr>
            <a:r>
              <a:rPr lang="en-US" sz="1500" b="1" dirty="0">
                <a:solidFill>
                  <a:srgbClr val="E9EDF2"/>
                </a:solidFill>
                <a:latin typeface="Arial" pitchFamily="34" charset="0"/>
                <a:ea typeface="Arial" pitchFamily="34" charset="-122"/>
                <a:cs typeface="Arial" pitchFamily="34" charset="-120"/>
              </a:rPr>
              <a:t>No existe “la charla anterior”</a:t>
            </a:r>
            <a:endParaRPr lang="en-US" sz="1500" dirty="0"/>
          </a:p>
        </p:txBody>
      </p:sp>
      <p:sp>
        <p:nvSpPr>
          <p:cNvPr id="19" name="Text 17"/>
          <p:cNvSpPr txBox="1"/>
          <p:nvPr/>
        </p:nvSpPr>
        <p:spPr>
          <a:xfrm>
            <a:off x="1051560" y="4983480"/>
            <a:ext cx="2814218" cy="640080"/>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El modelo no accede a turnos pasados salvo que estén en el texto que le mandás ahora.</a:t>
            </a:r>
            <a:endParaRPr lang="en-US" sz="1250" dirty="0"/>
          </a:p>
        </p:txBody>
      </p:sp>
      <p:sp>
        <p:nvSpPr>
          <p:cNvPr id="20" name="Shape 18"/>
          <p:cNvSpPr/>
          <p:nvPr/>
        </p:nvSpPr>
        <p:spPr>
          <a:xfrm>
            <a:off x="4414418" y="3977640"/>
            <a:ext cx="3362858" cy="1737360"/>
          </a:xfrm>
          <a:prstGeom prst="roundRect">
            <a:avLst>
              <a:gd name="adj" fmla="val 5263"/>
            </a:avLst>
          </a:prstGeom>
          <a:solidFill>
            <a:srgbClr val="1A212B"/>
          </a:solidFill>
          <a:ln w="12700">
            <a:solidFill>
              <a:srgbClr val="2E3A48"/>
            </a:solidFill>
            <a:prstDash val="solid"/>
          </a:ln>
        </p:spPr>
      </p:sp>
      <p:sp>
        <p:nvSpPr>
          <p:cNvPr id="21" name="Shape 19"/>
          <p:cNvSpPr/>
          <p:nvPr/>
        </p:nvSpPr>
        <p:spPr>
          <a:xfrm>
            <a:off x="4688738" y="4270248"/>
            <a:ext cx="146304" cy="146304"/>
          </a:xfrm>
          <a:prstGeom prst="ellipse">
            <a:avLst/>
          </a:prstGeom>
          <a:solidFill>
            <a:srgbClr val="E8734A"/>
          </a:solidFill>
          <a:ln w="12700">
            <a:solidFill>
              <a:srgbClr val="E8734A"/>
            </a:solidFill>
            <a:prstDash val="solid"/>
          </a:ln>
        </p:spPr>
      </p:sp>
      <p:sp>
        <p:nvSpPr>
          <p:cNvPr id="22" name="Text 20"/>
          <p:cNvSpPr txBox="1"/>
          <p:nvPr/>
        </p:nvSpPr>
        <p:spPr>
          <a:xfrm>
            <a:off x="4688738" y="4526280"/>
            <a:ext cx="2814218" cy="457200"/>
          </a:xfrm>
          <a:prstGeom prst="rect">
            <a:avLst/>
          </a:prstGeom>
          <a:noFill/>
          <a:ln/>
        </p:spPr>
        <p:txBody>
          <a:bodyPr wrap="square" lIns="0" tIns="0" rIns="0" bIns="0" rtlCol="0" anchor="ctr"/>
          <a:lstStyle/>
          <a:p>
            <a:pPr indent="0" marL="0">
              <a:lnSpc>
                <a:spcPts val="2000"/>
              </a:lnSpc>
              <a:buNone/>
            </a:pPr>
            <a:r>
              <a:rPr lang="en-US" sz="1500" b="1" dirty="0">
                <a:solidFill>
                  <a:srgbClr val="E9EDF2"/>
                </a:solidFill>
                <a:latin typeface="Arial" pitchFamily="34" charset="0"/>
                <a:ea typeface="Arial" pitchFamily="34" charset="-122"/>
                <a:cs typeface="Arial" pitchFamily="34" charset="-120"/>
              </a:rPr>
              <a:t>No aprende de vos entre turnos</a:t>
            </a:r>
            <a:endParaRPr lang="en-US" sz="1500" dirty="0"/>
          </a:p>
        </p:txBody>
      </p:sp>
      <p:sp>
        <p:nvSpPr>
          <p:cNvPr id="23" name="Text 21"/>
          <p:cNvSpPr txBox="1"/>
          <p:nvPr/>
        </p:nvSpPr>
        <p:spPr>
          <a:xfrm>
            <a:off x="4688738" y="4983480"/>
            <a:ext cx="2814218" cy="640080"/>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Los pesos no cambian. Nada de lo que dijiste queda “guardado en el modelo”.</a:t>
            </a:r>
            <a:endParaRPr lang="en-US" sz="1250" dirty="0"/>
          </a:p>
        </p:txBody>
      </p:sp>
      <p:sp>
        <p:nvSpPr>
          <p:cNvPr id="24" name="Shape 22"/>
          <p:cNvSpPr/>
          <p:nvPr/>
        </p:nvSpPr>
        <p:spPr>
          <a:xfrm>
            <a:off x="8051597" y="3977640"/>
            <a:ext cx="3362858" cy="1737360"/>
          </a:xfrm>
          <a:prstGeom prst="roundRect">
            <a:avLst>
              <a:gd name="adj" fmla="val 5263"/>
            </a:avLst>
          </a:prstGeom>
          <a:solidFill>
            <a:srgbClr val="1A212B"/>
          </a:solidFill>
          <a:ln w="12700">
            <a:solidFill>
              <a:srgbClr val="2E3A48"/>
            </a:solidFill>
            <a:prstDash val="solid"/>
          </a:ln>
        </p:spPr>
      </p:sp>
      <p:sp>
        <p:nvSpPr>
          <p:cNvPr id="25" name="Shape 23"/>
          <p:cNvSpPr/>
          <p:nvPr/>
        </p:nvSpPr>
        <p:spPr>
          <a:xfrm>
            <a:off x="8325917" y="4270248"/>
            <a:ext cx="146304" cy="146304"/>
          </a:xfrm>
          <a:prstGeom prst="ellipse">
            <a:avLst/>
          </a:prstGeom>
          <a:solidFill>
            <a:srgbClr val="E8734A"/>
          </a:solidFill>
          <a:ln w="12700">
            <a:solidFill>
              <a:srgbClr val="E8734A"/>
            </a:solidFill>
            <a:prstDash val="solid"/>
          </a:ln>
        </p:spPr>
      </p:sp>
      <p:sp>
        <p:nvSpPr>
          <p:cNvPr id="26" name="Text 24"/>
          <p:cNvSpPr txBox="1"/>
          <p:nvPr/>
        </p:nvSpPr>
        <p:spPr>
          <a:xfrm>
            <a:off x="8325917" y="4526280"/>
            <a:ext cx="2814218" cy="457200"/>
          </a:xfrm>
          <a:prstGeom prst="rect">
            <a:avLst/>
          </a:prstGeom>
          <a:noFill/>
          <a:ln/>
        </p:spPr>
        <p:txBody>
          <a:bodyPr wrap="square" lIns="0" tIns="0" rIns="0" bIns="0" rtlCol="0" anchor="ctr"/>
          <a:lstStyle/>
          <a:p>
            <a:pPr indent="0" marL="0">
              <a:lnSpc>
                <a:spcPts val="2000"/>
              </a:lnSpc>
              <a:buNone/>
            </a:pPr>
            <a:r>
              <a:rPr lang="en-US" sz="1500" b="1" dirty="0">
                <a:solidFill>
                  <a:srgbClr val="E9EDF2"/>
                </a:solidFill>
                <a:latin typeface="Arial" pitchFamily="34" charset="0"/>
                <a:ea typeface="Arial" pitchFamily="34" charset="-122"/>
                <a:cs typeface="Arial" pitchFamily="34" charset="-120"/>
              </a:rPr>
              <a:t>La memoria la pone el cliente</a:t>
            </a:r>
            <a:endParaRPr lang="en-US" sz="1500" dirty="0"/>
          </a:p>
        </p:txBody>
      </p:sp>
      <p:sp>
        <p:nvSpPr>
          <p:cNvPr id="27" name="Text 25"/>
          <p:cNvSpPr txBox="1"/>
          <p:nvPr/>
        </p:nvSpPr>
        <p:spPr>
          <a:xfrm>
            <a:off x="8325917" y="4983480"/>
            <a:ext cx="2814218" cy="640080"/>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El agente (Claude Code, tu app) es quien arma y reenvía el historial.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REINYECCIÓN</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Cada turno reenvía toda la conversación</a:t>
            </a:r>
            <a:endParaRPr lang="en-US" sz="3200" dirty="0"/>
          </a:p>
        </p:txBody>
      </p:sp>
      <p:sp>
        <p:nvSpPr>
          <p:cNvPr id="4" name="Text 2"/>
          <p:cNvSpPr txBox="1"/>
          <p:nvPr/>
        </p:nvSpPr>
        <p:spPr>
          <a:xfrm>
            <a:off x="1158088" y="5047488"/>
            <a:ext cx="2926080" cy="274320"/>
          </a:xfrm>
          <a:prstGeom prst="rect">
            <a:avLst/>
          </a:prstGeom>
          <a:noFill/>
          <a:ln/>
        </p:spPr>
        <p:txBody>
          <a:bodyPr wrap="square" lIns="0" tIns="0" rIns="0" bIns="0" rtlCol="0" anchor="ctr"/>
          <a:lstStyle/>
          <a:p>
            <a:pPr algn="ctr" indent="0" marL="0">
              <a:buNone/>
            </a:pPr>
            <a:r>
              <a:rPr lang="en-US" sz="1400" b="1" dirty="0">
                <a:solidFill>
                  <a:srgbClr val="E9EDF2"/>
                </a:solidFill>
                <a:latin typeface="Arial" pitchFamily="34" charset="0"/>
                <a:ea typeface="Arial" pitchFamily="34" charset="-122"/>
                <a:cs typeface="Arial" pitchFamily="34" charset="-120"/>
              </a:rPr>
              <a:t>Turno 1</a:t>
            </a:r>
            <a:endParaRPr lang="en-US" sz="1400" dirty="0"/>
          </a:p>
        </p:txBody>
      </p:sp>
      <p:sp>
        <p:nvSpPr>
          <p:cNvPr id="5" name="Text 3"/>
          <p:cNvSpPr txBox="1"/>
          <p:nvPr/>
        </p:nvSpPr>
        <p:spPr>
          <a:xfrm>
            <a:off x="1158088" y="5321808"/>
            <a:ext cx="2926080" cy="237744"/>
          </a:xfrm>
          <a:prstGeom prst="rect">
            <a:avLst/>
          </a:prstGeom>
          <a:noFill/>
          <a:ln/>
        </p:spPr>
        <p:txBody>
          <a:bodyPr wrap="square" lIns="0" tIns="0" rIns="0" bIns="0" rtlCol="0" anchor="ctr"/>
          <a:lstStyle/>
          <a:p>
            <a:pPr algn="ctr" indent="0" marL="0">
              <a:buNone/>
            </a:pPr>
            <a:r>
              <a:rPr lang="en-US" sz="1100" dirty="0">
                <a:solidFill>
                  <a:srgbClr val="97A3B2"/>
                </a:solidFill>
                <a:latin typeface="Calibri" pitchFamily="34" charset="0"/>
                <a:ea typeface="Calibri" pitchFamily="34" charset="-122"/>
                <a:cs typeface="Calibri" pitchFamily="34" charset="-120"/>
              </a:rPr>
              <a:t>2 bloques enviados</a:t>
            </a:r>
            <a:endParaRPr lang="en-US" sz="1100" dirty="0"/>
          </a:p>
        </p:txBody>
      </p:sp>
      <p:sp>
        <p:nvSpPr>
          <p:cNvPr id="6" name="Shape 4"/>
          <p:cNvSpPr/>
          <p:nvPr/>
        </p:nvSpPr>
        <p:spPr>
          <a:xfrm>
            <a:off x="1158088" y="4517136"/>
            <a:ext cx="2926080" cy="365760"/>
          </a:xfrm>
          <a:prstGeom prst="roundRect">
            <a:avLst>
              <a:gd name="adj" fmla="val 15000"/>
            </a:avLst>
          </a:prstGeom>
          <a:solidFill>
            <a:srgbClr val="2A3140"/>
          </a:solidFill>
          <a:ln w="12700">
            <a:solidFill>
              <a:srgbClr val="2E3A48"/>
            </a:solidFill>
            <a:prstDash val="solid"/>
          </a:ln>
        </p:spPr>
      </p:sp>
      <p:sp>
        <p:nvSpPr>
          <p:cNvPr id="7" name="Text 5"/>
          <p:cNvSpPr txBox="1"/>
          <p:nvPr/>
        </p:nvSpPr>
        <p:spPr>
          <a:xfrm>
            <a:off x="1158088" y="4517136"/>
            <a:ext cx="2926080" cy="365760"/>
          </a:xfrm>
          <a:prstGeom prst="rect">
            <a:avLst/>
          </a:prstGeom>
          <a:noFill/>
          <a:ln/>
        </p:spPr>
        <p:txBody>
          <a:bodyPr wrap="square" lIns="0" tIns="0" rIns="0" bIns="0" rtlCol="0" anchor="ctr"/>
          <a:lstStyle/>
          <a:p>
            <a:pPr algn="ctr" indent="0" marL="0">
              <a:buNone/>
            </a:pPr>
            <a:r>
              <a:rPr lang="en-US" sz="1050" dirty="0">
                <a:solidFill>
                  <a:srgbClr val="97A3B2"/>
                </a:solidFill>
                <a:latin typeface="Calibri" pitchFamily="34" charset="0"/>
                <a:ea typeface="Calibri" pitchFamily="34" charset="-122"/>
                <a:cs typeface="Calibri" pitchFamily="34" charset="-120"/>
              </a:rPr>
              <a:t>System prompt + herramientas</a:t>
            </a:r>
            <a:endParaRPr lang="en-US" sz="1050" dirty="0"/>
          </a:p>
        </p:txBody>
      </p:sp>
      <p:sp>
        <p:nvSpPr>
          <p:cNvPr id="8" name="Shape 6"/>
          <p:cNvSpPr/>
          <p:nvPr/>
        </p:nvSpPr>
        <p:spPr>
          <a:xfrm>
            <a:off x="1158088" y="4078224"/>
            <a:ext cx="2926080" cy="365760"/>
          </a:xfrm>
          <a:prstGeom prst="roundRect">
            <a:avLst>
              <a:gd name="adj" fmla="val 15000"/>
            </a:avLst>
          </a:prstGeom>
          <a:solidFill>
            <a:srgbClr val="10403C"/>
          </a:solidFill>
          <a:ln w="12700">
            <a:solidFill>
              <a:srgbClr val="2E3A48"/>
            </a:solidFill>
            <a:prstDash val="solid"/>
          </a:ln>
        </p:spPr>
      </p:sp>
      <p:sp>
        <p:nvSpPr>
          <p:cNvPr id="9" name="Text 7"/>
          <p:cNvSpPr txBox="1"/>
          <p:nvPr/>
        </p:nvSpPr>
        <p:spPr>
          <a:xfrm>
            <a:off x="1158088" y="4078224"/>
            <a:ext cx="2926080" cy="365760"/>
          </a:xfrm>
          <a:prstGeom prst="rect">
            <a:avLst/>
          </a:prstGeom>
          <a:noFill/>
          <a:ln/>
        </p:spPr>
        <p:txBody>
          <a:bodyPr wrap="square" lIns="0" tIns="0" rIns="0" bIns="0" rtlCol="0" anchor="ctr"/>
          <a:lstStyle/>
          <a:p>
            <a:pPr algn="ctr" indent="0" marL="0">
              <a:buNone/>
            </a:pPr>
            <a:r>
              <a:rPr lang="en-US" sz="1050" dirty="0">
                <a:solidFill>
                  <a:srgbClr val="4FD1C5"/>
                </a:solidFill>
                <a:latin typeface="Calibri" pitchFamily="34" charset="0"/>
                <a:ea typeface="Calibri" pitchFamily="34" charset="-122"/>
                <a:cs typeface="Calibri" pitchFamily="34" charset="-120"/>
              </a:rPr>
              <a:t>Mensaje 1 (vos)</a:t>
            </a:r>
            <a:endParaRPr lang="en-US" sz="1050" dirty="0"/>
          </a:p>
        </p:txBody>
      </p:sp>
      <p:sp>
        <p:nvSpPr>
          <p:cNvPr id="10" name="Text 8"/>
          <p:cNvSpPr txBox="1"/>
          <p:nvPr/>
        </p:nvSpPr>
        <p:spPr>
          <a:xfrm>
            <a:off x="4632808" y="5047488"/>
            <a:ext cx="2926080" cy="274320"/>
          </a:xfrm>
          <a:prstGeom prst="rect">
            <a:avLst/>
          </a:prstGeom>
          <a:noFill/>
          <a:ln/>
        </p:spPr>
        <p:txBody>
          <a:bodyPr wrap="square" lIns="0" tIns="0" rIns="0" bIns="0" rtlCol="0" anchor="ctr"/>
          <a:lstStyle/>
          <a:p>
            <a:pPr algn="ctr" indent="0" marL="0">
              <a:buNone/>
            </a:pPr>
            <a:r>
              <a:rPr lang="en-US" sz="1400" b="1" dirty="0">
                <a:solidFill>
                  <a:srgbClr val="E9EDF2"/>
                </a:solidFill>
                <a:latin typeface="Arial" pitchFamily="34" charset="0"/>
                <a:ea typeface="Arial" pitchFamily="34" charset="-122"/>
                <a:cs typeface="Arial" pitchFamily="34" charset="-120"/>
              </a:rPr>
              <a:t>Turno 2</a:t>
            </a:r>
            <a:endParaRPr lang="en-US" sz="1400" dirty="0"/>
          </a:p>
        </p:txBody>
      </p:sp>
      <p:sp>
        <p:nvSpPr>
          <p:cNvPr id="11" name="Text 9"/>
          <p:cNvSpPr txBox="1"/>
          <p:nvPr/>
        </p:nvSpPr>
        <p:spPr>
          <a:xfrm>
            <a:off x="4632808" y="5321808"/>
            <a:ext cx="2926080" cy="237744"/>
          </a:xfrm>
          <a:prstGeom prst="rect">
            <a:avLst/>
          </a:prstGeom>
          <a:noFill/>
          <a:ln/>
        </p:spPr>
        <p:txBody>
          <a:bodyPr wrap="square" lIns="0" tIns="0" rIns="0" bIns="0" rtlCol="0" anchor="ctr"/>
          <a:lstStyle/>
          <a:p>
            <a:pPr algn="ctr" indent="0" marL="0">
              <a:buNone/>
            </a:pPr>
            <a:r>
              <a:rPr lang="en-US" sz="1100" dirty="0">
                <a:solidFill>
                  <a:srgbClr val="97A3B2"/>
                </a:solidFill>
                <a:latin typeface="Calibri" pitchFamily="34" charset="0"/>
                <a:ea typeface="Calibri" pitchFamily="34" charset="-122"/>
                <a:cs typeface="Calibri" pitchFamily="34" charset="-120"/>
              </a:rPr>
              <a:t>4 bloques enviados</a:t>
            </a:r>
            <a:endParaRPr lang="en-US" sz="1100" dirty="0"/>
          </a:p>
        </p:txBody>
      </p:sp>
      <p:sp>
        <p:nvSpPr>
          <p:cNvPr id="12" name="Shape 10"/>
          <p:cNvSpPr/>
          <p:nvPr/>
        </p:nvSpPr>
        <p:spPr>
          <a:xfrm>
            <a:off x="4632808" y="4517136"/>
            <a:ext cx="2926080" cy="365760"/>
          </a:xfrm>
          <a:prstGeom prst="roundRect">
            <a:avLst>
              <a:gd name="adj" fmla="val 15000"/>
            </a:avLst>
          </a:prstGeom>
          <a:solidFill>
            <a:srgbClr val="2A3140"/>
          </a:solidFill>
          <a:ln w="12700">
            <a:solidFill>
              <a:srgbClr val="2E3A48"/>
            </a:solidFill>
            <a:prstDash val="solid"/>
          </a:ln>
        </p:spPr>
      </p:sp>
      <p:sp>
        <p:nvSpPr>
          <p:cNvPr id="13" name="Text 11"/>
          <p:cNvSpPr txBox="1"/>
          <p:nvPr/>
        </p:nvSpPr>
        <p:spPr>
          <a:xfrm>
            <a:off x="4632808" y="4517136"/>
            <a:ext cx="2926080" cy="365760"/>
          </a:xfrm>
          <a:prstGeom prst="rect">
            <a:avLst/>
          </a:prstGeom>
          <a:noFill/>
          <a:ln/>
        </p:spPr>
        <p:txBody>
          <a:bodyPr wrap="square" lIns="0" tIns="0" rIns="0" bIns="0" rtlCol="0" anchor="ctr"/>
          <a:lstStyle/>
          <a:p>
            <a:pPr algn="ctr" indent="0" marL="0">
              <a:buNone/>
            </a:pPr>
            <a:r>
              <a:rPr lang="en-US" sz="1050" dirty="0">
                <a:solidFill>
                  <a:srgbClr val="97A3B2"/>
                </a:solidFill>
                <a:latin typeface="Calibri" pitchFamily="34" charset="0"/>
                <a:ea typeface="Calibri" pitchFamily="34" charset="-122"/>
                <a:cs typeface="Calibri" pitchFamily="34" charset="-120"/>
              </a:rPr>
              <a:t>System prompt + herramientas</a:t>
            </a:r>
            <a:endParaRPr lang="en-US" sz="1050" dirty="0"/>
          </a:p>
        </p:txBody>
      </p:sp>
      <p:sp>
        <p:nvSpPr>
          <p:cNvPr id="14" name="Shape 12"/>
          <p:cNvSpPr/>
          <p:nvPr/>
        </p:nvSpPr>
        <p:spPr>
          <a:xfrm>
            <a:off x="4632808" y="4078224"/>
            <a:ext cx="2926080" cy="365760"/>
          </a:xfrm>
          <a:prstGeom prst="roundRect">
            <a:avLst>
              <a:gd name="adj" fmla="val 15000"/>
            </a:avLst>
          </a:prstGeom>
          <a:solidFill>
            <a:srgbClr val="10403C"/>
          </a:solidFill>
          <a:ln w="12700">
            <a:solidFill>
              <a:srgbClr val="2E3A48"/>
            </a:solidFill>
            <a:prstDash val="solid"/>
          </a:ln>
        </p:spPr>
      </p:sp>
      <p:sp>
        <p:nvSpPr>
          <p:cNvPr id="15" name="Text 13"/>
          <p:cNvSpPr txBox="1"/>
          <p:nvPr/>
        </p:nvSpPr>
        <p:spPr>
          <a:xfrm>
            <a:off x="4632808" y="4078224"/>
            <a:ext cx="2926080" cy="365760"/>
          </a:xfrm>
          <a:prstGeom prst="rect">
            <a:avLst/>
          </a:prstGeom>
          <a:noFill/>
          <a:ln/>
        </p:spPr>
        <p:txBody>
          <a:bodyPr wrap="square" lIns="0" tIns="0" rIns="0" bIns="0" rtlCol="0" anchor="ctr"/>
          <a:lstStyle/>
          <a:p>
            <a:pPr algn="ctr" indent="0" marL="0">
              <a:buNone/>
            </a:pPr>
            <a:r>
              <a:rPr lang="en-US" sz="1050" dirty="0">
                <a:solidFill>
                  <a:srgbClr val="4FD1C5"/>
                </a:solidFill>
                <a:latin typeface="Calibri" pitchFamily="34" charset="0"/>
                <a:ea typeface="Calibri" pitchFamily="34" charset="-122"/>
                <a:cs typeface="Calibri" pitchFamily="34" charset="-120"/>
              </a:rPr>
              <a:t>Mensaje 1 (vos)</a:t>
            </a:r>
            <a:endParaRPr lang="en-US" sz="1050" dirty="0"/>
          </a:p>
        </p:txBody>
      </p:sp>
      <p:sp>
        <p:nvSpPr>
          <p:cNvPr id="16" name="Shape 14"/>
          <p:cNvSpPr/>
          <p:nvPr/>
        </p:nvSpPr>
        <p:spPr>
          <a:xfrm>
            <a:off x="4632808" y="3639312"/>
            <a:ext cx="2926080" cy="365760"/>
          </a:xfrm>
          <a:prstGeom prst="roundRect">
            <a:avLst>
              <a:gd name="adj" fmla="val 15000"/>
            </a:avLst>
          </a:prstGeom>
          <a:solidFill>
            <a:srgbClr val="3E2A20"/>
          </a:solidFill>
          <a:ln w="12700">
            <a:solidFill>
              <a:srgbClr val="2E3A48"/>
            </a:solidFill>
            <a:prstDash val="solid"/>
          </a:ln>
        </p:spPr>
      </p:sp>
      <p:sp>
        <p:nvSpPr>
          <p:cNvPr id="17" name="Text 15"/>
          <p:cNvSpPr txBox="1"/>
          <p:nvPr/>
        </p:nvSpPr>
        <p:spPr>
          <a:xfrm>
            <a:off x="4632808" y="3639312"/>
            <a:ext cx="2926080" cy="365760"/>
          </a:xfrm>
          <a:prstGeom prst="rect">
            <a:avLst/>
          </a:prstGeom>
          <a:noFill/>
          <a:ln/>
        </p:spPr>
        <p:txBody>
          <a:bodyPr wrap="square" lIns="0" tIns="0" rIns="0" bIns="0" rtlCol="0" anchor="ctr"/>
          <a:lstStyle/>
          <a:p>
            <a:pPr algn="ctr" indent="0" marL="0">
              <a:buNone/>
            </a:pPr>
            <a:r>
              <a:rPr lang="en-US" sz="1050" dirty="0">
                <a:solidFill>
                  <a:srgbClr val="F0A183"/>
                </a:solidFill>
                <a:latin typeface="Calibri" pitchFamily="34" charset="0"/>
                <a:ea typeface="Calibri" pitchFamily="34" charset="-122"/>
                <a:cs typeface="Calibri" pitchFamily="34" charset="-120"/>
              </a:rPr>
              <a:t>Respuesta 1 (agente)</a:t>
            </a:r>
            <a:endParaRPr lang="en-US" sz="1050" dirty="0"/>
          </a:p>
        </p:txBody>
      </p:sp>
      <p:sp>
        <p:nvSpPr>
          <p:cNvPr id="18" name="Shape 16"/>
          <p:cNvSpPr/>
          <p:nvPr/>
        </p:nvSpPr>
        <p:spPr>
          <a:xfrm>
            <a:off x="4632808" y="3200400"/>
            <a:ext cx="2926080" cy="365760"/>
          </a:xfrm>
          <a:prstGeom prst="roundRect">
            <a:avLst>
              <a:gd name="adj" fmla="val 15000"/>
            </a:avLst>
          </a:prstGeom>
          <a:solidFill>
            <a:srgbClr val="10403C"/>
          </a:solidFill>
          <a:ln w="12700">
            <a:solidFill>
              <a:srgbClr val="2E3A48"/>
            </a:solidFill>
            <a:prstDash val="solid"/>
          </a:ln>
        </p:spPr>
      </p:sp>
      <p:sp>
        <p:nvSpPr>
          <p:cNvPr id="19" name="Text 17"/>
          <p:cNvSpPr txBox="1"/>
          <p:nvPr/>
        </p:nvSpPr>
        <p:spPr>
          <a:xfrm>
            <a:off x="4632808" y="3200400"/>
            <a:ext cx="2926080" cy="365760"/>
          </a:xfrm>
          <a:prstGeom prst="rect">
            <a:avLst/>
          </a:prstGeom>
          <a:noFill/>
          <a:ln/>
        </p:spPr>
        <p:txBody>
          <a:bodyPr wrap="square" lIns="0" tIns="0" rIns="0" bIns="0" rtlCol="0" anchor="ctr"/>
          <a:lstStyle/>
          <a:p>
            <a:pPr algn="ctr" indent="0" marL="0">
              <a:buNone/>
            </a:pPr>
            <a:r>
              <a:rPr lang="en-US" sz="1050" dirty="0">
                <a:solidFill>
                  <a:srgbClr val="4FD1C5"/>
                </a:solidFill>
                <a:latin typeface="Calibri" pitchFamily="34" charset="0"/>
                <a:ea typeface="Calibri" pitchFamily="34" charset="-122"/>
                <a:cs typeface="Calibri" pitchFamily="34" charset="-120"/>
              </a:rPr>
              <a:t>Mensaje 2 (vos)</a:t>
            </a:r>
            <a:endParaRPr lang="en-US" sz="1050" dirty="0"/>
          </a:p>
        </p:txBody>
      </p:sp>
      <p:sp>
        <p:nvSpPr>
          <p:cNvPr id="20" name="Text 18"/>
          <p:cNvSpPr txBox="1"/>
          <p:nvPr/>
        </p:nvSpPr>
        <p:spPr>
          <a:xfrm>
            <a:off x="8107528" y="5047488"/>
            <a:ext cx="2926080" cy="274320"/>
          </a:xfrm>
          <a:prstGeom prst="rect">
            <a:avLst/>
          </a:prstGeom>
          <a:noFill/>
          <a:ln/>
        </p:spPr>
        <p:txBody>
          <a:bodyPr wrap="square" lIns="0" tIns="0" rIns="0" bIns="0" rtlCol="0" anchor="ctr"/>
          <a:lstStyle/>
          <a:p>
            <a:pPr algn="ctr" indent="0" marL="0">
              <a:buNone/>
            </a:pPr>
            <a:r>
              <a:rPr lang="en-US" sz="1400" b="1" dirty="0">
                <a:solidFill>
                  <a:srgbClr val="E9EDF2"/>
                </a:solidFill>
                <a:latin typeface="Arial" pitchFamily="34" charset="0"/>
                <a:ea typeface="Arial" pitchFamily="34" charset="-122"/>
                <a:cs typeface="Arial" pitchFamily="34" charset="-120"/>
              </a:rPr>
              <a:t>Turno 3</a:t>
            </a:r>
            <a:endParaRPr lang="en-US" sz="1400" dirty="0"/>
          </a:p>
        </p:txBody>
      </p:sp>
      <p:sp>
        <p:nvSpPr>
          <p:cNvPr id="21" name="Text 19"/>
          <p:cNvSpPr txBox="1"/>
          <p:nvPr/>
        </p:nvSpPr>
        <p:spPr>
          <a:xfrm>
            <a:off x="8107528" y="5321808"/>
            <a:ext cx="2926080" cy="237744"/>
          </a:xfrm>
          <a:prstGeom prst="rect">
            <a:avLst/>
          </a:prstGeom>
          <a:noFill/>
          <a:ln/>
        </p:spPr>
        <p:txBody>
          <a:bodyPr wrap="square" lIns="0" tIns="0" rIns="0" bIns="0" rtlCol="0" anchor="ctr"/>
          <a:lstStyle/>
          <a:p>
            <a:pPr algn="ctr" indent="0" marL="0">
              <a:buNone/>
            </a:pPr>
            <a:r>
              <a:rPr lang="en-US" sz="1100" dirty="0">
                <a:solidFill>
                  <a:srgbClr val="97A3B2"/>
                </a:solidFill>
                <a:latin typeface="Calibri" pitchFamily="34" charset="0"/>
                <a:ea typeface="Calibri" pitchFamily="34" charset="-122"/>
                <a:cs typeface="Calibri" pitchFamily="34" charset="-120"/>
              </a:rPr>
              <a:t>6 bloques enviados</a:t>
            </a:r>
            <a:endParaRPr lang="en-US" sz="1100" dirty="0"/>
          </a:p>
        </p:txBody>
      </p:sp>
      <p:sp>
        <p:nvSpPr>
          <p:cNvPr id="22" name="Shape 20"/>
          <p:cNvSpPr/>
          <p:nvPr/>
        </p:nvSpPr>
        <p:spPr>
          <a:xfrm>
            <a:off x="8107528" y="4517136"/>
            <a:ext cx="2926080" cy="365760"/>
          </a:xfrm>
          <a:prstGeom prst="roundRect">
            <a:avLst>
              <a:gd name="adj" fmla="val 15000"/>
            </a:avLst>
          </a:prstGeom>
          <a:solidFill>
            <a:srgbClr val="2A3140"/>
          </a:solidFill>
          <a:ln w="12700">
            <a:solidFill>
              <a:srgbClr val="2E3A48"/>
            </a:solidFill>
            <a:prstDash val="solid"/>
          </a:ln>
        </p:spPr>
      </p:sp>
      <p:sp>
        <p:nvSpPr>
          <p:cNvPr id="23" name="Text 21"/>
          <p:cNvSpPr txBox="1"/>
          <p:nvPr/>
        </p:nvSpPr>
        <p:spPr>
          <a:xfrm>
            <a:off x="8107528" y="4517136"/>
            <a:ext cx="2926080" cy="365760"/>
          </a:xfrm>
          <a:prstGeom prst="rect">
            <a:avLst/>
          </a:prstGeom>
          <a:noFill/>
          <a:ln/>
        </p:spPr>
        <p:txBody>
          <a:bodyPr wrap="square" lIns="0" tIns="0" rIns="0" bIns="0" rtlCol="0" anchor="ctr"/>
          <a:lstStyle/>
          <a:p>
            <a:pPr algn="ctr" indent="0" marL="0">
              <a:buNone/>
            </a:pPr>
            <a:r>
              <a:rPr lang="en-US" sz="1050" dirty="0">
                <a:solidFill>
                  <a:srgbClr val="97A3B2"/>
                </a:solidFill>
                <a:latin typeface="Calibri" pitchFamily="34" charset="0"/>
                <a:ea typeface="Calibri" pitchFamily="34" charset="-122"/>
                <a:cs typeface="Calibri" pitchFamily="34" charset="-120"/>
              </a:rPr>
              <a:t>System prompt + herramientas</a:t>
            </a:r>
            <a:endParaRPr lang="en-US" sz="1050" dirty="0"/>
          </a:p>
        </p:txBody>
      </p:sp>
      <p:sp>
        <p:nvSpPr>
          <p:cNvPr id="24" name="Shape 22"/>
          <p:cNvSpPr/>
          <p:nvPr/>
        </p:nvSpPr>
        <p:spPr>
          <a:xfrm>
            <a:off x="8107528" y="4078224"/>
            <a:ext cx="2926080" cy="365760"/>
          </a:xfrm>
          <a:prstGeom prst="roundRect">
            <a:avLst>
              <a:gd name="adj" fmla="val 15000"/>
            </a:avLst>
          </a:prstGeom>
          <a:solidFill>
            <a:srgbClr val="10403C"/>
          </a:solidFill>
          <a:ln w="12700">
            <a:solidFill>
              <a:srgbClr val="2E3A48"/>
            </a:solidFill>
            <a:prstDash val="solid"/>
          </a:ln>
        </p:spPr>
      </p:sp>
      <p:sp>
        <p:nvSpPr>
          <p:cNvPr id="25" name="Text 23"/>
          <p:cNvSpPr txBox="1"/>
          <p:nvPr/>
        </p:nvSpPr>
        <p:spPr>
          <a:xfrm>
            <a:off x="8107528" y="4078224"/>
            <a:ext cx="2926080" cy="365760"/>
          </a:xfrm>
          <a:prstGeom prst="rect">
            <a:avLst/>
          </a:prstGeom>
          <a:noFill/>
          <a:ln/>
        </p:spPr>
        <p:txBody>
          <a:bodyPr wrap="square" lIns="0" tIns="0" rIns="0" bIns="0" rtlCol="0" anchor="ctr"/>
          <a:lstStyle/>
          <a:p>
            <a:pPr algn="ctr" indent="0" marL="0">
              <a:buNone/>
            </a:pPr>
            <a:r>
              <a:rPr lang="en-US" sz="1050" dirty="0">
                <a:solidFill>
                  <a:srgbClr val="4FD1C5"/>
                </a:solidFill>
                <a:latin typeface="Calibri" pitchFamily="34" charset="0"/>
                <a:ea typeface="Calibri" pitchFamily="34" charset="-122"/>
                <a:cs typeface="Calibri" pitchFamily="34" charset="-120"/>
              </a:rPr>
              <a:t>Mensaje 1 (vos)</a:t>
            </a:r>
            <a:endParaRPr lang="en-US" sz="1050" dirty="0"/>
          </a:p>
        </p:txBody>
      </p:sp>
      <p:sp>
        <p:nvSpPr>
          <p:cNvPr id="26" name="Shape 24"/>
          <p:cNvSpPr/>
          <p:nvPr/>
        </p:nvSpPr>
        <p:spPr>
          <a:xfrm>
            <a:off x="8107528" y="3639312"/>
            <a:ext cx="2926080" cy="365760"/>
          </a:xfrm>
          <a:prstGeom prst="roundRect">
            <a:avLst>
              <a:gd name="adj" fmla="val 15000"/>
            </a:avLst>
          </a:prstGeom>
          <a:solidFill>
            <a:srgbClr val="3E2A20"/>
          </a:solidFill>
          <a:ln w="12700">
            <a:solidFill>
              <a:srgbClr val="2E3A48"/>
            </a:solidFill>
            <a:prstDash val="solid"/>
          </a:ln>
        </p:spPr>
      </p:sp>
      <p:sp>
        <p:nvSpPr>
          <p:cNvPr id="27" name="Text 25"/>
          <p:cNvSpPr txBox="1"/>
          <p:nvPr/>
        </p:nvSpPr>
        <p:spPr>
          <a:xfrm>
            <a:off x="8107528" y="3639312"/>
            <a:ext cx="2926080" cy="365760"/>
          </a:xfrm>
          <a:prstGeom prst="rect">
            <a:avLst/>
          </a:prstGeom>
          <a:noFill/>
          <a:ln/>
        </p:spPr>
        <p:txBody>
          <a:bodyPr wrap="square" lIns="0" tIns="0" rIns="0" bIns="0" rtlCol="0" anchor="ctr"/>
          <a:lstStyle/>
          <a:p>
            <a:pPr algn="ctr" indent="0" marL="0">
              <a:buNone/>
            </a:pPr>
            <a:r>
              <a:rPr lang="en-US" sz="1050" dirty="0">
                <a:solidFill>
                  <a:srgbClr val="F0A183"/>
                </a:solidFill>
                <a:latin typeface="Calibri" pitchFamily="34" charset="0"/>
                <a:ea typeface="Calibri" pitchFamily="34" charset="-122"/>
                <a:cs typeface="Calibri" pitchFamily="34" charset="-120"/>
              </a:rPr>
              <a:t>Respuesta 1 (agente)</a:t>
            </a:r>
            <a:endParaRPr lang="en-US" sz="1050" dirty="0"/>
          </a:p>
        </p:txBody>
      </p:sp>
      <p:sp>
        <p:nvSpPr>
          <p:cNvPr id="28" name="Shape 26"/>
          <p:cNvSpPr/>
          <p:nvPr/>
        </p:nvSpPr>
        <p:spPr>
          <a:xfrm>
            <a:off x="8107528" y="3200400"/>
            <a:ext cx="2926080" cy="365760"/>
          </a:xfrm>
          <a:prstGeom prst="roundRect">
            <a:avLst>
              <a:gd name="adj" fmla="val 15000"/>
            </a:avLst>
          </a:prstGeom>
          <a:solidFill>
            <a:srgbClr val="10403C"/>
          </a:solidFill>
          <a:ln w="12700">
            <a:solidFill>
              <a:srgbClr val="2E3A48"/>
            </a:solidFill>
            <a:prstDash val="solid"/>
          </a:ln>
        </p:spPr>
      </p:sp>
      <p:sp>
        <p:nvSpPr>
          <p:cNvPr id="29" name="Text 27"/>
          <p:cNvSpPr txBox="1"/>
          <p:nvPr/>
        </p:nvSpPr>
        <p:spPr>
          <a:xfrm>
            <a:off x="8107528" y="3200400"/>
            <a:ext cx="2926080" cy="365760"/>
          </a:xfrm>
          <a:prstGeom prst="rect">
            <a:avLst/>
          </a:prstGeom>
          <a:noFill/>
          <a:ln/>
        </p:spPr>
        <p:txBody>
          <a:bodyPr wrap="square" lIns="0" tIns="0" rIns="0" bIns="0" rtlCol="0" anchor="ctr"/>
          <a:lstStyle/>
          <a:p>
            <a:pPr algn="ctr" indent="0" marL="0">
              <a:buNone/>
            </a:pPr>
            <a:r>
              <a:rPr lang="en-US" sz="1050" dirty="0">
                <a:solidFill>
                  <a:srgbClr val="4FD1C5"/>
                </a:solidFill>
                <a:latin typeface="Calibri" pitchFamily="34" charset="0"/>
                <a:ea typeface="Calibri" pitchFamily="34" charset="-122"/>
                <a:cs typeface="Calibri" pitchFamily="34" charset="-120"/>
              </a:rPr>
              <a:t>Mensaje 2 (vos)</a:t>
            </a:r>
            <a:endParaRPr lang="en-US" sz="1050" dirty="0"/>
          </a:p>
        </p:txBody>
      </p:sp>
      <p:sp>
        <p:nvSpPr>
          <p:cNvPr id="30" name="Shape 28"/>
          <p:cNvSpPr/>
          <p:nvPr/>
        </p:nvSpPr>
        <p:spPr>
          <a:xfrm>
            <a:off x="8107528" y="2761488"/>
            <a:ext cx="2926080" cy="365760"/>
          </a:xfrm>
          <a:prstGeom prst="roundRect">
            <a:avLst>
              <a:gd name="adj" fmla="val 15000"/>
            </a:avLst>
          </a:prstGeom>
          <a:solidFill>
            <a:srgbClr val="3E2A20"/>
          </a:solidFill>
          <a:ln w="12700">
            <a:solidFill>
              <a:srgbClr val="2E3A48"/>
            </a:solidFill>
            <a:prstDash val="solid"/>
          </a:ln>
        </p:spPr>
      </p:sp>
      <p:sp>
        <p:nvSpPr>
          <p:cNvPr id="31" name="Text 29"/>
          <p:cNvSpPr txBox="1"/>
          <p:nvPr/>
        </p:nvSpPr>
        <p:spPr>
          <a:xfrm>
            <a:off x="8107528" y="2761488"/>
            <a:ext cx="2926080" cy="365760"/>
          </a:xfrm>
          <a:prstGeom prst="rect">
            <a:avLst/>
          </a:prstGeom>
          <a:noFill/>
          <a:ln/>
        </p:spPr>
        <p:txBody>
          <a:bodyPr wrap="square" lIns="0" tIns="0" rIns="0" bIns="0" rtlCol="0" anchor="ctr"/>
          <a:lstStyle/>
          <a:p>
            <a:pPr algn="ctr" indent="0" marL="0">
              <a:buNone/>
            </a:pPr>
            <a:r>
              <a:rPr lang="en-US" sz="1050" dirty="0">
                <a:solidFill>
                  <a:srgbClr val="F0A183"/>
                </a:solidFill>
                <a:latin typeface="Calibri" pitchFamily="34" charset="0"/>
                <a:ea typeface="Calibri" pitchFamily="34" charset="-122"/>
                <a:cs typeface="Calibri" pitchFamily="34" charset="-120"/>
              </a:rPr>
              <a:t>Respuesta 2 (agente)</a:t>
            </a:r>
            <a:endParaRPr lang="en-US" sz="1050" dirty="0"/>
          </a:p>
        </p:txBody>
      </p:sp>
      <p:sp>
        <p:nvSpPr>
          <p:cNvPr id="32" name="Shape 30"/>
          <p:cNvSpPr/>
          <p:nvPr/>
        </p:nvSpPr>
        <p:spPr>
          <a:xfrm>
            <a:off x="8107528" y="2322576"/>
            <a:ext cx="2926080" cy="365760"/>
          </a:xfrm>
          <a:prstGeom prst="roundRect">
            <a:avLst>
              <a:gd name="adj" fmla="val 15000"/>
            </a:avLst>
          </a:prstGeom>
          <a:solidFill>
            <a:srgbClr val="10403C"/>
          </a:solidFill>
          <a:ln w="12700">
            <a:solidFill>
              <a:srgbClr val="2E3A48"/>
            </a:solidFill>
            <a:prstDash val="solid"/>
          </a:ln>
        </p:spPr>
      </p:sp>
      <p:sp>
        <p:nvSpPr>
          <p:cNvPr id="33" name="Text 31"/>
          <p:cNvSpPr txBox="1"/>
          <p:nvPr/>
        </p:nvSpPr>
        <p:spPr>
          <a:xfrm>
            <a:off x="8107528" y="2322576"/>
            <a:ext cx="2926080" cy="365760"/>
          </a:xfrm>
          <a:prstGeom prst="rect">
            <a:avLst/>
          </a:prstGeom>
          <a:noFill/>
          <a:ln/>
        </p:spPr>
        <p:txBody>
          <a:bodyPr wrap="square" lIns="0" tIns="0" rIns="0" bIns="0" rtlCol="0" anchor="ctr"/>
          <a:lstStyle/>
          <a:p>
            <a:pPr algn="ctr" indent="0" marL="0">
              <a:buNone/>
            </a:pPr>
            <a:r>
              <a:rPr lang="en-US" sz="1050" dirty="0">
                <a:solidFill>
                  <a:srgbClr val="4FD1C5"/>
                </a:solidFill>
                <a:latin typeface="Calibri" pitchFamily="34" charset="0"/>
                <a:ea typeface="Calibri" pitchFamily="34" charset="-122"/>
                <a:cs typeface="Calibri" pitchFamily="34" charset="-120"/>
              </a:rPr>
              <a:t>Mensaje 3 (vos)</a:t>
            </a:r>
            <a:endParaRPr lang="en-US" sz="1050" dirty="0"/>
          </a:p>
        </p:txBody>
      </p:sp>
      <p:sp>
        <p:nvSpPr>
          <p:cNvPr id="34" name="Text 32"/>
          <p:cNvSpPr txBox="1"/>
          <p:nvPr/>
        </p:nvSpPr>
        <p:spPr>
          <a:xfrm>
            <a:off x="777240" y="1444752"/>
            <a:ext cx="10637215" cy="292608"/>
          </a:xfrm>
          <a:prstGeom prst="rect">
            <a:avLst/>
          </a:prstGeom>
          <a:noFill/>
          <a:ln/>
        </p:spPr>
        <p:txBody>
          <a:bodyPr wrap="square" lIns="0" tIns="0" rIns="0" bIns="0" rtlCol="0" anchor="ctr"/>
          <a:lstStyle/>
          <a:p>
            <a:pPr indent="0" marL="0">
              <a:buNone/>
            </a:pPr>
            <a:r>
              <a:rPr lang="en-US" sz="1500" dirty="0">
                <a:solidFill>
                  <a:srgbClr val="97A3B2"/>
                </a:solidFill>
                <a:latin typeface="Calibri" pitchFamily="34" charset="0"/>
                <a:ea typeface="Calibri" pitchFamily="34" charset="-122"/>
                <a:cs typeface="Calibri" pitchFamily="34" charset="-120"/>
              </a:rPr>
              <a:t>El agente no recuerda: el cliente le vuelve a mandar TODO en cada llamada. El historial no se acumula del lado del modelo, se retransmite.</a:t>
            </a:r>
            <a:endParaRPr lang="en-US" sz="1500" dirty="0"/>
          </a:p>
        </p:txBody>
      </p:sp>
      <p:sp>
        <p:nvSpPr>
          <p:cNvPr id="35" name="Shape 33"/>
          <p:cNvSpPr/>
          <p:nvPr/>
        </p:nvSpPr>
        <p:spPr>
          <a:xfrm>
            <a:off x="777240" y="5788152"/>
            <a:ext cx="10637215" cy="566928"/>
          </a:xfrm>
          <a:prstGeom prst="roundRect">
            <a:avLst>
              <a:gd name="adj" fmla="val 16129"/>
            </a:avLst>
          </a:prstGeom>
          <a:solidFill>
            <a:srgbClr val="1A212B"/>
          </a:solidFill>
          <a:ln w="12700">
            <a:solidFill>
              <a:srgbClr val="E8734A"/>
            </a:solidFill>
            <a:prstDash val="solid"/>
          </a:ln>
        </p:spPr>
      </p:sp>
      <p:sp>
        <p:nvSpPr>
          <p:cNvPr id="36" name="Text 34"/>
          <p:cNvSpPr txBox="1"/>
          <p:nvPr/>
        </p:nvSpPr>
        <p:spPr>
          <a:xfrm>
            <a:off x="1051560" y="5788152"/>
            <a:ext cx="10088575" cy="566928"/>
          </a:xfrm>
          <a:prstGeom prst="rect">
            <a:avLst/>
          </a:prstGeom>
          <a:noFill/>
          <a:ln/>
        </p:spPr>
        <p:txBody>
          <a:bodyPr wrap="square" lIns="0" tIns="0" rIns="0" bIns="0" rtlCol="0" anchor="ctr"/>
          <a:lstStyle/>
          <a:p>
            <a:pPr indent="0" marL="0">
              <a:buNone/>
            </a:pPr>
            <a:r>
              <a:rPr lang="en-US" sz="1400" b="1" dirty="0">
                <a:solidFill>
                  <a:srgbClr val="E9EDF2"/>
                </a:solidFill>
                <a:latin typeface="Calibri" pitchFamily="34" charset="0"/>
                <a:ea typeface="Calibri" pitchFamily="34" charset="-122"/>
                <a:cs typeface="Calibri" pitchFamily="34" charset="-120"/>
              </a:rPr>
              <a:t>Consecuencia directa: el costo y la latencia de cada turno crecen con el largo de la conversación, no con la dificultad de la pregunta.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PRESUPUESTO</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La ventana de contexto es un presupuesto fijo</a:t>
            </a:r>
            <a:endParaRPr lang="en-US" sz="3200" dirty="0"/>
          </a:p>
        </p:txBody>
      </p:sp>
      <p:sp>
        <p:nvSpPr>
          <p:cNvPr id="4" name="Text 2"/>
          <p:cNvSpPr txBox="1"/>
          <p:nvPr/>
        </p:nvSpPr>
        <p:spPr>
          <a:xfrm>
            <a:off x="777240" y="1444752"/>
            <a:ext cx="10637215" cy="292608"/>
          </a:xfrm>
          <a:prstGeom prst="rect">
            <a:avLst/>
          </a:prstGeom>
          <a:noFill/>
          <a:ln/>
        </p:spPr>
        <p:txBody>
          <a:bodyPr wrap="square" lIns="0" tIns="0" rIns="0" bIns="0" rtlCol="0" anchor="ctr"/>
          <a:lstStyle/>
          <a:p>
            <a:pPr indent="0" marL="0">
              <a:buNone/>
            </a:pPr>
            <a:r>
              <a:rPr lang="en-US" sz="1500" dirty="0">
                <a:solidFill>
                  <a:srgbClr val="97A3B2"/>
                </a:solidFill>
                <a:latin typeface="Calibri" pitchFamily="34" charset="0"/>
                <a:ea typeface="Calibri" pitchFamily="34" charset="-122"/>
                <a:cs typeface="Calibri" pitchFamily="34" charset="-120"/>
              </a:rPr>
              <a:t>Todo lo que el agente necesita para responder compite por el mismo espacio. Lo que no entra, se pierde.</a:t>
            </a:r>
            <a:endParaRPr lang="en-US" sz="1500" dirty="0"/>
          </a:p>
        </p:txBody>
      </p:sp>
      <p:sp>
        <p:nvSpPr>
          <p:cNvPr id="5" name="Shape 3"/>
          <p:cNvSpPr/>
          <p:nvPr/>
        </p:nvSpPr>
        <p:spPr>
          <a:xfrm>
            <a:off x="777240" y="2148840"/>
            <a:ext cx="1382838" cy="914400"/>
          </a:xfrm>
          <a:prstGeom prst="rect">
            <a:avLst/>
          </a:prstGeom>
          <a:solidFill>
            <a:srgbClr val="3A4553"/>
          </a:solidFill>
          <a:ln w="19050">
            <a:solidFill>
              <a:srgbClr val="0E1117"/>
            </a:solidFill>
            <a:prstDash val="solid"/>
          </a:ln>
        </p:spPr>
      </p:sp>
      <p:sp>
        <p:nvSpPr>
          <p:cNvPr id="6" name="Text 4"/>
          <p:cNvSpPr txBox="1"/>
          <p:nvPr/>
        </p:nvSpPr>
        <p:spPr>
          <a:xfrm>
            <a:off x="777240" y="2148840"/>
            <a:ext cx="1382838" cy="914400"/>
          </a:xfrm>
          <a:prstGeom prst="rect">
            <a:avLst/>
          </a:prstGeom>
          <a:noFill/>
          <a:ln/>
        </p:spPr>
        <p:txBody>
          <a:bodyPr wrap="square" lIns="0" tIns="0" rIns="0" bIns="0" rtlCol="0" anchor="ctr"/>
          <a:lstStyle/>
          <a:p>
            <a:pPr algn="ctr" indent="0" marL="0">
              <a:buNone/>
            </a:pPr>
            <a:r>
              <a:rPr lang="en-US" sz="1300" b="1" dirty="0">
                <a:solidFill>
                  <a:srgbClr val="E9EDF2"/>
                </a:solidFill>
                <a:latin typeface="Arial" pitchFamily="34" charset="0"/>
                <a:ea typeface="Arial" pitchFamily="34" charset="-122"/>
                <a:cs typeface="Arial" pitchFamily="34" charset="-120"/>
              </a:rPr>
              <a:t>13%</a:t>
            </a:r>
            <a:endParaRPr lang="en-US" sz="1300" dirty="0"/>
          </a:p>
        </p:txBody>
      </p:sp>
      <p:sp>
        <p:nvSpPr>
          <p:cNvPr id="7" name="Shape 5"/>
          <p:cNvSpPr/>
          <p:nvPr/>
        </p:nvSpPr>
        <p:spPr>
          <a:xfrm>
            <a:off x="2160078" y="2148840"/>
            <a:ext cx="744605" cy="914400"/>
          </a:xfrm>
          <a:prstGeom prst="rect">
            <a:avLst/>
          </a:prstGeom>
          <a:solidFill>
            <a:srgbClr val="4A5566"/>
          </a:solidFill>
          <a:ln w="19050">
            <a:solidFill>
              <a:srgbClr val="0E1117"/>
            </a:solidFill>
            <a:prstDash val="solid"/>
          </a:ln>
        </p:spPr>
      </p:sp>
      <p:sp>
        <p:nvSpPr>
          <p:cNvPr id="8" name="Text 6"/>
          <p:cNvSpPr txBox="1"/>
          <p:nvPr/>
        </p:nvSpPr>
        <p:spPr>
          <a:xfrm>
            <a:off x="2160078" y="2148840"/>
            <a:ext cx="744605" cy="914400"/>
          </a:xfrm>
          <a:prstGeom prst="rect">
            <a:avLst/>
          </a:prstGeom>
          <a:noFill/>
          <a:ln/>
        </p:spPr>
        <p:txBody>
          <a:bodyPr wrap="square" lIns="0" tIns="0" rIns="0" bIns="0" rtlCol="0" anchor="ctr"/>
          <a:lstStyle/>
          <a:p>
            <a:pPr algn="ctr" indent="0" marL="0">
              <a:buNone/>
            </a:pPr>
            <a:r>
              <a:rPr lang="en-US" sz="1300" b="1" dirty="0">
                <a:solidFill>
                  <a:srgbClr val="E9EDF2"/>
                </a:solidFill>
                <a:latin typeface="Arial" pitchFamily="34" charset="0"/>
                <a:ea typeface="Arial" pitchFamily="34" charset="-122"/>
                <a:cs typeface="Arial" pitchFamily="34" charset="-120"/>
              </a:rPr>
              <a:t>7%</a:t>
            </a:r>
            <a:endParaRPr lang="en-US" sz="1300" dirty="0"/>
          </a:p>
        </p:txBody>
      </p:sp>
      <p:sp>
        <p:nvSpPr>
          <p:cNvPr id="9" name="Shape 7"/>
          <p:cNvSpPr/>
          <p:nvPr/>
        </p:nvSpPr>
        <p:spPr>
          <a:xfrm>
            <a:off x="2904683" y="2148840"/>
            <a:ext cx="2127443" cy="914400"/>
          </a:xfrm>
          <a:prstGeom prst="rect">
            <a:avLst/>
          </a:prstGeom>
          <a:solidFill>
            <a:srgbClr val="12524C"/>
          </a:solidFill>
          <a:ln w="19050">
            <a:solidFill>
              <a:srgbClr val="0E1117"/>
            </a:solidFill>
            <a:prstDash val="solid"/>
          </a:ln>
        </p:spPr>
      </p:sp>
      <p:sp>
        <p:nvSpPr>
          <p:cNvPr id="10" name="Text 8"/>
          <p:cNvSpPr txBox="1"/>
          <p:nvPr/>
        </p:nvSpPr>
        <p:spPr>
          <a:xfrm>
            <a:off x="2904683" y="2148840"/>
            <a:ext cx="2127443" cy="914400"/>
          </a:xfrm>
          <a:prstGeom prst="rect">
            <a:avLst/>
          </a:prstGeom>
          <a:noFill/>
          <a:ln/>
        </p:spPr>
        <p:txBody>
          <a:bodyPr wrap="square" lIns="0" tIns="0" rIns="0" bIns="0" rtlCol="0" anchor="ctr"/>
          <a:lstStyle/>
          <a:p>
            <a:pPr algn="ctr" indent="0" marL="0">
              <a:buNone/>
            </a:pPr>
            <a:r>
              <a:rPr lang="en-US" sz="1300" b="1" dirty="0">
                <a:solidFill>
                  <a:srgbClr val="E9EDF2"/>
                </a:solidFill>
                <a:latin typeface="Arial" pitchFamily="34" charset="0"/>
                <a:ea typeface="Arial" pitchFamily="34" charset="-122"/>
                <a:cs typeface="Arial" pitchFamily="34" charset="-120"/>
              </a:rPr>
              <a:t>20%</a:t>
            </a:r>
            <a:endParaRPr lang="en-US" sz="1300" dirty="0"/>
          </a:p>
        </p:txBody>
      </p:sp>
      <p:sp>
        <p:nvSpPr>
          <p:cNvPr id="11" name="Shape 9"/>
          <p:cNvSpPr/>
          <p:nvPr/>
        </p:nvSpPr>
        <p:spPr>
          <a:xfrm>
            <a:off x="5032126" y="2148840"/>
            <a:ext cx="3403909" cy="914400"/>
          </a:xfrm>
          <a:prstGeom prst="rect">
            <a:avLst/>
          </a:prstGeom>
          <a:solidFill>
            <a:srgbClr val="5C3A28"/>
          </a:solidFill>
          <a:ln w="19050">
            <a:solidFill>
              <a:srgbClr val="0E1117"/>
            </a:solidFill>
            <a:prstDash val="solid"/>
          </a:ln>
        </p:spPr>
      </p:sp>
      <p:sp>
        <p:nvSpPr>
          <p:cNvPr id="12" name="Text 10"/>
          <p:cNvSpPr txBox="1"/>
          <p:nvPr/>
        </p:nvSpPr>
        <p:spPr>
          <a:xfrm>
            <a:off x="5032126" y="2148840"/>
            <a:ext cx="3403909" cy="914400"/>
          </a:xfrm>
          <a:prstGeom prst="rect">
            <a:avLst/>
          </a:prstGeom>
          <a:noFill/>
          <a:ln/>
        </p:spPr>
        <p:txBody>
          <a:bodyPr wrap="square" lIns="0" tIns="0" rIns="0" bIns="0" rtlCol="0" anchor="ctr"/>
          <a:lstStyle/>
          <a:p>
            <a:pPr algn="ctr" indent="0" marL="0">
              <a:buNone/>
            </a:pPr>
            <a:r>
              <a:rPr lang="en-US" sz="1300" b="1" dirty="0">
                <a:solidFill>
                  <a:srgbClr val="E9EDF2"/>
                </a:solidFill>
                <a:latin typeface="Arial" pitchFamily="34" charset="0"/>
                <a:ea typeface="Arial" pitchFamily="34" charset="-122"/>
                <a:cs typeface="Arial" pitchFamily="34" charset="-120"/>
              </a:rPr>
              <a:t>32%</a:t>
            </a:r>
            <a:endParaRPr lang="en-US" sz="1300" dirty="0"/>
          </a:p>
        </p:txBody>
      </p:sp>
      <p:sp>
        <p:nvSpPr>
          <p:cNvPr id="13" name="Shape 11"/>
          <p:cNvSpPr/>
          <p:nvPr/>
        </p:nvSpPr>
        <p:spPr>
          <a:xfrm>
            <a:off x="8436035" y="2148840"/>
            <a:ext cx="1701954" cy="914400"/>
          </a:xfrm>
          <a:prstGeom prst="rect">
            <a:avLst/>
          </a:prstGeom>
          <a:solidFill>
            <a:srgbClr val="7A4A32"/>
          </a:solidFill>
          <a:ln w="19050">
            <a:solidFill>
              <a:srgbClr val="0E1117"/>
            </a:solidFill>
            <a:prstDash val="solid"/>
          </a:ln>
        </p:spPr>
      </p:sp>
      <p:sp>
        <p:nvSpPr>
          <p:cNvPr id="14" name="Text 12"/>
          <p:cNvSpPr txBox="1"/>
          <p:nvPr/>
        </p:nvSpPr>
        <p:spPr>
          <a:xfrm>
            <a:off x="8436035" y="2148840"/>
            <a:ext cx="1701954" cy="914400"/>
          </a:xfrm>
          <a:prstGeom prst="rect">
            <a:avLst/>
          </a:prstGeom>
          <a:noFill/>
          <a:ln/>
        </p:spPr>
        <p:txBody>
          <a:bodyPr wrap="square" lIns="0" tIns="0" rIns="0" bIns="0" rtlCol="0" anchor="ctr"/>
          <a:lstStyle/>
          <a:p>
            <a:pPr algn="ctr" indent="0" marL="0">
              <a:buNone/>
            </a:pPr>
            <a:r>
              <a:rPr lang="en-US" sz="1300" b="1" dirty="0">
                <a:solidFill>
                  <a:srgbClr val="E9EDF2"/>
                </a:solidFill>
                <a:latin typeface="Arial" pitchFamily="34" charset="0"/>
                <a:ea typeface="Arial" pitchFamily="34" charset="-122"/>
                <a:cs typeface="Arial" pitchFamily="34" charset="-120"/>
              </a:rPr>
              <a:t>16%</a:t>
            </a:r>
            <a:endParaRPr lang="en-US" sz="1300" dirty="0"/>
          </a:p>
        </p:txBody>
      </p:sp>
      <p:sp>
        <p:nvSpPr>
          <p:cNvPr id="15" name="Shape 13"/>
          <p:cNvSpPr/>
          <p:nvPr/>
        </p:nvSpPr>
        <p:spPr>
          <a:xfrm>
            <a:off x="10137989" y="2148840"/>
            <a:ext cx="1276466" cy="914400"/>
          </a:xfrm>
          <a:prstGeom prst="rect">
            <a:avLst/>
          </a:prstGeom>
          <a:solidFill>
            <a:srgbClr val="232C38"/>
          </a:solidFill>
          <a:ln w="19050">
            <a:solidFill>
              <a:srgbClr val="0E1117"/>
            </a:solidFill>
            <a:prstDash val="solid"/>
          </a:ln>
        </p:spPr>
      </p:sp>
      <p:sp>
        <p:nvSpPr>
          <p:cNvPr id="16" name="Text 14"/>
          <p:cNvSpPr txBox="1"/>
          <p:nvPr/>
        </p:nvSpPr>
        <p:spPr>
          <a:xfrm>
            <a:off x="10137989" y="2148840"/>
            <a:ext cx="1276466" cy="914400"/>
          </a:xfrm>
          <a:prstGeom prst="rect">
            <a:avLst/>
          </a:prstGeom>
          <a:noFill/>
          <a:ln/>
        </p:spPr>
        <p:txBody>
          <a:bodyPr wrap="square" lIns="0" tIns="0" rIns="0" bIns="0" rtlCol="0" anchor="ctr"/>
          <a:lstStyle/>
          <a:p>
            <a:pPr algn="ctr" indent="0" marL="0">
              <a:buNone/>
            </a:pPr>
            <a:r>
              <a:rPr lang="en-US" sz="1300" b="1" dirty="0">
                <a:solidFill>
                  <a:srgbClr val="E9EDF2"/>
                </a:solidFill>
                <a:latin typeface="Arial" pitchFamily="34" charset="0"/>
                <a:ea typeface="Arial" pitchFamily="34" charset="-122"/>
                <a:cs typeface="Arial" pitchFamily="34" charset="-120"/>
              </a:rPr>
              <a:t>12%</a:t>
            </a:r>
            <a:endParaRPr lang="en-US" sz="1300" dirty="0"/>
          </a:p>
        </p:txBody>
      </p:sp>
      <p:sp>
        <p:nvSpPr>
          <p:cNvPr id="17" name="Text 15"/>
          <p:cNvSpPr txBox="1"/>
          <p:nvPr/>
        </p:nvSpPr>
        <p:spPr>
          <a:xfrm>
            <a:off x="777240" y="3172968"/>
            <a:ext cx="10637215" cy="237744"/>
          </a:xfrm>
          <a:prstGeom prst="rect">
            <a:avLst/>
          </a:prstGeom>
          <a:noFill/>
          <a:ln/>
        </p:spPr>
        <p:txBody>
          <a:bodyPr wrap="square" lIns="0" tIns="0" rIns="0" bIns="0" rtlCol="0" anchor="ctr"/>
          <a:lstStyle/>
          <a:p>
            <a:pPr indent="0" marL="0">
              <a:buNone/>
            </a:pPr>
            <a:r>
              <a:rPr lang="en-US" sz="1050" i="1" dirty="0">
                <a:solidFill>
                  <a:srgbClr val="97A3B2"/>
                </a:solidFill>
                <a:latin typeface="Calibri" pitchFamily="34" charset="0"/>
                <a:ea typeface="Calibri" pitchFamily="34" charset="-122"/>
                <a:cs typeface="Calibri" pitchFamily="34" charset="-120"/>
              </a:rPr>
              <a:t>Proporciones ilustrativas de una sesión de trabajo típica — no una medición.</a:t>
            </a:r>
            <a:endParaRPr lang="en-US" sz="1050" dirty="0"/>
          </a:p>
        </p:txBody>
      </p:sp>
      <p:sp>
        <p:nvSpPr>
          <p:cNvPr id="18" name="Shape 16"/>
          <p:cNvSpPr/>
          <p:nvPr/>
        </p:nvSpPr>
        <p:spPr>
          <a:xfrm>
            <a:off x="777240" y="3703320"/>
            <a:ext cx="3362858" cy="1143000"/>
          </a:xfrm>
          <a:prstGeom prst="roundRect">
            <a:avLst>
              <a:gd name="adj" fmla="val 8000"/>
            </a:avLst>
          </a:prstGeom>
          <a:solidFill>
            <a:srgbClr val="1A212B"/>
          </a:solidFill>
          <a:ln w="12700">
            <a:solidFill>
              <a:srgbClr val="2E3A48"/>
            </a:solidFill>
            <a:prstDash val="solid"/>
          </a:ln>
        </p:spPr>
      </p:sp>
      <p:sp>
        <p:nvSpPr>
          <p:cNvPr id="19" name="Shape 17"/>
          <p:cNvSpPr/>
          <p:nvPr/>
        </p:nvSpPr>
        <p:spPr>
          <a:xfrm>
            <a:off x="1033272" y="3995928"/>
            <a:ext cx="182880" cy="182880"/>
          </a:xfrm>
          <a:prstGeom prst="roundRect">
            <a:avLst>
              <a:gd name="adj" fmla="val 25000"/>
            </a:avLst>
          </a:prstGeom>
          <a:solidFill>
            <a:srgbClr val="3A4553"/>
          </a:solidFill>
          <a:ln w="12700">
            <a:solidFill>
              <a:srgbClr val="3A4553"/>
            </a:solidFill>
            <a:prstDash val="solid"/>
          </a:ln>
        </p:spPr>
      </p:sp>
      <p:sp>
        <p:nvSpPr>
          <p:cNvPr id="20" name="Text 18"/>
          <p:cNvSpPr txBox="1"/>
          <p:nvPr/>
        </p:nvSpPr>
        <p:spPr>
          <a:xfrm>
            <a:off x="1325880" y="3941064"/>
            <a:ext cx="2539898" cy="292608"/>
          </a:xfrm>
          <a:prstGeom prst="rect">
            <a:avLst/>
          </a:prstGeom>
          <a:noFill/>
          <a:ln/>
        </p:spPr>
        <p:txBody>
          <a:bodyPr wrap="square" lIns="0" tIns="0" rIns="0" bIns="0" rtlCol="0" anchor="ctr"/>
          <a:lstStyle/>
          <a:p>
            <a:pPr indent="0" marL="0">
              <a:buNone/>
            </a:pPr>
            <a:r>
              <a:rPr lang="en-US" sz="1350" b="1" dirty="0">
                <a:solidFill>
                  <a:srgbClr val="E9EDF2"/>
                </a:solidFill>
                <a:latin typeface="Arial" pitchFamily="34" charset="0"/>
                <a:ea typeface="Arial" pitchFamily="34" charset="-122"/>
                <a:cs typeface="Arial" pitchFamily="34" charset="-120"/>
              </a:rPr>
              <a:t>System prompt + herramientas</a:t>
            </a:r>
            <a:endParaRPr lang="en-US" sz="1350" dirty="0"/>
          </a:p>
        </p:txBody>
      </p:sp>
      <p:sp>
        <p:nvSpPr>
          <p:cNvPr id="21" name="Text 19"/>
          <p:cNvSpPr txBox="1"/>
          <p:nvPr/>
        </p:nvSpPr>
        <p:spPr>
          <a:xfrm>
            <a:off x="1033272" y="4361688"/>
            <a:ext cx="2850794" cy="402336"/>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Fijo. Se paga en cada turno.</a:t>
            </a:r>
            <a:endParaRPr lang="en-US" sz="1200" dirty="0"/>
          </a:p>
        </p:txBody>
      </p:sp>
      <p:sp>
        <p:nvSpPr>
          <p:cNvPr id="22" name="Shape 20"/>
          <p:cNvSpPr/>
          <p:nvPr/>
        </p:nvSpPr>
        <p:spPr>
          <a:xfrm>
            <a:off x="4414418" y="3703320"/>
            <a:ext cx="3362858" cy="1143000"/>
          </a:xfrm>
          <a:prstGeom prst="roundRect">
            <a:avLst>
              <a:gd name="adj" fmla="val 8000"/>
            </a:avLst>
          </a:prstGeom>
          <a:solidFill>
            <a:srgbClr val="1A212B"/>
          </a:solidFill>
          <a:ln w="12700">
            <a:solidFill>
              <a:srgbClr val="2E3A48"/>
            </a:solidFill>
            <a:prstDash val="solid"/>
          </a:ln>
        </p:spPr>
      </p:sp>
      <p:sp>
        <p:nvSpPr>
          <p:cNvPr id="23" name="Shape 21"/>
          <p:cNvSpPr/>
          <p:nvPr/>
        </p:nvSpPr>
        <p:spPr>
          <a:xfrm>
            <a:off x="4670450" y="3995928"/>
            <a:ext cx="182880" cy="182880"/>
          </a:xfrm>
          <a:prstGeom prst="roundRect">
            <a:avLst>
              <a:gd name="adj" fmla="val 25000"/>
            </a:avLst>
          </a:prstGeom>
          <a:solidFill>
            <a:srgbClr val="4A5566"/>
          </a:solidFill>
          <a:ln w="12700">
            <a:solidFill>
              <a:srgbClr val="4A5566"/>
            </a:solidFill>
            <a:prstDash val="solid"/>
          </a:ln>
        </p:spPr>
      </p:sp>
      <p:sp>
        <p:nvSpPr>
          <p:cNvPr id="24" name="Text 22"/>
          <p:cNvSpPr txBox="1"/>
          <p:nvPr/>
        </p:nvSpPr>
        <p:spPr>
          <a:xfrm>
            <a:off x="4963058" y="3941064"/>
            <a:ext cx="2539898" cy="292608"/>
          </a:xfrm>
          <a:prstGeom prst="rect">
            <a:avLst/>
          </a:prstGeom>
          <a:noFill/>
          <a:ln/>
        </p:spPr>
        <p:txBody>
          <a:bodyPr wrap="square" lIns="0" tIns="0" rIns="0" bIns="0" rtlCol="0" anchor="ctr"/>
          <a:lstStyle/>
          <a:p>
            <a:pPr indent="0" marL="0">
              <a:buNone/>
            </a:pPr>
            <a:r>
              <a:rPr lang="en-US" sz="1350" b="1" dirty="0">
                <a:solidFill>
                  <a:srgbClr val="E9EDF2"/>
                </a:solidFill>
                <a:latin typeface="Arial" pitchFamily="34" charset="0"/>
                <a:ea typeface="Arial" pitchFamily="34" charset="-122"/>
                <a:cs typeface="Arial" pitchFamily="34" charset="-120"/>
              </a:rPr>
              <a:t>Reglas del proyecto</a:t>
            </a:r>
            <a:endParaRPr lang="en-US" sz="1350" dirty="0"/>
          </a:p>
        </p:txBody>
      </p:sp>
      <p:sp>
        <p:nvSpPr>
          <p:cNvPr id="25" name="Text 23"/>
          <p:cNvSpPr txBox="1"/>
          <p:nvPr/>
        </p:nvSpPr>
        <p:spPr>
          <a:xfrm>
            <a:off x="4670450" y="4361688"/>
            <a:ext cx="2850794" cy="402336"/>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El CLAUDE.md se paga en cada turno.</a:t>
            </a:r>
            <a:endParaRPr lang="en-US" sz="1200" dirty="0"/>
          </a:p>
        </p:txBody>
      </p:sp>
      <p:sp>
        <p:nvSpPr>
          <p:cNvPr id="26" name="Shape 24"/>
          <p:cNvSpPr/>
          <p:nvPr/>
        </p:nvSpPr>
        <p:spPr>
          <a:xfrm>
            <a:off x="8051597" y="3703320"/>
            <a:ext cx="3362858" cy="1143000"/>
          </a:xfrm>
          <a:prstGeom prst="roundRect">
            <a:avLst>
              <a:gd name="adj" fmla="val 8000"/>
            </a:avLst>
          </a:prstGeom>
          <a:solidFill>
            <a:srgbClr val="1A212B"/>
          </a:solidFill>
          <a:ln w="12700">
            <a:solidFill>
              <a:srgbClr val="2E3A48"/>
            </a:solidFill>
            <a:prstDash val="solid"/>
          </a:ln>
        </p:spPr>
      </p:sp>
      <p:sp>
        <p:nvSpPr>
          <p:cNvPr id="27" name="Shape 25"/>
          <p:cNvSpPr/>
          <p:nvPr/>
        </p:nvSpPr>
        <p:spPr>
          <a:xfrm>
            <a:off x="8307629" y="3995928"/>
            <a:ext cx="182880" cy="182880"/>
          </a:xfrm>
          <a:prstGeom prst="roundRect">
            <a:avLst>
              <a:gd name="adj" fmla="val 25000"/>
            </a:avLst>
          </a:prstGeom>
          <a:solidFill>
            <a:srgbClr val="12524C"/>
          </a:solidFill>
          <a:ln w="12700">
            <a:solidFill>
              <a:srgbClr val="12524C"/>
            </a:solidFill>
            <a:prstDash val="solid"/>
          </a:ln>
        </p:spPr>
      </p:sp>
      <p:sp>
        <p:nvSpPr>
          <p:cNvPr id="28" name="Text 26"/>
          <p:cNvSpPr txBox="1"/>
          <p:nvPr/>
        </p:nvSpPr>
        <p:spPr>
          <a:xfrm>
            <a:off x="8600237" y="3941064"/>
            <a:ext cx="2539898" cy="292608"/>
          </a:xfrm>
          <a:prstGeom prst="rect">
            <a:avLst/>
          </a:prstGeom>
          <a:noFill/>
          <a:ln/>
        </p:spPr>
        <p:txBody>
          <a:bodyPr wrap="square" lIns="0" tIns="0" rIns="0" bIns="0" rtlCol="0" anchor="ctr"/>
          <a:lstStyle/>
          <a:p>
            <a:pPr indent="0" marL="0">
              <a:buNone/>
            </a:pPr>
            <a:r>
              <a:rPr lang="en-US" sz="1350" b="1" dirty="0">
                <a:solidFill>
                  <a:srgbClr val="E9EDF2"/>
                </a:solidFill>
                <a:latin typeface="Arial" pitchFamily="34" charset="0"/>
                <a:ea typeface="Arial" pitchFamily="34" charset="-122"/>
                <a:cs typeface="Arial" pitchFamily="34" charset="-120"/>
              </a:rPr>
              <a:t>Historial de la conversación</a:t>
            </a:r>
            <a:endParaRPr lang="en-US" sz="1350" dirty="0"/>
          </a:p>
        </p:txBody>
      </p:sp>
      <p:sp>
        <p:nvSpPr>
          <p:cNvPr id="29" name="Text 27"/>
          <p:cNvSpPr txBox="1"/>
          <p:nvPr/>
        </p:nvSpPr>
        <p:spPr>
          <a:xfrm>
            <a:off x="8307629" y="4361688"/>
            <a:ext cx="2850794" cy="402336"/>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Crece turno a turno.</a:t>
            </a:r>
            <a:endParaRPr lang="en-US" sz="1200" dirty="0"/>
          </a:p>
        </p:txBody>
      </p:sp>
      <p:sp>
        <p:nvSpPr>
          <p:cNvPr id="30" name="Shape 28"/>
          <p:cNvSpPr/>
          <p:nvPr/>
        </p:nvSpPr>
        <p:spPr>
          <a:xfrm>
            <a:off x="777240" y="5029200"/>
            <a:ext cx="3362858" cy="1143000"/>
          </a:xfrm>
          <a:prstGeom prst="roundRect">
            <a:avLst>
              <a:gd name="adj" fmla="val 8000"/>
            </a:avLst>
          </a:prstGeom>
          <a:solidFill>
            <a:srgbClr val="1A212B"/>
          </a:solidFill>
          <a:ln w="12700">
            <a:solidFill>
              <a:srgbClr val="2E3A48"/>
            </a:solidFill>
            <a:prstDash val="solid"/>
          </a:ln>
        </p:spPr>
      </p:sp>
      <p:sp>
        <p:nvSpPr>
          <p:cNvPr id="31" name="Shape 29"/>
          <p:cNvSpPr/>
          <p:nvPr/>
        </p:nvSpPr>
        <p:spPr>
          <a:xfrm>
            <a:off x="1033272" y="5321808"/>
            <a:ext cx="182880" cy="182880"/>
          </a:xfrm>
          <a:prstGeom prst="roundRect">
            <a:avLst>
              <a:gd name="adj" fmla="val 25000"/>
            </a:avLst>
          </a:prstGeom>
          <a:solidFill>
            <a:srgbClr val="5C3A28"/>
          </a:solidFill>
          <a:ln w="12700">
            <a:solidFill>
              <a:srgbClr val="5C3A28"/>
            </a:solidFill>
            <a:prstDash val="solid"/>
          </a:ln>
        </p:spPr>
      </p:sp>
      <p:sp>
        <p:nvSpPr>
          <p:cNvPr id="32" name="Text 30"/>
          <p:cNvSpPr txBox="1"/>
          <p:nvPr/>
        </p:nvSpPr>
        <p:spPr>
          <a:xfrm>
            <a:off x="1325880" y="5266944"/>
            <a:ext cx="2539898" cy="292608"/>
          </a:xfrm>
          <a:prstGeom prst="rect">
            <a:avLst/>
          </a:prstGeom>
          <a:noFill/>
          <a:ln/>
        </p:spPr>
        <p:txBody>
          <a:bodyPr wrap="square" lIns="0" tIns="0" rIns="0" bIns="0" rtlCol="0" anchor="ctr"/>
          <a:lstStyle/>
          <a:p>
            <a:pPr indent="0" marL="0">
              <a:buNone/>
            </a:pPr>
            <a:r>
              <a:rPr lang="en-US" sz="1350" b="1" dirty="0">
                <a:solidFill>
                  <a:srgbClr val="E9EDF2"/>
                </a:solidFill>
                <a:latin typeface="Arial" pitchFamily="34" charset="0"/>
                <a:ea typeface="Arial" pitchFamily="34" charset="-122"/>
                <a:cs typeface="Arial" pitchFamily="34" charset="-120"/>
              </a:rPr>
              <a:t>Resultados de herramientas</a:t>
            </a:r>
            <a:endParaRPr lang="en-US" sz="1350" dirty="0"/>
          </a:p>
        </p:txBody>
      </p:sp>
      <p:sp>
        <p:nvSpPr>
          <p:cNvPr id="33" name="Text 31"/>
          <p:cNvSpPr txBox="1"/>
          <p:nvPr/>
        </p:nvSpPr>
        <p:spPr>
          <a:xfrm>
            <a:off x="1033272" y="5687568"/>
            <a:ext cx="2850794" cy="402336"/>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Lo que más crece y menos se nota.</a:t>
            </a:r>
            <a:endParaRPr lang="en-US" sz="1200" dirty="0"/>
          </a:p>
        </p:txBody>
      </p:sp>
      <p:sp>
        <p:nvSpPr>
          <p:cNvPr id="34" name="Shape 32"/>
          <p:cNvSpPr/>
          <p:nvPr/>
        </p:nvSpPr>
        <p:spPr>
          <a:xfrm>
            <a:off x="4414418" y="5029200"/>
            <a:ext cx="3362858" cy="1143000"/>
          </a:xfrm>
          <a:prstGeom prst="roundRect">
            <a:avLst>
              <a:gd name="adj" fmla="val 8000"/>
            </a:avLst>
          </a:prstGeom>
          <a:solidFill>
            <a:srgbClr val="1A212B"/>
          </a:solidFill>
          <a:ln w="12700">
            <a:solidFill>
              <a:srgbClr val="2E3A48"/>
            </a:solidFill>
            <a:prstDash val="solid"/>
          </a:ln>
        </p:spPr>
      </p:sp>
      <p:sp>
        <p:nvSpPr>
          <p:cNvPr id="35" name="Shape 33"/>
          <p:cNvSpPr/>
          <p:nvPr/>
        </p:nvSpPr>
        <p:spPr>
          <a:xfrm>
            <a:off x="4670450" y="5321808"/>
            <a:ext cx="182880" cy="182880"/>
          </a:xfrm>
          <a:prstGeom prst="roundRect">
            <a:avLst>
              <a:gd name="adj" fmla="val 25000"/>
            </a:avLst>
          </a:prstGeom>
          <a:solidFill>
            <a:srgbClr val="7A4A32"/>
          </a:solidFill>
          <a:ln w="12700">
            <a:solidFill>
              <a:srgbClr val="7A4A32"/>
            </a:solidFill>
            <a:prstDash val="solid"/>
          </a:ln>
        </p:spPr>
      </p:sp>
      <p:sp>
        <p:nvSpPr>
          <p:cNvPr id="36" name="Text 34"/>
          <p:cNvSpPr txBox="1"/>
          <p:nvPr/>
        </p:nvSpPr>
        <p:spPr>
          <a:xfrm>
            <a:off x="4963058" y="5266944"/>
            <a:ext cx="2539898" cy="292608"/>
          </a:xfrm>
          <a:prstGeom prst="rect">
            <a:avLst/>
          </a:prstGeom>
          <a:noFill/>
          <a:ln/>
        </p:spPr>
        <p:txBody>
          <a:bodyPr wrap="square" lIns="0" tIns="0" rIns="0" bIns="0" rtlCol="0" anchor="ctr"/>
          <a:lstStyle/>
          <a:p>
            <a:pPr indent="0" marL="0">
              <a:buNone/>
            </a:pPr>
            <a:r>
              <a:rPr lang="en-US" sz="1350" b="1" dirty="0">
                <a:solidFill>
                  <a:srgbClr val="E9EDF2"/>
                </a:solidFill>
                <a:latin typeface="Arial" pitchFamily="34" charset="0"/>
                <a:ea typeface="Arial" pitchFamily="34" charset="-122"/>
                <a:cs typeface="Arial" pitchFamily="34" charset="-120"/>
              </a:rPr>
              <a:t>Archivos leídos en la sesión</a:t>
            </a:r>
            <a:endParaRPr lang="en-US" sz="1350" dirty="0"/>
          </a:p>
        </p:txBody>
      </p:sp>
      <p:sp>
        <p:nvSpPr>
          <p:cNvPr id="37" name="Text 35"/>
          <p:cNvSpPr txBox="1"/>
          <p:nvPr/>
        </p:nvSpPr>
        <p:spPr>
          <a:xfrm>
            <a:off x="4670450" y="5687568"/>
            <a:ext cx="2850794" cy="402336"/>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Un archivo grande se come todo.</a:t>
            </a:r>
            <a:endParaRPr lang="en-US" sz="1200" dirty="0"/>
          </a:p>
        </p:txBody>
      </p:sp>
      <p:sp>
        <p:nvSpPr>
          <p:cNvPr id="38" name="Shape 36"/>
          <p:cNvSpPr/>
          <p:nvPr/>
        </p:nvSpPr>
        <p:spPr>
          <a:xfrm>
            <a:off x="8051597" y="5029200"/>
            <a:ext cx="3362858" cy="1143000"/>
          </a:xfrm>
          <a:prstGeom prst="roundRect">
            <a:avLst>
              <a:gd name="adj" fmla="val 8000"/>
            </a:avLst>
          </a:prstGeom>
          <a:solidFill>
            <a:srgbClr val="1A212B"/>
          </a:solidFill>
          <a:ln w="12700">
            <a:solidFill>
              <a:srgbClr val="2E3A48"/>
            </a:solidFill>
            <a:prstDash val="solid"/>
          </a:ln>
        </p:spPr>
      </p:sp>
      <p:sp>
        <p:nvSpPr>
          <p:cNvPr id="39" name="Shape 37"/>
          <p:cNvSpPr/>
          <p:nvPr/>
        </p:nvSpPr>
        <p:spPr>
          <a:xfrm>
            <a:off x="8307629" y="5321808"/>
            <a:ext cx="182880" cy="182880"/>
          </a:xfrm>
          <a:prstGeom prst="roundRect">
            <a:avLst>
              <a:gd name="adj" fmla="val 25000"/>
            </a:avLst>
          </a:prstGeom>
          <a:solidFill>
            <a:srgbClr val="232C38"/>
          </a:solidFill>
          <a:ln w="12700">
            <a:solidFill>
              <a:srgbClr val="232C38"/>
            </a:solidFill>
            <a:prstDash val="solid"/>
          </a:ln>
        </p:spPr>
      </p:sp>
      <p:sp>
        <p:nvSpPr>
          <p:cNvPr id="40" name="Text 38"/>
          <p:cNvSpPr txBox="1"/>
          <p:nvPr/>
        </p:nvSpPr>
        <p:spPr>
          <a:xfrm>
            <a:off x="8600237" y="5266944"/>
            <a:ext cx="2539898" cy="292608"/>
          </a:xfrm>
          <a:prstGeom prst="rect">
            <a:avLst/>
          </a:prstGeom>
          <a:noFill/>
          <a:ln/>
        </p:spPr>
        <p:txBody>
          <a:bodyPr wrap="square" lIns="0" tIns="0" rIns="0" bIns="0" rtlCol="0" anchor="ctr"/>
          <a:lstStyle/>
          <a:p>
            <a:pPr indent="0" marL="0">
              <a:buNone/>
            </a:pPr>
            <a:r>
              <a:rPr lang="en-US" sz="1350" b="1" dirty="0">
                <a:solidFill>
                  <a:srgbClr val="E9EDF2"/>
                </a:solidFill>
                <a:latin typeface="Arial" pitchFamily="34" charset="0"/>
                <a:ea typeface="Arial" pitchFamily="34" charset="-122"/>
                <a:cs typeface="Arial" pitchFamily="34" charset="-120"/>
              </a:rPr>
              <a:t>Espacio libre para razonar</a:t>
            </a:r>
            <a:endParaRPr lang="en-US" sz="1350" dirty="0"/>
          </a:p>
        </p:txBody>
      </p:sp>
      <p:sp>
        <p:nvSpPr>
          <p:cNvPr id="41" name="Text 39"/>
          <p:cNvSpPr txBox="1"/>
          <p:nvPr/>
        </p:nvSpPr>
        <p:spPr>
          <a:xfrm>
            <a:off x="8307629" y="5687568"/>
            <a:ext cx="2850794" cy="402336"/>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Lo primero que desaparece.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HIGIENE</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Por qué conviene mantenerlo reducido y limpio</a:t>
            </a:r>
            <a:endParaRPr lang="en-US" sz="3200" dirty="0"/>
          </a:p>
        </p:txBody>
      </p:sp>
      <p:sp>
        <p:nvSpPr>
          <p:cNvPr id="4" name="Shape 2"/>
          <p:cNvSpPr/>
          <p:nvPr/>
        </p:nvSpPr>
        <p:spPr>
          <a:xfrm>
            <a:off x="777240" y="1847088"/>
            <a:ext cx="5158588" cy="2057400"/>
          </a:xfrm>
          <a:prstGeom prst="roundRect">
            <a:avLst>
              <a:gd name="adj" fmla="val 4444"/>
            </a:avLst>
          </a:prstGeom>
          <a:solidFill>
            <a:srgbClr val="1A212B"/>
          </a:solidFill>
          <a:ln w="12700">
            <a:solidFill>
              <a:srgbClr val="2E3A48"/>
            </a:solidFill>
            <a:prstDash val="solid"/>
          </a:ln>
        </p:spPr>
      </p:sp>
      <p:sp>
        <p:nvSpPr>
          <p:cNvPr id="5" name="Shape 3"/>
          <p:cNvSpPr/>
          <p:nvPr/>
        </p:nvSpPr>
        <p:spPr>
          <a:xfrm>
            <a:off x="1143000" y="2231136"/>
            <a:ext cx="457200" cy="457200"/>
          </a:xfrm>
          <a:prstGeom prst="ellipse">
            <a:avLst/>
          </a:prstGeom>
          <a:solidFill>
            <a:srgbClr val="E8734A">
              <a:alpha val="22000"/>
            </a:srgbClr>
          </a:solidFill>
          <a:ln w="12700">
            <a:solidFill>
              <a:srgbClr val="E8734A"/>
            </a:solidFill>
            <a:prstDash val="solid"/>
          </a:ln>
        </p:spPr>
      </p:sp>
      <p:sp>
        <p:nvSpPr>
          <p:cNvPr id="6" name="Text 4"/>
          <p:cNvSpPr txBox="1"/>
          <p:nvPr/>
        </p:nvSpPr>
        <p:spPr>
          <a:xfrm>
            <a:off x="1143000" y="2231136"/>
            <a:ext cx="457200" cy="457200"/>
          </a:xfrm>
          <a:prstGeom prst="rect">
            <a:avLst/>
          </a:prstGeom>
          <a:noFill/>
          <a:ln/>
        </p:spPr>
        <p:txBody>
          <a:bodyPr wrap="square" lIns="0" tIns="0" rIns="0" bIns="0" rtlCol="0" anchor="ctr"/>
          <a:lstStyle/>
          <a:p>
            <a:pPr algn="ctr" indent="0" marL="0">
              <a:buNone/>
            </a:pPr>
            <a:r>
              <a:rPr lang="en-US" sz="1500" b="1" dirty="0">
                <a:solidFill>
                  <a:srgbClr val="E8734A"/>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764792" y="2286000"/>
            <a:ext cx="3786988" cy="365760"/>
          </a:xfrm>
          <a:prstGeom prst="rect">
            <a:avLst/>
          </a:prstGeom>
          <a:noFill/>
          <a:ln/>
        </p:spPr>
        <p:txBody>
          <a:bodyPr wrap="square" lIns="0" tIns="0" rIns="0" bIns="0" rtlCol="0" anchor="ctr"/>
          <a:lstStyle/>
          <a:p>
            <a:pPr indent="0" marL="0">
              <a:buNone/>
            </a:pPr>
            <a:r>
              <a:rPr lang="en-US" sz="2000" b="1" dirty="0">
                <a:solidFill>
                  <a:srgbClr val="E9EDF2"/>
                </a:solidFill>
                <a:latin typeface="Arial" pitchFamily="34" charset="0"/>
                <a:ea typeface="Arial" pitchFamily="34" charset="-122"/>
                <a:cs typeface="Arial" pitchFamily="34" charset="-120"/>
              </a:rPr>
              <a:t>Costo</a:t>
            </a:r>
            <a:endParaRPr lang="en-US" sz="2000" dirty="0"/>
          </a:p>
        </p:txBody>
      </p:sp>
      <p:sp>
        <p:nvSpPr>
          <p:cNvPr id="8" name="Text 6"/>
          <p:cNvSpPr txBox="1"/>
          <p:nvPr/>
        </p:nvSpPr>
        <p:spPr>
          <a:xfrm>
            <a:off x="1143000" y="2834640"/>
            <a:ext cx="4427068" cy="868680"/>
          </a:xfrm>
          <a:prstGeom prst="rect">
            <a:avLst/>
          </a:prstGeom>
          <a:noFill/>
          <a:ln/>
        </p:spPr>
        <p:txBody>
          <a:bodyPr wrap="square" lIns="0" tIns="0" rIns="0" bIns="0" rtlCol="0" anchor="t"/>
          <a:lstStyle/>
          <a:p>
            <a:pPr indent="0" marL="0">
              <a:lnSpc>
                <a:spcPts val="1900"/>
              </a:lnSpc>
              <a:buNone/>
            </a:pPr>
            <a:r>
              <a:rPr lang="en-US" sz="1350" dirty="0">
                <a:solidFill>
                  <a:srgbClr val="97A3B2"/>
                </a:solidFill>
                <a:latin typeface="Calibri" pitchFamily="34" charset="0"/>
                <a:ea typeface="Calibri" pitchFamily="34" charset="-122"/>
                <a:cs typeface="Calibri" pitchFamily="34" charset="-120"/>
              </a:rPr>
              <a:t>Cada turno reenvía todo el contexto. Una conversación larga multiplica el gasto de cada pregunta, aunque la pregunta sea trivial.</a:t>
            </a:r>
            <a:endParaRPr lang="en-US" sz="1350" dirty="0"/>
          </a:p>
        </p:txBody>
      </p:sp>
      <p:sp>
        <p:nvSpPr>
          <p:cNvPr id="9" name="Shape 7"/>
          <p:cNvSpPr/>
          <p:nvPr/>
        </p:nvSpPr>
        <p:spPr>
          <a:xfrm>
            <a:off x="6255868" y="1847088"/>
            <a:ext cx="5158588" cy="2057400"/>
          </a:xfrm>
          <a:prstGeom prst="roundRect">
            <a:avLst>
              <a:gd name="adj" fmla="val 4444"/>
            </a:avLst>
          </a:prstGeom>
          <a:solidFill>
            <a:srgbClr val="1A212B"/>
          </a:solidFill>
          <a:ln w="12700">
            <a:solidFill>
              <a:srgbClr val="2E3A48"/>
            </a:solidFill>
            <a:prstDash val="solid"/>
          </a:ln>
        </p:spPr>
      </p:sp>
      <p:sp>
        <p:nvSpPr>
          <p:cNvPr id="10" name="Shape 8"/>
          <p:cNvSpPr/>
          <p:nvPr/>
        </p:nvSpPr>
        <p:spPr>
          <a:xfrm>
            <a:off x="6621628" y="2231136"/>
            <a:ext cx="457200" cy="457200"/>
          </a:xfrm>
          <a:prstGeom prst="ellipse">
            <a:avLst/>
          </a:prstGeom>
          <a:solidFill>
            <a:srgbClr val="E8734A">
              <a:alpha val="22000"/>
            </a:srgbClr>
          </a:solidFill>
          <a:ln w="12700">
            <a:solidFill>
              <a:srgbClr val="E8734A"/>
            </a:solidFill>
            <a:prstDash val="solid"/>
          </a:ln>
        </p:spPr>
      </p:sp>
      <p:sp>
        <p:nvSpPr>
          <p:cNvPr id="11" name="Text 9"/>
          <p:cNvSpPr txBox="1"/>
          <p:nvPr/>
        </p:nvSpPr>
        <p:spPr>
          <a:xfrm>
            <a:off x="6621628" y="2231136"/>
            <a:ext cx="457200" cy="457200"/>
          </a:xfrm>
          <a:prstGeom prst="rect">
            <a:avLst/>
          </a:prstGeom>
          <a:noFill/>
          <a:ln/>
        </p:spPr>
        <p:txBody>
          <a:bodyPr wrap="square" lIns="0" tIns="0" rIns="0" bIns="0" rtlCol="0" anchor="ctr"/>
          <a:lstStyle/>
          <a:p>
            <a:pPr algn="ctr" indent="0" marL="0">
              <a:buNone/>
            </a:pPr>
            <a:r>
              <a:rPr lang="en-US" sz="1500" b="1" dirty="0">
                <a:solidFill>
                  <a:srgbClr val="E8734A"/>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7243420" y="2286000"/>
            <a:ext cx="3786988" cy="365760"/>
          </a:xfrm>
          <a:prstGeom prst="rect">
            <a:avLst/>
          </a:prstGeom>
          <a:noFill/>
          <a:ln/>
        </p:spPr>
        <p:txBody>
          <a:bodyPr wrap="square" lIns="0" tIns="0" rIns="0" bIns="0" rtlCol="0" anchor="ctr"/>
          <a:lstStyle/>
          <a:p>
            <a:pPr indent="0" marL="0">
              <a:buNone/>
            </a:pPr>
            <a:r>
              <a:rPr lang="en-US" sz="2000" b="1" dirty="0">
                <a:solidFill>
                  <a:srgbClr val="E9EDF2"/>
                </a:solidFill>
                <a:latin typeface="Arial" pitchFamily="34" charset="0"/>
                <a:ea typeface="Arial" pitchFamily="34" charset="-122"/>
                <a:cs typeface="Arial" pitchFamily="34" charset="-120"/>
              </a:rPr>
              <a:t>Latencia</a:t>
            </a:r>
            <a:endParaRPr lang="en-US" sz="2000" dirty="0"/>
          </a:p>
        </p:txBody>
      </p:sp>
      <p:sp>
        <p:nvSpPr>
          <p:cNvPr id="13" name="Text 11"/>
          <p:cNvSpPr txBox="1"/>
          <p:nvPr/>
        </p:nvSpPr>
        <p:spPr>
          <a:xfrm>
            <a:off x="6621628" y="2834640"/>
            <a:ext cx="4427068" cy="868680"/>
          </a:xfrm>
          <a:prstGeom prst="rect">
            <a:avLst/>
          </a:prstGeom>
          <a:noFill/>
          <a:ln/>
        </p:spPr>
        <p:txBody>
          <a:bodyPr wrap="square" lIns="0" tIns="0" rIns="0" bIns="0" rtlCol="0" anchor="t"/>
          <a:lstStyle/>
          <a:p>
            <a:pPr indent="0" marL="0">
              <a:lnSpc>
                <a:spcPts val="1900"/>
              </a:lnSpc>
              <a:buNone/>
            </a:pPr>
            <a:r>
              <a:rPr lang="en-US" sz="1350" dirty="0">
                <a:solidFill>
                  <a:srgbClr val="97A3B2"/>
                </a:solidFill>
                <a:latin typeface="Calibri" pitchFamily="34" charset="0"/>
                <a:ea typeface="Calibri" pitchFamily="34" charset="-122"/>
                <a:cs typeface="Calibri" pitchFamily="34" charset="-120"/>
              </a:rPr>
              <a:t>Más tokens de entrada = más tiempo hasta la primera palabra. Se siente sobre todo en sesiones largas.</a:t>
            </a:r>
            <a:endParaRPr lang="en-US" sz="1350" dirty="0"/>
          </a:p>
        </p:txBody>
      </p:sp>
      <p:sp>
        <p:nvSpPr>
          <p:cNvPr id="14" name="Shape 12"/>
          <p:cNvSpPr/>
          <p:nvPr/>
        </p:nvSpPr>
        <p:spPr>
          <a:xfrm>
            <a:off x="777240" y="4224528"/>
            <a:ext cx="5158588" cy="2057400"/>
          </a:xfrm>
          <a:prstGeom prst="roundRect">
            <a:avLst>
              <a:gd name="adj" fmla="val 4444"/>
            </a:avLst>
          </a:prstGeom>
          <a:solidFill>
            <a:srgbClr val="1A212B"/>
          </a:solidFill>
          <a:ln w="12700">
            <a:solidFill>
              <a:srgbClr val="2E3A48"/>
            </a:solidFill>
            <a:prstDash val="solid"/>
          </a:ln>
        </p:spPr>
      </p:sp>
      <p:sp>
        <p:nvSpPr>
          <p:cNvPr id="15" name="Shape 13"/>
          <p:cNvSpPr/>
          <p:nvPr/>
        </p:nvSpPr>
        <p:spPr>
          <a:xfrm>
            <a:off x="1143000" y="4608576"/>
            <a:ext cx="457200" cy="457200"/>
          </a:xfrm>
          <a:prstGeom prst="ellipse">
            <a:avLst/>
          </a:prstGeom>
          <a:solidFill>
            <a:srgbClr val="4FD1C5">
              <a:alpha val="22000"/>
            </a:srgbClr>
          </a:solidFill>
          <a:ln w="12700">
            <a:solidFill>
              <a:srgbClr val="4FD1C5"/>
            </a:solidFill>
            <a:prstDash val="solid"/>
          </a:ln>
        </p:spPr>
      </p:sp>
      <p:sp>
        <p:nvSpPr>
          <p:cNvPr id="16" name="Text 14"/>
          <p:cNvSpPr txBox="1"/>
          <p:nvPr/>
        </p:nvSpPr>
        <p:spPr>
          <a:xfrm>
            <a:off x="1143000" y="4608576"/>
            <a:ext cx="457200" cy="457200"/>
          </a:xfrm>
          <a:prstGeom prst="rect">
            <a:avLst/>
          </a:prstGeom>
          <a:noFill/>
          <a:ln/>
        </p:spPr>
        <p:txBody>
          <a:bodyPr wrap="square" lIns="0" tIns="0" rIns="0" bIns="0" rtlCol="0" anchor="ctr"/>
          <a:lstStyle/>
          <a:p>
            <a:pPr algn="ctr" indent="0" marL="0">
              <a:buNone/>
            </a:pPr>
            <a:r>
              <a:rPr lang="en-US" sz="1500" b="1" dirty="0">
                <a:solidFill>
                  <a:srgbClr val="4FD1C5"/>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764792" y="4663440"/>
            <a:ext cx="3786988" cy="365760"/>
          </a:xfrm>
          <a:prstGeom prst="rect">
            <a:avLst/>
          </a:prstGeom>
          <a:noFill/>
          <a:ln/>
        </p:spPr>
        <p:txBody>
          <a:bodyPr wrap="square" lIns="0" tIns="0" rIns="0" bIns="0" rtlCol="0" anchor="ctr"/>
          <a:lstStyle/>
          <a:p>
            <a:pPr indent="0" marL="0">
              <a:buNone/>
            </a:pPr>
            <a:r>
              <a:rPr lang="en-US" sz="2000" b="1" dirty="0">
                <a:solidFill>
                  <a:srgbClr val="E9EDF2"/>
                </a:solidFill>
                <a:latin typeface="Arial" pitchFamily="34" charset="0"/>
                <a:ea typeface="Arial" pitchFamily="34" charset="-122"/>
                <a:cs typeface="Arial" pitchFamily="34" charset="-120"/>
              </a:rPr>
              <a:t>Precisión</a:t>
            </a:r>
            <a:endParaRPr lang="en-US" sz="2000" dirty="0"/>
          </a:p>
        </p:txBody>
      </p:sp>
      <p:sp>
        <p:nvSpPr>
          <p:cNvPr id="18" name="Text 16"/>
          <p:cNvSpPr txBox="1"/>
          <p:nvPr/>
        </p:nvSpPr>
        <p:spPr>
          <a:xfrm>
            <a:off x="1143000" y="5212080"/>
            <a:ext cx="4427068" cy="868680"/>
          </a:xfrm>
          <a:prstGeom prst="rect">
            <a:avLst/>
          </a:prstGeom>
          <a:noFill/>
          <a:ln/>
        </p:spPr>
        <p:txBody>
          <a:bodyPr wrap="square" lIns="0" tIns="0" rIns="0" bIns="0" rtlCol="0" anchor="t"/>
          <a:lstStyle/>
          <a:p>
            <a:pPr indent="0" marL="0">
              <a:lnSpc>
                <a:spcPts val="1900"/>
              </a:lnSpc>
              <a:buNone/>
            </a:pPr>
            <a:r>
              <a:rPr lang="en-US" sz="1350" dirty="0">
                <a:solidFill>
                  <a:srgbClr val="97A3B2"/>
                </a:solidFill>
                <a:latin typeface="Calibri" pitchFamily="34" charset="0"/>
                <a:ea typeface="Calibri" pitchFamily="34" charset="-122"/>
                <a:cs typeface="Calibri" pitchFamily="34" charset="-120"/>
              </a:rPr>
              <a:t>Cuanto más largo el contexto, más se diluye la atención. Es el efecto que se conoce como context rot.</a:t>
            </a:r>
            <a:endParaRPr lang="en-US" sz="1350" dirty="0"/>
          </a:p>
        </p:txBody>
      </p:sp>
      <p:sp>
        <p:nvSpPr>
          <p:cNvPr id="19" name="Shape 17"/>
          <p:cNvSpPr/>
          <p:nvPr/>
        </p:nvSpPr>
        <p:spPr>
          <a:xfrm>
            <a:off x="6255868" y="4224528"/>
            <a:ext cx="5158588" cy="2057400"/>
          </a:xfrm>
          <a:prstGeom prst="roundRect">
            <a:avLst>
              <a:gd name="adj" fmla="val 4444"/>
            </a:avLst>
          </a:prstGeom>
          <a:solidFill>
            <a:srgbClr val="1A212B"/>
          </a:solidFill>
          <a:ln w="12700">
            <a:solidFill>
              <a:srgbClr val="2E3A48"/>
            </a:solidFill>
            <a:prstDash val="solid"/>
          </a:ln>
        </p:spPr>
      </p:sp>
      <p:sp>
        <p:nvSpPr>
          <p:cNvPr id="20" name="Shape 18"/>
          <p:cNvSpPr/>
          <p:nvPr/>
        </p:nvSpPr>
        <p:spPr>
          <a:xfrm>
            <a:off x="6621628" y="4608576"/>
            <a:ext cx="457200" cy="457200"/>
          </a:xfrm>
          <a:prstGeom prst="ellipse">
            <a:avLst/>
          </a:prstGeom>
          <a:solidFill>
            <a:srgbClr val="4FD1C5">
              <a:alpha val="22000"/>
            </a:srgbClr>
          </a:solidFill>
          <a:ln w="12700">
            <a:solidFill>
              <a:srgbClr val="4FD1C5"/>
            </a:solidFill>
            <a:prstDash val="solid"/>
          </a:ln>
        </p:spPr>
      </p:sp>
      <p:sp>
        <p:nvSpPr>
          <p:cNvPr id="21" name="Text 19"/>
          <p:cNvSpPr txBox="1"/>
          <p:nvPr/>
        </p:nvSpPr>
        <p:spPr>
          <a:xfrm>
            <a:off x="6621628" y="4608576"/>
            <a:ext cx="457200" cy="457200"/>
          </a:xfrm>
          <a:prstGeom prst="rect">
            <a:avLst/>
          </a:prstGeom>
          <a:noFill/>
          <a:ln/>
        </p:spPr>
        <p:txBody>
          <a:bodyPr wrap="square" lIns="0" tIns="0" rIns="0" bIns="0" rtlCol="0" anchor="ctr"/>
          <a:lstStyle/>
          <a:p>
            <a:pPr algn="ctr" indent="0" marL="0">
              <a:buNone/>
            </a:pPr>
            <a:r>
              <a:rPr lang="en-US" sz="1500" b="1" dirty="0">
                <a:solidFill>
                  <a:srgbClr val="4FD1C5"/>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7243420" y="4663440"/>
            <a:ext cx="3786988" cy="365760"/>
          </a:xfrm>
          <a:prstGeom prst="rect">
            <a:avLst/>
          </a:prstGeom>
          <a:noFill/>
          <a:ln/>
        </p:spPr>
        <p:txBody>
          <a:bodyPr wrap="square" lIns="0" tIns="0" rIns="0" bIns="0" rtlCol="0" anchor="ctr"/>
          <a:lstStyle/>
          <a:p>
            <a:pPr indent="0" marL="0">
              <a:buNone/>
            </a:pPr>
            <a:r>
              <a:rPr lang="en-US" sz="2000" b="1" dirty="0">
                <a:solidFill>
                  <a:srgbClr val="E9EDF2"/>
                </a:solidFill>
                <a:latin typeface="Arial" pitchFamily="34" charset="0"/>
                <a:ea typeface="Arial" pitchFamily="34" charset="-122"/>
                <a:cs typeface="Arial" pitchFamily="34" charset="-120"/>
              </a:rPr>
              <a:t>Distracción</a:t>
            </a:r>
            <a:endParaRPr lang="en-US" sz="2000" dirty="0"/>
          </a:p>
        </p:txBody>
      </p:sp>
      <p:sp>
        <p:nvSpPr>
          <p:cNvPr id="23" name="Text 21"/>
          <p:cNvSpPr txBox="1"/>
          <p:nvPr/>
        </p:nvSpPr>
        <p:spPr>
          <a:xfrm>
            <a:off x="6621628" y="5212080"/>
            <a:ext cx="4427068" cy="868680"/>
          </a:xfrm>
          <a:prstGeom prst="rect">
            <a:avLst/>
          </a:prstGeom>
          <a:noFill/>
          <a:ln/>
        </p:spPr>
        <p:txBody>
          <a:bodyPr wrap="square" lIns="0" tIns="0" rIns="0" bIns="0" rtlCol="0" anchor="t"/>
          <a:lstStyle/>
          <a:p>
            <a:pPr indent="0" marL="0">
              <a:lnSpc>
                <a:spcPts val="1900"/>
              </a:lnSpc>
              <a:buNone/>
            </a:pPr>
            <a:r>
              <a:rPr lang="en-US" sz="1350" dirty="0">
                <a:solidFill>
                  <a:srgbClr val="97A3B2"/>
                </a:solidFill>
                <a:latin typeface="Calibri" pitchFamily="34" charset="0"/>
                <a:ea typeface="Calibri" pitchFamily="34" charset="-122"/>
                <a:cs typeface="Calibri" pitchFamily="34" charset="-120"/>
              </a:rPr>
              <a:t>Contexto sucio = intentos fallidos, versiones viejas de un archivo, tests que ya no aplican. El agente los toma como verdad vigente.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DIAGNÓSTICO · SÍNTOMAS</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Contexto sucio o saturado (context rot)</a:t>
            </a:r>
            <a:endParaRPr lang="en-US" sz="3200" dirty="0"/>
          </a:p>
        </p:txBody>
      </p:sp>
      <p:sp>
        <p:nvSpPr>
          <p:cNvPr id="4" name="Text 2"/>
          <p:cNvSpPr txBox="1"/>
          <p:nvPr/>
        </p:nvSpPr>
        <p:spPr>
          <a:xfrm>
            <a:off x="777240" y="1444752"/>
            <a:ext cx="10637215" cy="292608"/>
          </a:xfrm>
          <a:prstGeom prst="rect">
            <a:avLst/>
          </a:prstGeom>
          <a:noFill/>
          <a:ln/>
        </p:spPr>
        <p:txBody>
          <a:bodyPr wrap="square" lIns="0" tIns="0" rIns="0" bIns="0" rtlCol="0" anchor="ctr"/>
          <a:lstStyle/>
          <a:p>
            <a:pPr indent="0" marL="0">
              <a:buNone/>
            </a:pPr>
            <a:r>
              <a:rPr lang="en-US" sz="1500" dirty="0">
                <a:solidFill>
                  <a:srgbClr val="97A3B2"/>
                </a:solidFill>
                <a:latin typeface="Calibri" pitchFamily="34" charset="0"/>
                <a:ea typeface="Calibri" pitchFamily="34" charset="-122"/>
                <a:cs typeface="Calibri" pitchFamily="34" charset="-120"/>
              </a:rPr>
              <a:t>Context rot: cuanto más lleno está el contexto, peor recupera el modelo lo que hay adentro.</a:t>
            </a:r>
            <a:endParaRPr lang="en-US" sz="1500" dirty="0"/>
          </a:p>
        </p:txBody>
      </p:sp>
      <p:sp>
        <p:nvSpPr>
          <p:cNvPr id="5" name="Shape 3"/>
          <p:cNvSpPr/>
          <p:nvPr/>
        </p:nvSpPr>
        <p:spPr>
          <a:xfrm>
            <a:off x="777240" y="1965960"/>
            <a:ext cx="10637215" cy="786384"/>
          </a:xfrm>
          <a:prstGeom prst="roundRect">
            <a:avLst>
              <a:gd name="adj" fmla="val 11628"/>
            </a:avLst>
          </a:prstGeom>
          <a:solidFill>
            <a:srgbClr val="1A212B"/>
          </a:solidFill>
          <a:ln w="12700">
            <a:solidFill>
              <a:srgbClr val="2E3A48"/>
            </a:solidFill>
            <a:prstDash val="solid"/>
          </a:ln>
        </p:spPr>
      </p:sp>
      <p:sp>
        <p:nvSpPr>
          <p:cNvPr id="6" name="Shape 4"/>
          <p:cNvSpPr/>
          <p:nvPr/>
        </p:nvSpPr>
        <p:spPr>
          <a:xfrm>
            <a:off x="1143000" y="2295144"/>
            <a:ext cx="146304" cy="146304"/>
          </a:xfrm>
          <a:prstGeom prst="ellipse">
            <a:avLst/>
          </a:prstGeom>
          <a:solidFill>
            <a:srgbClr val="F2C94C"/>
          </a:solidFill>
          <a:ln w="12700">
            <a:solidFill>
              <a:srgbClr val="F2C94C"/>
            </a:solidFill>
            <a:prstDash val="solid"/>
          </a:ln>
        </p:spPr>
      </p:sp>
      <p:sp>
        <p:nvSpPr>
          <p:cNvPr id="7" name="Text 5"/>
          <p:cNvSpPr txBox="1"/>
          <p:nvPr/>
        </p:nvSpPr>
        <p:spPr>
          <a:xfrm>
            <a:off x="1554480" y="2093976"/>
            <a:ext cx="5120640" cy="274320"/>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Repite errores que ya corregiste</a:t>
            </a:r>
            <a:endParaRPr lang="en-US" sz="1500" dirty="0"/>
          </a:p>
        </p:txBody>
      </p:sp>
      <p:sp>
        <p:nvSpPr>
          <p:cNvPr id="8" name="Text 6"/>
          <p:cNvSpPr txBox="1"/>
          <p:nvPr/>
        </p:nvSpPr>
        <p:spPr>
          <a:xfrm>
            <a:off x="1554480" y="2395728"/>
            <a:ext cx="9326880" cy="274320"/>
          </a:xfrm>
          <a:prstGeom prst="rect">
            <a:avLst/>
          </a:prstGeom>
          <a:noFill/>
          <a:ln/>
        </p:spPr>
        <p:txBody>
          <a:bodyPr wrap="square" lIns="0" tIns="0" rIns="0" bIns="0" rtlCol="0" anchor="ctr"/>
          <a:lstStyle/>
          <a:p>
            <a:pPr indent="0" marL="0">
              <a:buNone/>
            </a:pPr>
            <a:r>
              <a:rPr lang="en-US" sz="1250" dirty="0">
                <a:solidFill>
                  <a:srgbClr val="97A3B2"/>
                </a:solidFill>
                <a:latin typeface="Calibri" pitchFamily="34" charset="0"/>
                <a:ea typeface="Calibri" pitchFamily="34" charset="-122"/>
                <a:cs typeface="Calibri" pitchFamily="34" charset="-120"/>
              </a:rPr>
              <a:t>Ve el intento fallido y la corrección con el mismo peso.</a:t>
            </a:r>
            <a:endParaRPr lang="en-US" sz="1250" dirty="0"/>
          </a:p>
        </p:txBody>
      </p:sp>
      <p:sp>
        <p:nvSpPr>
          <p:cNvPr id="9" name="Shape 7"/>
          <p:cNvSpPr/>
          <p:nvPr/>
        </p:nvSpPr>
        <p:spPr>
          <a:xfrm>
            <a:off x="777240" y="2825496"/>
            <a:ext cx="10637215" cy="786384"/>
          </a:xfrm>
          <a:prstGeom prst="roundRect">
            <a:avLst>
              <a:gd name="adj" fmla="val 11628"/>
            </a:avLst>
          </a:prstGeom>
          <a:solidFill>
            <a:srgbClr val="1A212B"/>
          </a:solidFill>
          <a:ln w="12700">
            <a:solidFill>
              <a:srgbClr val="2E3A48"/>
            </a:solidFill>
            <a:prstDash val="solid"/>
          </a:ln>
        </p:spPr>
      </p:sp>
      <p:sp>
        <p:nvSpPr>
          <p:cNvPr id="10" name="Shape 8"/>
          <p:cNvSpPr/>
          <p:nvPr/>
        </p:nvSpPr>
        <p:spPr>
          <a:xfrm>
            <a:off x="1143000" y="3154680"/>
            <a:ext cx="146304" cy="146304"/>
          </a:xfrm>
          <a:prstGeom prst="ellipse">
            <a:avLst/>
          </a:prstGeom>
          <a:solidFill>
            <a:srgbClr val="F2C94C"/>
          </a:solidFill>
          <a:ln w="12700">
            <a:solidFill>
              <a:srgbClr val="F2C94C"/>
            </a:solidFill>
            <a:prstDash val="solid"/>
          </a:ln>
        </p:spPr>
      </p:sp>
      <p:sp>
        <p:nvSpPr>
          <p:cNvPr id="11" name="Text 9"/>
          <p:cNvSpPr txBox="1"/>
          <p:nvPr/>
        </p:nvSpPr>
        <p:spPr>
          <a:xfrm>
            <a:off x="1554480" y="2953512"/>
            <a:ext cx="5120640" cy="274320"/>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Vuelve a una versión vieja de un archivo</a:t>
            </a:r>
            <a:endParaRPr lang="en-US" sz="1500" dirty="0"/>
          </a:p>
        </p:txBody>
      </p:sp>
      <p:sp>
        <p:nvSpPr>
          <p:cNvPr id="12" name="Text 10"/>
          <p:cNvSpPr txBox="1"/>
          <p:nvPr/>
        </p:nvSpPr>
        <p:spPr>
          <a:xfrm>
            <a:off x="1554480" y="3255264"/>
            <a:ext cx="9326880" cy="274320"/>
          </a:xfrm>
          <a:prstGeom prst="rect">
            <a:avLst/>
          </a:prstGeom>
          <a:noFill/>
          <a:ln/>
        </p:spPr>
        <p:txBody>
          <a:bodyPr wrap="square" lIns="0" tIns="0" rIns="0" bIns="0" rtlCol="0" anchor="ctr"/>
          <a:lstStyle/>
          <a:p>
            <a:pPr indent="0" marL="0">
              <a:buNone/>
            </a:pPr>
            <a:r>
              <a:rPr lang="en-US" sz="1250" dirty="0">
                <a:solidFill>
                  <a:srgbClr val="97A3B2"/>
                </a:solidFill>
                <a:latin typeface="Calibri" pitchFamily="34" charset="0"/>
                <a:ea typeface="Calibri" pitchFamily="34" charset="-122"/>
                <a:cs typeface="Calibri" pitchFamily="34" charset="-120"/>
              </a:rPr>
              <a:t>Tiene dos versiones en contexto y toma la equivocada.</a:t>
            </a:r>
            <a:endParaRPr lang="en-US" sz="1250" dirty="0"/>
          </a:p>
        </p:txBody>
      </p:sp>
      <p:sp>
        <p:nvSpPr>
          <p:cNvPr id="13" name="Shape 11"/>
          <p:cNvSpPr/>
          <p:nvPr/>
        </p:nvSpPr>
        <p:spPr>
          <a:xfrm>
            <a:off x="777240" y="3685032"/>
            <a:ext cx="10637215" cy="786384"/>
          </a:xfrm>
          <a:prstGeom prst="roundRect">
            <a:avLst>
              <a:gd name="adj" fmla="val 11628"/>
            </a:avLst>
          </a:prstGeom>
          <a:solidFill>
            <a:srgbClr val="1A212B"/>
          </a:solidFill>
          <a:ln w="12700">
            <a:solidFill>
              <a:srgbClr val="2E3A48"/>
            </a:solidFill>
            <a:prstDash val="solid"/>
          </a:ln>
        </p:spPr>
      </p:sp>
      <p:sp>
        <p:nvSpPr>
          <p:cNvPr id="14" name="Shape 12"/>
          <p:cNvSpPr/>
          <p:nvPr/>
        </p:nvSpPr>
        <p:spPr>
          <a:xfrm>
            <a:off x="1143000" y="4014216"/>
            <a:ext cx="146304" cy="146304"/>
          </a:xfrm>
          <a:prstGeom prst="ellipse">
            <a:avLst/>
          </a:prstGeom>
          <a:solidFill>
            <a:srgbClr val="F2C94C"/>
          </a:solidFill>
          <a:ln w="12700">
            <a:solidFill>
              <a:srgbClr val="F2C94C"/>
            </a:solidFill>
            <a:prstDash val="solid"/>
          </a:ln>
        </p:spPr>
      </p:sp>
      <p:sp>
        <p:nvSpPr>
          <p:cNvPr id="15" name="Text 13"/>
          <p:cNvSpPr txBox="1"/>
          <p:nvPr/>
        </p:nvSpPr>
        <p:spPr>
          <a:xfrm>
            <a:off x="1554480" y="3813048"/>
            <a:ext cx="5120640" cy="274320"/>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Ignora una instrucción que diste al principio</a:t>
            </a:r>
            <a:endParaRPr lang="en-US" sz="1500" dirty="0"/>
          </a:p>
        </p:txBody>
      </p:sp>
      <p:sp>
        <p:nvSpPr>
          <p:cNvPr id="16" name="Text 14"/>
          <p:cNvSpPr txBox="1"/>
          <p:nvPr/>
        </p:nvSpPr>
        <p:spPr>
          <a:xfrm>
            <a:off x="1554480" y="4114800"/>
            <a:ext cx="9326880" cy="274320"/>
          </a:xfrm>
          <a:prstGeom prst="rect">
            <a:avLst/>
          </a:prstGeom>
          <a:noFill/>
          <a:ln/>
        </p:spPr>
        <p:txBody>
          <a:bodyPr wrap="square" lIns="0" tIns="0" rIns="0" bIns="0" rtlCol="0" anchor="ctr"/>
          <a:lstStyle/>
          <a:p>
            <a:pPr indent="0" marL="0">
              <a:buNone/>
            </a:pPr>
            <a:r>
              <a:rPr lang="en-US" sz="1250" dirty="0">
                <a:solidFill>
                  <a:srgbClr val="97A3B2"/>
                </a:solidFill>
                <a:latin typeface="Calibri" pitchFamily="34" charset="0"/>
                <a:ea typeface="Calibri" pitchFamily="34" charset="-122"/>
                <a:cs typeface="Calibri" pitchFamily="34" charset="-120"/>
              </a:rPr>
              <a:t>Quedó enterrada en el medio de una conversación larga.</a:t>
            </a:r>
            <a:endParaRPr lang="en-US" sz="1250" dirty="0"/>
          </a:p>
        </p:txBody>
      </p:sp>
      <p:sp>
        <p:nvSpPr>
          <p:cNvPr id="17" name="Shape 15"/>
          <p:cNvSpPr/>
          <p:nvPr/>
        </p:nvSpPr>
        <p:spPr>
          <a:xfrm>
            <a:off x="777240" y="4544568"/>
            <a:ext cx="10637215" cy="786384"/>
          </a:xfrm>
          <a:prstGeom prst="roundRect">
            <a:avLst>
              <a:gd name="adj" fmla="val 11628"/>
            </a:avLst>
          </a:prstGeom>
          <a:solidFill>
            <a:srgbClr val="1A212B"/>
          </a:solidFill>
          <a:ln w="12700">
            <a:solidFill>
              <a:srgbClr val="2E3A48"/>
            </a:solidFill>
            <a:prstDash val="solid"/>
          </a:ln>
        </p:spPr>
      </p:sp>
      <p:sp>
        <p:nvSpPr>
          <p:cNvPr id="18" name="Shape 16"/>
          <p:cNvSpPr/>
          <p:nvPr/>
        </p:nvSpPr>
        <p:spPr>
          <a:xfrm>
            <a:off x="1143000" y="4873752"/>
            <a:ext cx="146304" cy="146304"/>
          </a:xfrm>
          <a:prstGeom prst="ellipse">
            <a:avLst/>
          </a:prstGeom>
          <a:solidFill>
            <a:srgbClr val="F2C94C"/>
          </a:solidFill>
          <a:ln w="12700">
            <a:solidFill>
              <a:srgbClr val="F2C94C"/>
            </a:solidFill>
            <a:prstDash val="solid"/>
          </a:ln>
        </p:spPr>
      </p:sp>
      <p:sp>
        <p:nvSpPr>
          <p:cNvPr id="19" name="Text 17"/>
          <p:cNvSpPr txBox="1"/>
          <p:nvPr/>
        </p:nvSpPr>
        <p:spPr>
          <a:xfrm>
            <a:off x="1554480" y="4672584"/>
            <a:ext cx="5120640" cy="274320"/>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Respuestas más lentas y más genéricas</a:t>
            </a:r>
            <a:endParaRPr lang="en-US" sz="1500" dirty="0"/>
          </a:p>
        </p:txBody>
      </p:sp>
      <p:sp>
        <p:nvSpPr>
          <p:cNvPr id="20" name="Text 18"/>
          <p:cNvSpPr txBox="1"/>
          <p:nvPr/>
        </p:nvSpPr>
        <p:spPr>
          <a:xfrm>
            <a:off x="1554480" y="4974336"/>
            <a:ext cx="9326880" cy="274320"/>
          </a:xfrm>
          <a:prstGeom prst="rect">
            <a:avLst/>
          </a:prstGeom>
          <a:noFill/>
          <a:ln/>
        </p:spPr>
        <p:txBody>
          <a:bodyPr wrap="square" lIns="0" tIns="0" rIns="0" bIns="0" rtlCol="0" anchor="ctr"/>
          <a:lstStyle/>
          <a:p>
            <a:pPr indent="0" marL="0">
              <a:buNone/>
            </a:pPr>
            <a:r>
              <a:rPr lang="en-US" sz="1250" dirty="0">
                <a:solidFill>
                  <a:srgbClr val="97A3B2"/>
                </a:solidFill>
                <a:latin typeface="Calibri" pitchFamily="34" charset="0"/>
                <a:ea typeface="Calibri" pitchFamily="34" charset="-122"/>
                <a:cs typeface="Calibri" pitchFamily="34" charset="-120"/>
              </a:rPr>
              <a:t>El presupuesto se agotó y queda poco espacio para razonar.</a:t>
            </a:r>
            <a:endParaRPr lang="en-US" sz="1250" dirty="0"/>
          </a:p>
        </p:txBody>
      </p:sp>
      <p:sp>
        <p:nvSpPr>
          <p:cNvPr id="21" name="Shape 19"/>
          <p:cNvSpPr/>
          <p:nvPr/>
        </p:nvSpPr>
        <p:spPr>
          <a:xfrm>
            <a:off x="777240" y="5404104"/>
            <a:ext cx="10637215" cy="786384"/>
          </a:xfrm>
          <a:prstGeom prst="roundRect">
            <a:avLst>
              <a:gd name="adj" fmla="val 11628"/>
            </a:avLst>
          </a:prstGeom>
          <a:solidFill>
            <a:srgbClr val="1A212B"/>
          </a:solidFill>
          <a:ln w="12700">
            <a:solidFill>
              <a:srgbClr val="2E3A48"/>
            </a:solidFill>
            <a:prstDash val="solid"/>
          </a:ln>
        </p:spPr>
      </p:sp>
      <p:sp>
        <p:nvSpPr>
          <p:cNvPr id="22" name="Shape 20"/>
          <p:cNvSpPr/>
          <p:nvPr/>
        </p:nvSpPr>
        <p:spPr>
          <a:xfrm>
            <a:off x="1143000" y="5733288"/>
            <a:ext cx="146304" cy="146304"/>
          </a:xfrm>
          <a:prstGeom prst="ellipse">
            <a:avLst/>
          </a:prstGeom>
          <a:solidFill>
            <a:srgbClr val="F2C94C"/>
          </a:solidFill>
          <a:ln w="12700">
            <a:solidFill>
              <a:srgbClr val="F2C94C"/>
            </a:solidFill>
            <a:prstDash val="solid"/>
          </a:ln>
        </p:spPr>
      </p:sp>
      <p:sp>
        <p:nvSpPr>
          <p:cNvPr id="23" name="Text 21"/>
          <p:cNvSpPr txBox="1"/>
          <p:nvPr/>
        </p:nvSpPr>
        <p:spPr>
          <a:xfrm>
            <a:off x="1554480" y="5532120"/>
            <a:ext cx="5120640" cy="274320"/>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Se compacta solo cada dos por tres</a:t>
            </a:r>
            <a:endParaRPr lang="en-US" sz="1500" dirty="0"/>
          </a:p>
        </p:txBody>
      </p:sp>
      <p:sp>
        <p:nvSpPr>
          <p:cNvPr id="24" name="Text 22"/>
          <p:cNvSpPr txBox="1"/>
          <p:nvPr/>
        </p:nvSpPr>
        <p:spPr>
          <a:xfrm>
            <a:off x="1554480" y="5833872"/>
            <a:ext cx="9326880" cy="274320"/>
          </a:xfrm>
          <a:prstGeom prst="rect">
            <a:avLst/>
          </a:prstGeom>
          <a:noFill/>
          <a:ln/>
        </p:spPr>
        <p:txBody>
          <a:bodyPr wrap="square" lIns="0" tIns="0" rIns="0" bIns="0" rtlCol="0" anchor="ctr"/>
          <a:lstStyle/>
          <a:p>
            <a:pPr indent="0" marL="0">
              <a:buNone/>
            </a:pPr>
            <a:r>
              <a:rPr lang="en-US" sz="1250" dirty="0">
                <a:solidFill>
                  <a:srgbClr val="97A3B2"/>
                </a:solidFill>
                <a:latin typeface="Calibri" pitchFamily="34" charset="0"/>
                <a:ea typeface="Calibri" pitchFamily="34" charset="-122"/>
                <a:cs typeface="Calibri" pitchFamily="34" charset="-120"/>
              </a:rPr>
              <a:t>Señal de que venís arrastrando material que ya no sirve.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COMANDOS · 1</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Primero observar: /context y /usage</a:t>
            </a:r>
            <a:endParaRPr lang="en-US" sz="3200" dirty="0"/>
          </a:p>
        </p:txBody>
      </p:sp>
      <p:sp>
        <p:nvSpPr>
          <p:cNvPr id="4" name="Shape 2"/>
          <p:cNvSpPr/>
          <p:nvPr/>
        </p:nvSpPr>
        <p:spPr>
          <a:xfrm>
            <a:off x="777240" y="1737360"/>
            <a:ext cx="5135728" cy="4160520"/>
          </a:xfrm>
          <a:prstGeom prst="roundRect">
            <a:avLst>
              <a:gd name="adj" fmla="val 2198"/>
            </a:avLst>
          </a:prstGeom>
          <a:solidFill>
            <a:srgbClr val="1A212B"/>
          </a:solidFill>
          <a:ln w="12700">
            <a:solidFill>
              <a:srgbClr val="2E3A48"/>
            </a:solidFill>
            <a:prstDash val="solid"/>
          </a:ln>
        </p:spPr>
      </p:sp>
      <p:sp>
        <p:nvSpPr>
          <p:cNvPr id="5" name="Shape 3"/>
          <p:cNvSpPr/>
          <p:nvPr/>
        </p:nvSpPr>
        <p:spPr>
          <a:xfrm>
            <a:off x="1097280" y="2011680"/>
            <a:ext cx="1691640" cy="457200"/>
          </a:xfrm>
          <a:prstGeom prst="roundRect">
            <a:avLst>
              <a:gd name="adj" fmla="val 20000"/>
            </a:avLst>
          </a:prstGeom>
          <a:solidFill>
            <a:srgbClr val="0E1117"/>
          </a:solidFill>
          <a:ln w="12700">
            <a:solidFill>
              <a:srgbClr val="4FD1C5"/>
            </a:solidFill>
            <a:prstDash val="solid"/>
          </a:ln>
        </p:spPr>
      </p:sp>
      <p:sp>
        <p:nvSpPr>
          <p:cNvPr id="6" name="Text 4"/>
          <p:cNvSpPr txBox="1"/>
          <p:nvPr/>
        </p:nvSpPr>
        <p:spPr>
          <a:xfrm>
            <a:off x="1097280" y="2011680"/>
            <a:ext cx="1691640" cy="457200"/>
          </a:xfrm>
          <a:prstGeom prst="rect">
            <a:avLst/>
          </a:prstGeom>
          <a:noFill/>
          <a:ln/>
        </p:spPr>
        <p:txBody>
          <a:bodyPr wrap="square" lIns="0" tIns="0" rIns="0" bIns="0" rtlCol="0" anchor="ctr"/>
          <a:lstStyle/>
          <a:p>
            <a:pPr algn="ctr" indent="0" marL="0">
              <a:buNone/>
            </a:pPr>
            <a:r>
              <a:rPr lang="en-US" sz="1500" b="1" dirty="0">
                <a:solidFill>
                  <a:srgbClr val="4FD1C5"/>
                </a:solidFill>
                <a:latin typeface="Courier New" pitchFamily="34" charset="0"/>
                <a:ea typeface="Courier New" pitchFamily="34" charset="-122"/>
                <a:cs typeface="Courier New" pitchFamily="34" charset="-120"/>
              </a:rPr>
              <a:t>/context</a:t>
            </a:r>
            <a:endParaRPr lang="en-US" sz="1500" dirty="0"/>
          </a:p>
        </p:txBody>
      </p:sp>
      <p:sp>
        <p:nvSpPr>
          <p:cNvPr id="7" name="Text 5"/>
          <p:cNvSpPr txBox="1"/>
          <p:nvPr/>
        </p:nvSpPr>
        <p:spPr>
          <a:xfrm>
            <a:off x="1097280" y="2633472"/>
            <a:ext cx="4495648" cy="320040"/>
          </a:xfrm>
          <a:prstGeom prst="rect">
            <a:avLst/>
          </a:prstGeom>
          <a:noFill/>
          <a:ln/>
        </p:spPr>
        <p:txBody>
          <a:bodyPr wrap="square" lIns="0" tIns="0" rIns="0" bIns="0" rtlCol="0" anchor="ctr"/>
          <a:lstStyle/>
          <a:p>
            <a:pPr indent="0" marL="0">
              <a:buNone/>
            </a:pPr>
            <a:r>
              <a:rPr lang="en-US" sz="1600" b="1" dirty="0">
                <a:solidFill>
                  <a:srgbClr val="E9EDF2"/>
                </a:solidFill>
                <a:latin typeface="Arial" pitchFamily="34" charset="0"/>
                <a:ea typeface="Arial" pitchFamily="34" charset="-122"/>
                <a:cs typeface="Arial" pitchFamily="34" charset="-120"/>
              </a:rPr>
              <a:t>¿En qué se está yendo mi contexto?</a:t>
            </a:r>
            <a:endParaRPr lang="en-US" sz="1600" dirty="0"/>
          </a:p>
        </p:txBody>
      </p:sp>
      <p:sp>
        <p:nvSpPr>
          <p:cNvPr id="8" name="Text 6"/>
          <p:cNvSpPr txBox="1"/>
          <p:nvPr/>
        </p:nvSpPr>
        <p:spPr>
          <a:xfrm>
            <a:off x="1097280" y="3017520"/>
            <a:ext cx="4495648" cy="265176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97A3B2"/>
                </a:solidFill>
                <a:latin typeface="Calibri" pitchFamily="34" charset="0"/>
                <a:ea typeface="Calibri" pitchFamily="34" charset="-122"/>
                <a:cs typeface="Calibri" pitchFamily="34" charset="-120"/>
              </a:rPr>
              <a:t>Muestra el uso actual de la ventana de contexto como una grilla visual.</a:t>
            </a:r>
            <a:endParaRPr lang="en-US" sz="1350" dirty="0"/>
          </a:p>
          <a:p>
            <a:pPr marL="342900" indent="-342900">
              <a:lnSpc>
                <a:spcPts val="1900"/>
              </a:lnSpc>
              <a:spcAft>
                <a:spcPts val="1000"/>
              </a:spcAft>
              <a:buSzPct val="100000"/>
              <a:buChar char="•"/>
            </a:pPr>
            <a:r>
              <a:rPr lang="en-US" sz="1350" dirty="0">
                <a:solidFill>
                  <a:srgbClr val="97A3B2"/>
                </a:solidFill>
                <a:latin typeface="Calibri" pitchFamily="34" charset="0"/>
                <a:ea typeface="Calibri" pitchFamily="34" charset="-122"/>
                <a:cs typeface="Calibri" pitchFamily="34" charset="-120"/>
              </a:rPr>
              <a:t>Desglosa por elemento: system prompt, herramientas, memoria, mensajes, archivos.</a:t>
            </a:r>
            <a:endParaRPr lang="en-US" sz="1350" dirty="0"/>
          </a:p>
          <a:p>
            <a:pPr marL="342900" indent="-342900">
              <a:lnSpc>
                <a:spcPts val="1900"/>
              </a:lnSpc>
              <a:spcAft>
                <a:spcPts val="1000"/>
              </a:spcAft>
              <a:buSzPct val="100000"/>
              <a:buChar char="•"/>
            </a:pPr>
            <a:r>
              <a:rPr lang="en-US" sz="1350" dirty="0">
                <a:solidFill>
                  <a:srgbClr val="97A3B2"/>
                </a:solidFill>
                <a:latin typeface="Calibri" pitchFamily="34" charset="0"/>
                <a:ea typeface="Calibri" pitchFamily="34" charset="-122"/>
                <a:cs typeface="Calibri" pitchFamily="34" charset="-120"/>
              </a:rPr>
              <a:t>Avisa cuando te estás acercando al límite y sugiere qué optimizar.</a:t>
            </a:r>
            <a:endParaRPr lang="en-US" sz="1350" dirty="0"/>
          </a:p>
          <a:p>
            <a:pPr marL="342900" indent="-342900">
              <a:lnSpc>
                <a:spcPts val="1900"/>
              </a:lnSpc>
              <a:spcAft>
                <a:spcPts val="1000"/>
              </a:spcAft>
              <a:buSzPct val="100000"/>
              <a:buChar char="•"/>
            </a:pPr>
            <a:r>
              <a:rPr lang="en-US" sz="1350" dirty="0">
                <a:solidFill>
                  <a:srgbClr val="97A3B2"/>
                </a:solidFill>
                <a:latin typeface="Calibri" pitchFamily="34" charset="0"/>
                <a:ea typeface="Calibri" pitchFamily="34" charset="-122"/>
                <a:cs typeface="Calibri" pitchFamily="34" charset="-120"/>
              </a:rPr>
              <a:t>/context all expande el detalle completo.</a:t>
            </a:r>
            <a:endParaRPr lang="en-US" sz="1350" dirty="0"/>
          </a:p>
        </p:txBody>
      </p:sp>
      <p:sp>
        <p:nvSpPr>
          <p:cNvPr id="9" name="Shape 7"/>
          <p:cNvSpPr/>
          <p:nvPr/>
        </p:nvSpPr>
        <p:spPr>
          <a:xfrm>
            <a:off x="6278728" y="1737360"/>
            <a:ext cx="5135728" cy="4160520"/>
          </a:xfrm>
          <a:prstGeom prst="roundRect">
            <a:avLst>
              <a:gd name="adj" fmla="val 2198"/>
            </a:avLst>
          </a:prstGeom>
          <a:solidFill>
            <a:srgbClr val="1A212B"/>
          </a:solidFill>
          <a:ln w="12700">
            <a:solidFill>
              <a:srgbClr val="2E3A48"/>
            </a:solidFill>
            <a:prstDash val="solid"/>
          </a:ln>
        </p:spPr>
      </p:sp>
      <p:sp>
        <p:nvSpPr>
          <p:cNvPr id="10" name="Shape 8"/>
          <p:cNvSpPr/>
          <p:nvPr/>
        </p:nvSpPr>
        <p:spPr>
          <a:xfrm>
            <a:off x="6598768" y="2011680"/>
            <a:ext cx="1691640" cy="457200"/>
          </a:xfrm>
          <a:prstGeom prst="roundRect">
            <a:avLst>
              <a:gd name="adj" fmla="val 20000"/>
            </a:avLst>
          </a:prstGeom>
          <a:solidFill>
            <a:srgbClr val="0E1117"/>
          </a:solidFill>
          <a:ln w="12700">
            <a:solidFill>
              <a:srgbClr val="E8734A"/>
            </a:solidFill>
            <a:prstDash val="solid"/>
          </a:ln>
        </p:spPr>
      </p:sp>
      <p:sp>
        <p:nvSpPr>
          <p:cNvPr id="11" name="Text 9"/>
          <p:cNvSpPr txBox="1"/>
          <p:nvPr/>
        </p:nvSpPr>
        <p:spPr>
          <a:xfrm>
            <a:off x="6598768" y="2011680"/>
            <a:ext cx="1691640" cy="457200"/>
          </a:xfrm>
          <a:prstGeom prst="rect">
            <a:avLst/>
          </a:prstGeom>
          <a:noFill/>
          <a:ln/>
        </p:spPr>
        <p:txBody>
          <a:bodyPr wrap="square" lIns="0" tIns="0" rIns="0" bIns="0" rtlCol="0" anchor="ctr"/>
          <a:lstStyle/>
          <a:p>
            <a:pPr algn="ctr" indent="0" marL="0">
              <a:buNone/>
            </a:pPr>
            <a:r>
              <a:rPr lang="en-US" sz="1500" b="1" dirty="0">
                <a:solidFill>
                  <a:srgbClr val="E8734A"/>
                </a:solidFill>
                <a:latin typeface="Courier New" pitchFamily="34" charset="0"/>
                <a:ea typeface="Courier New" pitchFamily="34" charset="-122"/>
                <a:cs typeface="Courier New" pitchFamily="34" charset="-120"/>
              </a:rPr>
              <a:t>/usage</a:t>
            </a:r>
            <a:endParaRPr lang="en-US" sz="1500" dirty="0"/>
          </a:p>
        </p:txBody>
      </p:sp>
      <p:sp>
        <p:nvSpPr>
          <p:cNvPr id="12" name="Text 10"/>
          <p:cNvSpPr txBox="1"/>
          <p:nvPr/>
        </p:nvSpPr>
        <p:spPr>
          <a:xfrm>
            <a:off x="6598768" y="2633472"/>
            <a:ext cx="4495648" cy="320040"/>
          </a:xfrm>
          <a:prstGeom prst="rect">
            <a:avLst/>
          </a:prstGeom>
          <a:noFill/>
          <a:ln/>
        </p:spPr>
        <p:txBody>
          <a:bodyPr wrap="square" lIns="0" tIns="0" rIns="0" bIns="0" rtlCol="0" anchor="ctr"/>
          <a:lstStyle/>
          <a:p>
            <a:pPr indent="0" marL="0">
              <a:buNone/>
            </a:pPr>
            <a:r>
              <a:rPr lang="en-US" sz="1600" b="1" dirty="0">
                <a:solidFill>
                  <a:srgbClr val="E9EDF2"/>
                </a:solidFill>
                <a:latin typeface="Arial" pitchFamily="34" charset="0"/>
                <a:ea typeface="Arial" pitchFamily="34" charset="-122"/>
                <a:cs typeface="Arial" pitchFamily="34" charset="-120"/>
              </a:rPr>
              <a:t>¿Cuánto estoy gastando y en qué?</a:t>
            </a:r>
            <a:endParaRPr lang="en-US" sz="1600" dirty="0"/>
          </a:p>
        </p:txBody>
      </p:sp>
      <p:sp>
        <p:nvSpPr>
          <p:cNvPr id="13" name="Text 11"/>
          <p:cNvSpPr txBox="1"/>
          <p:nvPr/>
        </p:nvSpPr>
        <p:spPr>
          <a:xfrm>
            <a:off x="6598768" y="3017520"/>
            <a:ext cx="4495648" cy="265176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97A3B2"/>
                </a:solidFill>
                <a:latin typeface="Calibri" pitchFamily="34" charset="0"/>
                <a:ea typeface="Calibri" pitchFamily="34" charset="-122"/>
                <a:cs typeface="Calibri" pitchFamily="34" charset="-120"/>
              </a:rPr>
              <a:t>Estadísticas de la sesión: tokens de entrada, salida y lectura de caché.</a:t>
            </a:r>
            <a:endParaRPr lang="en-US" sz="1350" dirty="0"/>
          </a:p>
          <a:p>
            <a:pPr marL="342900" indent="-342900">
              <a:lnSpc>
                <a:spcPts val="1900"/>
              </a:lnSpc>
              <a:spcAft>
                <a:spcPts val="1000"/>
              </a:spcAft>
              <a:buSzPct val="100000"/>
              <a:buChar char="•"/>
            </a:pPr>
            <a:r>
              <a:rPr lang="en-US" sz="1350" dirty="0">
                <a:solidFill>
                  <a:srgbClr val="97A3B2"/>
                </a:solidFill>
                <a:latin typeface="Calibri" pitchFamily="34" charset="0"/>
                <a:ea typeface="Calibri" pitchFamily="34" charset="-122"/>
                <a:cs typeface="Calibri" pitchFamily="34" charset="-120"/>
              </a:rPr>
              <a:t>Atribución del gasto por skills, MCP y plugins (en planes Pro y superiores).</a:t>
            </a:r>
            <a:endParaRPr lang="en-US" sz="1350" dirty="0"/>
          </a:p>
          <a:p>
            <a:pPr marL="342900" indent="-342900">
              <a:lnSpc>
                <a:spcPts val="1900"/>
              </a:lnSpc>
              <a:spcAft>
                <a:spcPts val="1000"/>
              </a:spcAft>
              <a:buSzPct val="100000"/>
              <a:buChar char="•"/>
            </a:pPr>
            <a:r>
              <a:rPr lang="en-US" sz="1350" dirty="0">
                <a:solidFill>
                  <a:srgbClr val="97A3B2"/>
                </a:solidFill>
                <a:latin typeface="Calibri" pitchFamily="34" charset="0"/>
                <a:ea typeface="Calibri" pitchFamily="34" charset="-122"/>
                <a:cs typeface="Calibri" pitchFamily="34" charset="-120"/>
              </a:rPr>
              <a:t>Señala comportamientos anómalos: contextos muy largos, fallos de caché.</a:t>
            </a:r>
            <a:endParaRPr lang="en-US" sz="1350" dirty="0"/>
          </a:p>
          <a:p>
            <a:pPr marL="342900" indent="-342900">
              <a:lnSpc>
                <a:spcPts val="1900"/>
              </a:lnSpc>
              <a:spcAft>
                <a:spcPts val="1000"/>
              </a:spcAft>
              <a:buSzPct val="100000"/>
              <a:buChar char="•"/>
            </a:pPr>
            <a:r>
              <a:rPr lang="en-US" sz="1350" dirty="0">
                <a:solidFill>
                  <a:srgbClr val="97A3B2"/>
                </a:solidFill>
                <a:latin typeface="Calibri" pitchFamily="34" charset="0"/>
                <a:ea typeface="Calibri" pitchFamily="34" charset="-122"/>
                <a:cs typeface="Calibri" pitchFamily="34" charset="-120"/>
              </a:rPr>
              <a:t>Vistas de 24 h y 7 días para ver la tendencia.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COMANDOS · 2</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Después actuar: /compact, /clear y /btw</a:t>
            </a:r>
            <a:endParaRPr lang="en-US" sz="3200" dirty="0"/>
          </a:p>
        </p:txBody>
      </p:sp>
      <p:sp>
        <p:nvSpPr>
          <p:cNvPr id="4" name="Shape 2"/>
          <p:cNvSpPr/>
          <p:nvPr/>
        </p:nvSpPr>
        <p:spPr>
          <a:xfrm>
            <a:off x="777240" y="1691640"/>
            <a:ext cx="3332378" cy="3703320"/>
          </a:xfrm>
          <a:prstGeom prst="roundRect">
            <a:avLst>
              <a:gd name="adj" fmla="val 2744"/>
            </a:avLst>
          </a:prstGeom>
          <a:solidFill>
            <a:srgbClr val="1A212B"/>
          </a:solidFill>
          <a:ln w="12700">
            <a:solidFill>
              <a:srgbClr val="2E3A48"/>
            </a:solidFill>
            <a:prstDash val="solid"/>
          </a:ln>
        </p:spPr>
      </p:sp>
      <p:sp>
        <p:nvSpPr>
          <p:cNvPr id="5" name="Shape 3"/>
          <p:cNvSpPr/>
          <p:nvPr/>
        </p:nvSpPr>
        <p:spPr>
          <a:xfrm>
            <a:off x="1069848" y="1938528"/>
            <a:ext cx="1645920" cy="438912"/>
          </a:xfrm>
          <a:prstGeom prst="roundRect">
            <a:avLst>
              <a:gd name="adj" fmla="val 20833"/>
            </a:avLst>
          </a:prstGeom>
          <a:solidFill>
            <a:srgbClr val="0E1117"/>
          </a:solidFill>
          <a:ln w="12700">
            <a:solidFill>
              <a:srgbClr val="E8734A"/>
            </a:solidFill>
            <a:prstDash val="solid"/>
          </a:ln>
        </p:spPr>
      </p:sp>
      <p:sp>
        <p:nvSpPr>
          <p:cNvPr id="6" name="Text 4"/>
          <p:cNvSpPr txBox="1"/>
          <p:nvPr/>
        </p:nvSpPr>
        <p:spPr>
          <a:xfrm>
            <a:off x="1069848" y="1938528"/>
            <a:ext cx="1645920" cy="438912"/>
          </a:xfrm>
          <a:prstGeom prst="rect">
            <a:avLst/>
          </a:prstGeom>
          <a:noFill/>
          <a:ln/>
        </p:spPr>
        <p:txBody>
          <a:bodyPr wrap="square" lIns="0" tIns="0" rIns="0" bIns="0" rtlCol="0" anchor="ctr"/>
          <a:lstStyle/>
          <a:p>
            <a:pPr algn="ctr" indent="0" marL="0">
              <a:buNone/>
            </a:pPr>
            <a:r>
              <a:rPr lang="en-US" sz="1500" b="1" dirty="0">
                <a:solidFill>
                  <a:srgbClr val="E8734A"/>
                </a:solidFill>
                <a:latin typeface="Courier New" pitchFamily="34" charset="0"/>
                <a:ea typeface="Courier New" pitchFamily="34" charset="-122"/>
                <a:cs typeface="Courier New" pitchFamily="34" charset="-120"/>
              </a:rPr>
              <a:t>/compact</a:t>
            </a:r>
            <a:endParaRPr lang="en-US" sz="1500" dirty="0"/>
          </a:p>
        </p:txBody>
      </p:sp>
      <p:sp>
        <p:nvSpPr>
          <p:cNvPr id="7" name="Text 5"/>
          <p:cNvSpPr txBox="1"/>
          <p:nvPr/>
        </p:nvSpPr>
        <p:spPr>
          <a:xfrm>
            <a:off x="1069848" y="2487168"/>
            <a:ext cx="2747162" cy="310896"/>
          </a:xfrm>
          <a:prstGeom prst="rect">
            <a:avLst/>
          </a:prstGeom>
          <a:noFill/>
          <a:ln/>
        </p:spPr>
        <p:txBody>
          <a:bodyPr wrap="square" lIns="0" tIns="0" rIns="0" bIns="0" rtlCol="0" anchor="t"/>
          <a:lstStyle/>
          <a:p>
            <a:pPr indent="0" marL="0">
              <a:buNone/>
            </a:pPr>
            <a:r>
              <a:rPr lang="en-US" sz="1600" b="1" dirty="0">
                <a:solidFill>
                  <a:srgbClr val="E9EDF2"/>
                </a:solidFill>
                <a:latin typeface="Arial" pitchFamily="34" charset="0"/>
                <a:ea typeface="Arial" pitchFamily="34" charset="-122"/>
                <a:cs typeface="Arial" pitchFamily="34" charset="-120"/>
              </a:rPr>
              <a:t>Resumir y seguir</a:t>
            </a:r>
            <a:endParaRPr lang="en-US" sz="1600" dirty="0"/>
          </a:p>
        </p:txBody>
      </p:sp>
      <p:sp>
        <p:nvSpPr>
          <p:cNvPr id="8" name="Text 6"/>
          <p:cNvSpPr txBox="1"/>
          <p:nvPr/>
        </p:nvSpPr>
        <p:spPr>
          <a:xfrm>
            <a:off x="1069848" y="2871216"/>
            <a:ext cx="2747162" cy="868680"/>
          </a:xfrm>
          <a:prstGeom prst="rect">
            <a:avLst/>
          </a:prstGeom>
          <a:noFill/>
          <a:ln/>
        </p:spPr>
        <p:txBody>
          <a:bodyPr wrap="square" lIns="0" tIns="0" rIns="0" bIns="0" rtlCol="0" anchor="t"/>
          <a:lstStyle/>
          <a:p>
            <a:pPr indent="0" marL="0">
              <a:lnSpc>
                <a:spcPts val="1800"/>
              </a:lnSpc>
              <a:buNone/>
            </a:pPr>
            <a:r>
              <a:rPr lang="en-US" sz="1300" dirty="0">
                <a:solidFill>
                  <a:srgbClr val="E9EDF2"/>
                </a:solidFill>
                <a:latin typeface="Calibri" pitchFamily="34" charset="0"/>
                <a:ea typeface="Calibri" pitchFamily="34" charset="-122"/>
                <a:cs typeface="Calibri" pitchFamily="34" charset="-120"/>
              </a:rPr>
              <a:t>Libera espacio resumiendo la conversación. Conserva las reglas, las skills y los archivos de memoria.</a:t>
            </a:r>
            <a:endParaRPr lang="en-US" sz="1300" dirty="0"/>
          </a:p>
        </p:txBody>
      </p:sp>
      <p:sp>
        <p:nvSpPr>
          <p:cNvPr id="9" name="Text 7"/>
          <p:cNvSpPr txBox="1"/>
          <p:nvPr/>
        </p:nvSpPr>
        <p:spPr>
          <a:xfrm>
            <a:off x="1069848" y="3785616"/>
            <a:ext cx="2747162" cy="658368"/>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Acepta instrucciones: /compact enfocate en los cambios de la API</a:t>
            </a:r>
            <a:endParaRPr lang="en-US" sz="1200" dirty="0"/>
          </a:p>
        </p:txBody>
      </p:sp>
      <p:sp>
        <p:nvSpPr>
          <p:cNvPr id="10" name="Shape 8"/>
          <p:cNvSpPr/>
          <p:nvPr/>
        </p:nvSpPr>
        <p:spPr>
          <a:xfrm>
            <a:off x="1069848" y="4498848"/>
            <a:ext cx="2747162" cy="658368"/>
          </a:xfrm>
          <a:prstGeom prst="roundRect">
            <a:avLst>
              <a:gd name="adj" fmla="val 13889"/>
            </a:avLst>
          </a:prstGeom>
          <a:solidFill>
            <a:srgbClr val="222B37"/>
          </a:solidFill>
          <a:ln w="12700">
            <a:solidFill>
              <a:srgbClr val="2E3A48"/>
            </a:solidFill>
            <a:prstDash val="solid"/>
          </a:ln>
        </p:spPr>
      </p:sp>
      <p:sp>
        <p:nvSpPr>
          <p:cNvPr id="11" name="Text 9"/>
          <p:cNvSpPr txBox="1"/>
          <p:nvPr/>
        </p:nvSpPr>
        <p:spPr>
          <a:xfrm>
            <a:off x="1234440" y="4498848"/>
            <a:ext cx="2417978" cy="658368"/>
          </a:xfrm>
          <a:prstGeom prst="rect">
            <a:avLst/>
          </a:prstGeom>
          <a:noFill/>
          <a:ln/>
        </p:spPr>
        <p:txBody>
          <a:bodyPr wrap="square" lIns="0" tIns="0" rIns="0" bIns="0" rtlCol="0" anchor="ctr"/>
          <a:lstStyle/>
          <a:p>
            <a:pPr indent="0" marL="0">
              <a:buNone/>
            </a:pPr>
            <a:r>
              <a:rPr lang="en-US" sz="1200" b="1" dirty="0">
                <a:solidFill>
                  <a:srgbClr val="E8734A"/>
                </a:solidFill>
                <a:latin typeface="Calibri" pitchFamily="34" charset="0"/>
                <a:ea typeface="Calibri" pitchFamily="34" charset="-122"/>
                <a:cs typeface="Calibri" pitchFamily="34" charset="-120"/>
              </a:rPr>
              <a:t>Cuándo: Seguís en la misma tarea pero te quedaste sin aire.</a:t>
            </a:r>
            <a:endParaRPr lang="en-US" sz="1200" dirty="0"/>
          </a:p>
        </p:txBody>
      </p:sp>
      <p:sp>
        <p:nvSpPr>
          <p:cNvPr id="12" name="Shape 10"/>
          <p:cNvSpPr/>
          <p:nvPr/>
        </p:nvSpPr>
        <p:spPr>
          <a:xfrm>
            <a:off x="4429658" y="1691640"/>
            <a:ext cx="3332378" cy="3703320"/>
          </a:xfrm>
          <a:prstGeom prst="roundRect">
            <a:avLst>
              <a:gd name="adj" fmla="val 2744"/>
            </a:avLst>
          </a:prstGeom>
          <a:solidFill>
            <a:srgbClr val="1A212B"/>
          </a:solidFill>
          <a:ln w="12700">
            <a:solidFill>
              <a:srgbClr val="2E3A48"/>
            </a:solidFill>
            <a:prstDash val="solid"/>
          </a:ln>
        </p:spPr>
      </p:sp>
      <p:sp>
        <p:nvSpPr>
          <p:cNvPr id="13" name="Shape 11"/>
          <p:cNvSpPr/>
          <p:nvPr/>
        </p:nvSpPr>
        <p:spPr>
          <a:xfrm>
            <a:off x="4722266" y="1938528"/>
            <a:ext cx="1645920" cy="438912"/>
          </a:xfrm>
          <a:prstGeom prst="roundRect">
            <a:avLst>
              <a:gd name="adj" fmla="val 20833"/>
            </a:avLst>
          </a:prstGeom>
          <a:solidFill>
            <a:srgbClr val="0E1117"/>
          </a:solidFill>
          <a:ln w="12700">
            <a:solidFill>
              <a:srgbClr val="4FD1C5"/>
            </a:solidFill>
            <a:prstDash val="solid"/>
          </a:ln>
        </p:spPr>
      </p:sp>
      <p:sp>
        <p:nvSpPr>
          <p:cNvPr id="14" name="Text 12"/>
          <p:cNvSpPr txBox="1"/>
          <p:nvPr/>
        </p:nvSpPr>
        <p:spPr>
          <a:xfrm>
            <a:off x="4722266" y="1938528"/>
            <a:ext cx="1645920" cy="438912"/>
          </a:xfrm>
          <a:prstGeom prst="rect">
            <a:avLst/>
          </a:prstGeom>
          <a:noFill/>
          <a:ln/>
        </p:spPr>
        <p:txBody>
          <a:bodyPr wrap="square" lIns="0" tIns="0" rIns="0" bIns="0" rtlCol="0" anchor="ctr"/>
          <a:lstStyle/>
          <a:p>
            <a:pPr algn="ctr" indent="0" marL="0">
              <a:buNone/>
            </a:pPr>
            <a:r>
              <a:rPr lang="en-US" sz="1500" b="1" dirty="0">
                <a:solidFill>
                  <a:srgbClr val="4FD1C5"/>
                </a:solidFill>
                <a:latin typeface="Courier New" pitchFamily="34" charset="0"/>
                <a:ea typeface="Courier New" pitchFamily="34" charset="-122"/>
                <a:cs typeface="Courier New" pitchFamily="34" charset="-120"/>
              </a:rPr>
              <a:t>/clear</a:t>
            </a:r>
            <a:endParaRPr lang="en-US" sz="1500" dirty="0"/>
          </a:p>
        </p:txBody>
      </p:sp>
      <p:sp>
        <p:nvSpPr>
          <p:cNvPr id="15" name="Text 13"/>
          <p:cNvSpPr txBox="1"/>
          <p:nvPr/>
        </p:nvSpPr>
        <p:spPr>
          <a:xfrm>
            <a:off x="4722266" y="2487168"/>
            <a:ext cx="2747162" cy="310896"/>
          </a:xfrm>
          <a:prstGeom prst="rect">
            <a:avLst/>
          </a:prstGeom>
          <a:noFill/>
          <a:ln/>
        </p:spPr>
        <p:txBody>
          <a:bodyPr wrap="square" lIns="0" tIns="0" rIns="0" bIns="0" rtlCol="0" anchor="t"/>
          <a:lstStyle/>
          <a:p>
            <a:pPr indent="0" marL="0">
              <a:buNone/>
            </a:pPr>
            <a:r>
              <a:rPr lang="en-US" sz="1600" b="1" dirty="0">
                <a:solidFill>
                  <a:srgbClr val="E9EDF2"/>
                </a:solidFill>
                <a:latin typeface="Arial" pitchFamily="34" charset="0"/>
                <a:ea typeface="Arial" pitchFamily="34" charset="-122"/>
                <a:cs typeface="Arial" pitchFamily="34" charset="-120"/>
              </a:rPr>
              <a:t>Empezar de cero</a:t>
            </a:r>
            <a:endParaRPr lang="en-US" sz="1600" dirty="0"/>
          </a:p>
        </p:txBody>
      </p:sp>
      <p:sp>
        <p:nvSpPr>
          <p:cNvPr id="16" name="Text 14"/>
          <p:cNvSpPr txBox="1"/>
          <p:nvPr/>
        </p:nvSpPr>
        <p:spPr>
          <a:xfrm>
            <a:off x="4722266" y="2871216"/>
            <a:ext cx="2747162" cy="868680"/>
          </a:xfrm>
          <a:prstGeom prst="rect">
            <a:avLst/>
          </a:prstGeom>
          <a:noFill/>
          <a:ln/>
        </p:spPr>
        <p:txBody>
          <a:bodyPr wrap="square" lIns="0" tIns="0" rIns="0" bIns="0" rtlCol="0" anchor="t"/>
          <a:lstStyle/>
          <a:p>
            <a:pPr indent="0" marL="0">
              <a:lnSpc>
                <a:spcPts val="1800"/>
              </a:lnSpc>
              <a:buNone/>
            </a:pPr>
            <a:r>
              <a:rPr lang="en-US" sz="1300" dirty="0">
                <a:solidFill>
                  <a:srgbClr val="E9EDF2"/>
                </a:solidFill>
                <a:latin typeface="Calibri" pitchFamily="34" charset="0"/>
                <a:ea typeface="Calibri" pitchFamily="34" charset="-122"/>
                <a:cs typeface="Calibri" pitchFamily="34" charset="-120"/>
              </a:rPr>
              <a:t>Reinicia con contexto vacío y arranca una conversación nueva. Se pierde todo el historial anterior.</a:t>
            </a:r>
            <a:endParaRPr lang="en-US" sz="1300" dirty="0"/>
          </a:p>
        </p:txBody>
      </p:sp>
      <p:sp>
        <p:nvSpPr>
          <p:cNvPr id="17" name="Text 15"/>
          <p:cNvSpPr txBox="1"/>
          <p:nvPr/>
        </p:nvSpPr>
        <p:spPr>
          <a:xfrm>
            <a:off x="4722266" y="3785616"/>
            <a:ext cx="2747162" cy="658368"/>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Alias: /reset, /new. Podés etiquetar la sesión anterior y volver a ella con /resume.</a:t>
            </a:r>
            <a:endParaRPr lang="en-US" sz="1200" dirty="0"/>
          </a:p>
        </p:txBody>
      </p:sp>
      <p:sp>
        <p:nvSpPr>
          <p:cNvPr id="18" name="Shape 16"/>
          <p:cNvSpPr/>
          <p:nvPr/>
        </p:nvSpPr>
        <p:spPr>
          <a:xfrm>
            <a:off x="4722266" y="4498848"/>
            <a:ext cx="2747162" cy="658368"/>
          </a:xfrm>
          <a:prstGeom prst="roundRect">
            <a:avLst>
              <a:gd name="adj" fmla="val 13889"/>
            </a:avLst>
          </a:prstGeom>
          <a:solidFill>
            <a:srgbClr val="222B37"/>
          </a:solidFill>
          <a:ln w="12700">
            <a:solidFill>
              <a:srgbClr val="2E3A48"/>
            </a:solidFill>
            <a:prstDash val="solid"/>
          </a:ln>
        </p:spPr>
      </p:sp>
      <p:sp>
        <p:nvSpPr>
          <p:cNvPr id="19" name="Text 17"/>
          <p:cNvSpPr txBox="1"/>
          <p:nvPr/>
        </p:nvSpPr>
        <p:spPr>
          <a:xfrm>
            <a:off x="4886858" y="4498848"/>
            <a:ext cx="2417978" cy="658368"/>
          </a:xfrm>
          <a:prstGeom prst="rect">
            <a:avLst/>
          </a:prstGeom>
          <a:noFill/>
          <a:ln/>
        </p:spPr>
        <p:txBody>
          <a:bodyPr wrap="square" lIns="0" tIns="0" rIns="0" bIns="0" rtlCol="0" anchor="ctr"/>
          <a:lstStyle/>
          <a:p>
            <a:pPr indent="0" marL="0">
              <a:buNone/>
            </a:pPr>
            <a:r>
              <a:rPr lang="en-US" sz="1200" b="1" dirty="0">
                <a:solidFill>
                  <a:srgbClr val="4FD1C5"/>
                </a:solidFill>
                <a:latin typeface="Calibri" pitchFamily="34" charset="0"/>
                <a:ea typeface="Calibri" pitchFamily="34" charset="-122"/>
                <a:cs typeface="Calibri" pitchFamily="34" charset="-120"/>
              </a:rPr>
              <a:t>Cuándo: Cambiás de tarea y lo anterior ya no aporta nada.</a:t>
            </a:r>
            <a:endParaRPr lang="en-US" sz="1200" dirty="0"/>
          </a:p>
        </p:txBody>
      </p:sp>
      <p:sp>
        <p:nvSpPr>
          <p:cNvPr id="20" name="Shape 18"/>
          <p:cNvSpPr/>
          <p:nvPr/>
        </p:nvSpPr>
        <p:spPr>
          <a:xfrm>
            <a:off x="8082077" y="1691640"/>
            <a:ext cx="3332378" cy="3703320"/>
          </a:xfrm>
          <a:prstGeom prst="roundRect">
            <a:avLst>
              <a:gd name="adj" fmla="val 2744"/>
            </a:avLst>
          </a:prstGeom>
          <a:solidFill>
            <a:srgbClr val="1A212B"/>
          </a:solidFill>
          <a:ln w="12700">
            <a:solidFill>
              <a:srgbClr val="2E3A48"/>
            </a:solidFill>
            <a:prstDash val="solid"/>
          </a:ln>
        </p:spPr>
      </p:sp>
      <p:sp>
        <p:nvSpPr>
          <p:cNvPr id="21" name="Shape 19"/>
          <p:cNvSpPr/>
          <p:nvPr/>
        </p:nvSpPr>
        <p:spPr>
          <a:xfrm>
            <a:off x="8374685" y="1938528"/>
            <a:ext cx="1645920" cy="438912"/>
          </a:xfrm>
          <a:prstGeom prst="roundRect">
            <a:avLst>
              <a:gd name="adj" fmla="val 20833"/>
            </a:avLst>
          </a:prstGeom>
          <a:solidFill>
            <a:srgbClr val="0E1117"/>
          </a:solidFill>
          <a:ln w="12700">
            <a:solidFill>
              <a:srgbClr val="F2C94C"/>
            </a:solidFill>
            <a:prstDash val="solid"/>
          </a:ln>
        </p:spPr>
      </p:sp>
      <p:sp>
        <p:nvSpPr>
          <p:cNvPr id="22" name="Text 20"/>
          <p:cNvSpPr txBox="1"/>
          <p:nvPr/>
        </p:nvSpPr>
        <p:spPr>
          <a:xfrm>
            <a:off x="8374685" y="1938528"/>
            <a:ext cx="1645920" cy="438912"/>
          </a:xfrm>
          <a:prstGeom prst="rect">
            <a:avLst/>
          </a:prstGeom>
          <a:noFill/>
          <a:ln/>
        </p:spPr>
        <p:txBody>
          <a:bodyPr wrap="square" lIns="0" tIns="0" rIns="0" bIns="0" rtlCol="0" anchor="ctr"/>
          <a:lstStyle/>
          <a:p>
            <a:pPr algn="ctr" indent="0" marL="0">
              <a:buNone/>
            </a:pPr>
            <a:r>
              <a:rPr lang="en-US" sz="1500" b="1" dirty="0">
                <a:solidFill>
                  <a:srgbClr val="F2C94C"/>
                </a:solidFill>
                <a:latin typeface="Courier New" pitchFamily="34" charset="0"/>
                <a:ea typeface="Courier New" pitchFamily="34" charset="-122"/>
                <a:cs typeface="Courier New" pitchFamily="34" charset="-120"/>
              </a:rPr>
              <a:t>/btw</a:t>
            </a:r>
            <a:endParaRPr lang="en-US" sz="1500" dirty="0"/>
          </a:p>
        </p:txBody>
      </p:sp>
      <p:sp>
        <p:nvSpPr>
          <p:cNvPr id="23" name="Text 21"/>
          <p:cNvSpPr txBox="1"/>
          <p:nvPr/>
        </p:nvSpPr>
        <p:spPr>
          <a:xfrm>
            <a:off x="8374685" y="2487168"/>
            <a:ext cx="2747162" cy="310896"/>
          </a:xfrm>
          <a:prstGeom prst="rect">
            <a:avLst/>
          </a:prstGeom>
          <a:noFill/>
          <a:ln/>
        </p:spPr>
        <p:txBody>
          <a:bodyPr wrap="square" lIns="0" tIns="0" rIns="0" bIns="0" rtlCol="0" anchor="t"/>
          <a:lstStyle/>
          <a:p>
            <a:pPr indent="0" marL="0">
              <a:buNone/>
            </a:pPr>
            <a:r>
              <a:rPr lang="en-US" sz="1600" b="1" dirty="0">
                <a:solidFill>
                  <a:srgbClr val="E9EDF2"/>
                </a:solidFill>
                <a:latin typeface="Arial" pitchFamily="34" charset="0"/>
                <a:ea typeface="Arial" pitchFamily="34" charset="-122"/>
                <a:cs typeface="Arial" pitchFamily="34" charset="-120"/>
              </a:rPr>
              <a:t>Preguntar sin ensuciar</a:t>
            </a:r>
            <a:endParaRPr lang="en-US" sz="1600" dirty="0"/>
          </a:p>
        </p:txBody>
      </p:sp>
      <p:sp>
        <p:nvSpPr>
          <p:cNvPr id="24" name="Text 22"/>
          <p:cNvSpPr txBox="1"/>
          <p:nvPr/>
        </p:nvSpPr>
        <p:spPr>
          <a:xfrm>
            <a:off x="8374685" y="2871216"/>
            <a:ext cx="2747162" cy="868680"/>
          </a:xfrm>
          <a:prstGeom prst="rect">
            <a:avLst/>
          </a:prstGeom>
          <a:noFill/>
          <a:ln/>
        </p:spPr>
        <p:txBody>
          <a:bodyPr wrap="square" lIns="0" tIns="0" rIns="0" bIns="0" rtlCol="0" anchor="t"/>
          <a:lstStyle/>
          <a:p>
            <a:pPr indent="0" marL="0">
              <a:lnSpc>
                <a:spcPts val="1800"/>
              </a:lnSpc>
              <a:buNone/>
            </a:pPr>
            <a:r>
              <a:rPr lang="en-US" sz="1300" dirty="0">
                <a:solidFill>
                  <a:srgbClr val="E9EDF2"/>
                </a:solidFill>
                <a:latin typeface="Calibri" pitchFamily="34" charset="0"/>
                <a:ea typeface="Calibri" pitchFamily="34" charset="-122"/>
                <a:cs typeface="Calibri" pitchFamily="34" charset="-120"/>
              </a:rPr>
              <a:t>Hace una consulta aparte: la respuesta llega aislada y no se queda en el historial de la conversación.</a:t>
            </a:r>
            <a:endParaRPr lang="en-US" sz="1300" dirty="0"/>
          </a:p>
        </p:txBody>
      </p:sp>
      <p:sp>
        <p:nvSpPr>
          <p:cNvPr id="25" name="Text 23"/>
          <p:cNvSpPr txBox="1"/>
          <p:nvPr/>
        </p:nvSpPr>
        <p:spPr>
          <a:xfrm>
            <a:off x="8374685" y="3785616"/>
            <a:ext cx="2747162" cy="658368"/>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Previene en vez de limpiar: lo que nunca entró al contexto no hay que compactarlo.</a:t>
            </a:r>
            <a:endParaRPr lang="en-US" sz="1200" dirty="0"/>
          </a:p>
        </p:txBody>
      </p:sp>
      <p:sp>
        <p:nvSpPr>
          <p:cNvPr id="26" name="Shape 24"/>
          <p:cNvSpPr/>
          <p:nvPr/>
        </p:nvSpPr>
        <p:spPr>
          <a:xfrm>
            <a:off x="8374685" y="4498848"/>
            <a:ext cx="2747162" cy="658368"/>
          </a:xfrm>
          <a:prstGeom prst="roundRect">
            <a:avLst>
              <a:gd name="adj" fmla="val 13889"/>
            </a:avLst>
          </a:prstGeom>
          <a:solidFill>
            <a:srgbClr val="222B37"/>
          </a:solidFill>
          <a:ln w="12700">
            <a:solidFill>
              <a:srgbClr val="2E3A48"/>
            </a:solidFill>
            <a:prstDash val="solid"/>
          </a:ln>
        </p:spPr>
      </p:sp>
      <p:sp>
        <p:nvSpPr>
          <p:cNvPr id="27" name="Text 25"/>
          <p:cNvSpPr txBox="1"/>
          <p:nvPr/>
        </p:nvSpPr>
        <p:spPr>
          <a:xfrm>
            <a:off x="8539277" y="4498848"/>
            <a:ext cx="2417978" cy="658368"/>
          </a:xfrm>
          <a:prstGeom prst="rect">
            <a:avLst/>
          </a:prstGeom>
          <a:noFill/>
          <a:ln/>
        </p:spPr>
        <p:txBody>
          <a:bodyPr wrap="square" lIns="0" tIns="0" rIns="0" bIns="0" rtlCol="0" anchor="ctr"/>
          <a:lstStyle/>
          <a:p>
            <a:pPr indent="0" marL="0">
              <a:buNone/>
            </a:pPr>
            <a:r>
              <a:rPr lang="en-US" sz="1200" b="1" dirty="0">
                <a:solidFill>
                  <a:srgbClr val="F2C94C"/>
                </a:solidFill>
                <a:latin typeface="Calibri" pitchFamily="34" charset="0"/>
                <a:ea typeface="Calibri" pitchFamily="34" charset="-122"/>
                <a:cs typeface="Calibri" pitchFamily="34" charset="-120"/>
              </a:rPr>
              <a:t>Cuándo: Una duda puntual en el medio de otra tarea.</a:t>
            </a:r>
            <a:endParaRPr lang="en-US" sz="1200" dirty="0"/>
          </a:p>
        </p:txBody>
      </p:sp>
      <p:sp>
        <p:nvSpPr>
          <p:cNvPr id="28" name="Shape 26"/>
          <p:cNvSpPr/>
          <p:nvPr/>
        </p:nvSpPr>
        <p:spPr>
          <a:xfrm>
            <a:off x="777240" y="5596128"/>
            <a:ext cx="10637215" cy="822960"/>
          </a:xfrm>
          <a:prstGeom prst="roundRect">
            <a:avLst>
              <a:gd name="adj" fmla="val 11111"/>
            </a:avLst>
          </a:prstGeom>
          <a:solidFill>
            <a:srgbClr val="1A212B"/>
          </a:solidFill>
          <a:ln w="12700">
            <a:solidFill>
              <a:srgbClr val="2E3A48"/>
            </a:solidFill>
            <a:prstDash val="solid"/>
          </a:ln>
        </p:spPr>
      </p:sp>
      <p:sp>
        <p:nvSpPr>
          <p:cNvPr id="29" name="Text 27"/>
          <p:cNvSpPr txBox="1"/>
          <p:nvPr/>
        </p:nvSpPr>
        <p:spPr>
          <a:xfrm>
            <a:off x="1097280" y="5705856"/>
            <a:ext cx="2743200" cy="256032"/>
          </a:xfrm>
          <a:prstGeom prst="rect">
            <a:avLst/>
          </a:prstGeom>
          <a:noFill/>
          <a:ln/>
        </p:spPr>
        <p:txBody>
          <a:bodyPr wrap="square" lIns="0" tIns="0" rIns="0" bIns="0" rtlCol="0" anchor="ctr"/>
          <a:lstStyle/>
          <a:p>
            <a:pPr indent="0" marL="0">
              <a:buNone/>
            </a:pPr>
            <a:r>
              <a:rPr lang="en-US" sz="1350" b="1" dirty="0">
                <a:solidFill>
                  <a:srgbClr val="F2C94C"/>
                </a:solidFill>
                <a:latin typeface="Arial" pitchFamily="34" charset="0"/>
                <a:ea typeface="Arial" pitchFamily="34" charset="-122"/>
                <a:cs typeface="Arial" pitchFamily="34" charset="-120"/>
              </a:rPr>
              <a:t>Auto-compactación</a:t>
            </a:r>
            <a:endParaRPr lang="en-US" sz="1350" dirty="0"/>
          </a:p>
        </p:txBody>
      </p:sp>
      <p:sp>
        <p:nvSpPr>
          <p:cNvPr id="30" name="Text 28"/>
          <p:cNvSpPr txBox="1"/>
          <p:nvPr/>
        </p:nvSpPr>
        <p:spPr>
          <a:xfrm>
            <a:off x="1097280" y="5971032"/>
            <a:ext cx="9997135" cy="329184"/>
          </a:xfrm>
          <a:prstGeom prst="rect">
            <a:avLst/>
          </a:prstGeom>
          <a:noFill/>
          <a:ln/>
        </p:spPr>
        <p:txBody>
          <a:bodyPr wrap="square" lIns="0" tIns="0" rIns="0" bIns="0" rtlCol="0" anchor="t"/>
          <a:lstStyle/>
          <a:p>
            <a:pPr indent="0" marL="0">
              <a:buNone/>
            </a:pPr>
            <a:r>
              <a:rPr lang="en-US" sz="1250" dirty="0">
                <a:solidFill>
                  <a:srgbClr val="97A3B2"/>
                </a:solidFill>
                <a:latin typeface="Calibri" pitchFamily="34" charset="0"/>
                <a:ea typeface="Calibri" pitchFamily="34" charset="-122"/>
                <a:cs typeface="Calibri" pitchFamily="34" charset="-120"/>
              </a:rPr>
              <a:t>Si no hacés nada, se dispara sola al acercarse al límite. Funciona, pero decide por vos qué resumir: es mejor compactar a propósito, con instrucciones, que dejar que ocurra en el peor momento.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PRÁCTICA</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Higiene de contexto: hábitos que rinden</a:t>
            </a:r>
            <a:endParaRPr lang="en-US" sz="3200" dirty="0"/>
          </a:p>
        </p:txBody>
      </p:sp>
      <p:sp>
        <p:nvSpPr>
          <p:cNvPr id="4" name="Shape 2"/>
          <p:cNvSpPr/>
          <p:nvPr/>
        </p:nvSpPr>
        <p:spPr>
          <a:xfrm>
            <a:off x="777240" y="1810512"/>
            <a:ext cx="5158588" cy="1280160"/>
          </a:xfrm>
          <a:prstGeom prst="roundRect">
            <a:avLst>
              <a:gd name="adj" fmla="val 7143"/>
            </a:avLst>
          </a:prstGeom>
          <a:solidFill>
            <a:srgbClr val="1A212B"/>
          </a:solidFill>
          <a:ln w="12700">
            <a:solidFill>
              <a:srgbClr val="2E3A48"/>
            </a:solidFill>
            <a:prstDash val="solid"/>
          </a:ln>
        </p:spPr>
      </p:sp>
      <p:sp>
        <p:nvSpPr>
          <p:cNvPr id="5" name="Shape 3"/>
          <p:cNvSpPr/>
          <p:nvPr/>
        </p:nvSpPr>
        <p:spPr>
          <a:xfrm>
            <a:off x="1069848" y="2084832"/>
            <a:ext cx="384048" cy="384048"/>
          </a:xfrm>
          <a:prstGeom prst="ellipse">
            <a:avLst/>
          </a:prstGeom>
          <a:solidFill>
            <a:srgbClr val="E8734A"/>
          </a:solidFill>
          <a:ln w="12700">
            <a:solidFill>
              <a:srgbClr val="E8734A"/>
            </a:solidFill>
            <a:prstDash val="solid"/>
          </a:ln>
        </p:spPr>
      </p:sp>
      <p:sp>
        <p:nvSpPr>
          <p:cNvPr id="6" name="Text 4"/>
          <p:cNvSpPr txBox="1"/>
          <p:nvPr/>
        </p:nvSpPr>
        <p:spPr>
          <a:xfrm>
            <a:off x="1069848" y="208483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645920" y="2066544"/>
            <a:ext cx="3969868" cy="292608"/>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Una tarea, una sesión</a:t>
            </a:r>
            <a:endParaRPr lang="en-US" sz="1500" dirty="0"/>
          </a:p>
        </p:txBody>
      </p:sp>
      <p:sp>
        <p:nvSpPr>
          <p:cNvPr id="8" name="Text 6"/>
          <p:cNvSpPr txBox="1"/>
          <p:nvPr/>
        </p:nvSpPr>
        <p:spPr>
          <a:xfrm>
            <a:off x="1645920" y="2414016"/>
            <a:ext cx="3969868" cy="566928"/>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/clear entre tareas no relacionadas. Es gratis y evita el 90% del contexto sucio.</a:t>
            </a:r>
            <a:endParaRPr lang="en-US" sz="1250" dirty="0"/>
          </a:p>
        </p:txBody>
      </p:sp>
      <p:sp>
        <p:nvSpPr>
          <p:cNvPr id="9" name="Shape 7"/>
          <p:cNvSpPr/>
          <p:nvPr/>
        </p:nvSpPr>
        <p:spPr>
          <a:xfrm>
            <a:off x="6255868" y="1810512"/>
            <a:ext cx="5158588" cy="1280160"/>
          </a:xfrm>
          <a:prstGeom prst="roundRect">
            <a:avLst>
              <a:gd name="adj" fmla="val 7143"/>
            </a:avLst>
          </a:prstGeom>
          <a:solidFill>
            <a:srgbClr val="1A212B"/>
          </a:solidFill>
          <a:ln w="12700">
            <a:solidFill>
              <a:srgbClr val="2E3A48"/>
            </a:solidFill>
            <a:prstDash val="solid"/>
          </a:ln>
        </p:spPr>
      </p:sp>
      <p:sp>
        <p:nvSpPr>
          <p:cNvPr id="10" name="Shape 8"/>
          <p:cNvSpPr/>
          <p:nvPr/>
        </p:nvSpPr>
        <p:spPr>
          <a:xfrm>
            <a:off x="6548476" y="2084832"/>
            <a:ext cx="384048" cy="384048"/>
          </a:xfrm>
          <a:prstGeom prst="ellipse">
            <a:avLst/>
          </a:prstGeom>
          <a:solidFill>
            <a:srgbClr val="4FD1C5"/>
          </a:solidFill>
          <a:ln w="12700">
            <a:solidFill>
              <a:srgbClr val="4FD1C5"/>
            </a:solidFill>
            <a:prstDash val="solid"/>
          </a:ln>
        </p:spPr>
      </p:sp>
      <p:sp>
        <p:nvSpPr>
          <p:cNvPr id="11" name="Text 9"/>
          <p:cNvSpPr txBox="1"/>
          <p:nvPr/>
        </p:nvSpPr>
        <p:spPr>
          <a:xfrm>
            <a:off x="6548476" y="208483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7124548" y="2066544"/>
            <a:ext cx="3969868" cy="292608"/>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Compactá a propósito</a:t>
            </a:r>
            <a:endParaRPr lang="en-US" sz="1500" dirty="0"/>
          </a:p>
        </p:txBody>
      </p:sp>
      <p:sp>
        <p:nvSpPr>
          <p:cNvPr id="13" name="Text 11"/>
          <p:cNvSpPr txBox="1"/>
          <p:nvPr/>
        </p:nvSpPr>
        <p:spPr>
          <a:xfrm>
            <a:off x="7124548" y="2414016"/>
            <a:ext cx="3969868" cy="566928"/>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Antes de un tramo largo, /compact con instrucciones sobre qué preservar.</a:t>
            </a:r>
            <a:endParaRPr lang="en-US" sz="1250" dirty="0"/>
          </a:p>
        </p:txBody>
      </p:sp>
      <p:sp>
        <p:nvSpPr>
          <p:cNvPr id="14" name="Shape 12"/>
          <p:cNvSpPr/>
          <p:nvPr/>
        </p:nvSpPr>
        <p:spPr>
          <a:xfrm>
            <a:off x="777240" y="3364992"/>
            <a:ext cx="5158588" cy="1280160"/>
          </a:xfrm>
          <a:prstGeom prst="roundRect">
            <a:avLst>
              <a:gd name="adj" fmla="val 7143"/>
            </a:avLst>
          </a:prstGeom>
          <a:solidFill>
            <a:srgbClr val="1A212B"/>
          </a:solidFill>
          <a:ln w="12700">
            <a:solidFill>
              <a:srgbClr val="2E3A48"/>
            </a:solidFill>
            <a:prstDash val="solid"/>
          </a:ln>
        </p:spPr>
      </p:sp>
      <p:sp>
        <p:nvSpPr>
          <p:cNvPr id="15" name="Shape 13"/>
          <p:cNvSpPr/>
          <p:nvPr/>
        </p:nvSpPr>
        <p:spPr>
          <a:xfrm>
            <a:off x="1069848" y="3639312"/>
            <a:ext cx="384048" cy="384048"/>
          </a:xfrm>
          <a:prstGeom prst="ellipse">
            <a:avLst/>
          </a:prstGeom>
          <a:solidFill>
            <a:srgbClr val="E8734A"/>
          </a:solidFill>
          <a:ln w="12700">
            <a:solidFill>
              <a:srgbClr val="E8734A"/>
            </a:solidFill>
            <a:prstDash val="solid"/>
          </a:ln>
        </p:spPr>
      </p:sp>
      <p:sp>
        <p:nvSpPr>
          <p:cNvPr id="16" name="Text 14"/>
          <p:cNvSpPr txBox="1"/>
          <p:nvPr/>
        </p:nvSpPr>
        <p:spPr>
          <a:xfrm>
            <a:off x="1069848" y="363931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1645920" y="3621024"/>
            <a:ext cx="3969868" cy="292608"/>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Reglas cortas y vigentes</a:t>
            </a:r>
            <a:endParaRPr lang="en-US" sz="1500" dirty="0"/>
          </a:p>
        </p:txBody>
      </p:sp>
      <p:sp>
        <p:nvSpPr>
          <p:cNvPr id="18" name="Text 16"/>
          <p:cNvSpPr txBox="1"/>
          <p:nvPr/>
        </p:nvSpPr>
        <p:spPr>
          <a:xfrm>
            <a:off x="1645920" y="3968496"/>
            <a:ext cx="3969868" cy="566928"/>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El CLAUDE.md se paga en cada turno. Si tiene reglas muertas, las pagás igual.</a:t>
            </a:r>
            <a:endParaRPr lang="en-US" sz="1250" dirty="0"/>
          </a:p>
        </p:txBody>
      </p:sp>
      <p:sp>
        <p:nvSpPr>
          <p:cNvPr id="19" name="Shape 17"/>
          <p:cNvSpPr/>
          <p:nvPr/>
        </p:nvSpPr>
        <p:spPr>
          <a:xfrm>
            <a:off x="6255868" y="3364992"/>
            <a:ext cx="5158588" cy="1280160"/>
          </a:xfrm>
          <a:prstGeom prst="roundRect">
            <a:avLst>
              <a:gd name="adj" fmla="val 7143"/>
            </a:avLst>
          </a:prstGeom>
          <a:solidFill>
            <a:srgbClr val="1A212B"/>
          </a:solidFill>
          <a:ln w="12700">
            <a:solidFill>
              <a:srgbClr val="2E3A48"/>
            </a:solidFill>
            <a:prstDash val="solid"/>
          </a:ln>
        </p:spPr>
      </p:sp>
      <p:sp>
        <p:nvSpPr>
          <p:cNvPr id="20" name="Shape 18"/>
          <p:cNvSpPr/>
          <p:nvPr/>
        </p:nvSpPr>
        <p:spPr>
          <a:xfrm>
            <a:off x="6548476" y="3639312"/>
            <a:ext cx="384048" cy="384048"/>
          </a:xfrm>
          <a:prstGeom prst="ellipse">
            <a:avLst/>
          </a:prstGeom>
          <a:solidFill>
            <a:srgbClr val="4FD1C5"/>
          </a:solidFill>
          <a:ln w="12700">
            <a:solidFill>
              <a:srgbClr val="4FD1C5"/>
            </a:solidFill>
            <a:prstDash val="solid"/>
          </a:ln>
        </p:spPr>
      </p:sp>
      <p:sp>
        <p:nvSpPr>
          <p:cNvPr id="21" name="Text 19"/>
          <p:cNvSpPr txBox="1"/>
          <p:nvPr/>
        </p:nvSpPr>
        <p:spPr>
          <a:xfrm>
            <a:off x="6548476" y="363931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7124548" y="3621024"/>
            <a:ext cx="3969868" cy="292608"/>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Delegá lo verboso a subagentes</a:t>
            </a:r>
            <a:endParaRPr lang="en-US" sz="1500" dirty="0"/>
          </a:p>
        </p:txBody>
      </p:sp>
      <p:sp>
        <p:nvSpPr>
          <p:cNvPr id="23" name="Text 21"/>
          <p:cNvSpPr txBox="1"/>
          <p:nvPr/>
        </p:nvSpPr>
        <p:spPr>
          <a:xfrm>
            <a:off x="7124548" y="3968496"/>
            <a:ext cx="3969868" cy="566928"/>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Una búsqueda amplia o un log enorme se procesa aparte y vuelve como resumen.</a:t>
            </a:r>
            <a:endParaRPr lang="en-US" sz="1250" dirty="0"/>
          </a:p>
        </p:txBody>
      </p:sp>
      <p:sp>
        <p:nvSpPr>
          <p:cNvPr id="24" name="Shape 22"/>
          <p:cNvSpPr/>
          <p:nvPr/>
        </p:nvSpPr>
        <p:spPr>
          <a:xfrm>
            <a:off x="777240" y="4919472"/>
            <a:ext cx="5158588" cy="1280160"/>
          </a:xfrm>
          <a:prstGeom prst="roundRect">
            <a:avLst>
              <a:gd name="adj" fmla="val 7143"/>
            </a:avLst>
          </a:prstGeom>
          <a:solidFill>
            <a:srgbClr val="1A212B"/>
          </a:solidFill>
          <a:ln w="12700">
            <a:solidFill>
              <a:srgbClr val="2E3A48"/>
            </a:solidFill>
            <a:prstDash val="solid"/>
          </a:ln>
        </p:spPr>
      </p:sp>
      <p:sp>
        <p:nvSpPr>
          <p:cNvPr id="25" name="Shape 23"/>
          <p:cNvSpPr/>
          <p:nvPr/>
        </p:nvSpPr>
        <p:spPr>
          <a:xfrm>
            <a:off x="1069848" y="5193792"/>
            <a:ext cx="384048" cy="384048"/>
          </a:xfrm>
          <a:prstGeom prst="ellipse">
            <a:avLst/>
          </a:prstGeom>
          <a:solidFill>
            <a:srgbClr val="E8734A"/>
          </a:solidFill>
          <a:ln w="12700">
            <a:solidFill>
              <a:srgbClr val="E8734A"/>
            </a:solidFill>
            <a:prstDash val="solid"/>
          </a:ln>
        </p:spPr>
      </p:sp>
      <p:sp>
        <p:nvSpPr>
          <p:cNvPr id="26" name="Text 24"/>
          <p:cNvSpPr txBox="1"/>
          <p:nvPr/>
        </p:nvSpPr>
        <p:spPr>
          <a:xfrm>
            <a:off x="1069848" y="519379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5</a:t>
            </a:r>
            <a:endParaRPr lang="en-US" sz="1400" dirty="0"/>
          </a:p>
        </p:txBody>
      </p:sp>
      <p:sp>
        <p:nvSpPr>
          <p:cNvPr id="27" name="Text 25"/>
          <p:cNvSpPr txBox="1"/>
          <p:nvPr/>
        </p:nvSpPr>
        <p:spPr>
          <a:xfrm>
            <a:off x="1645920" y="5175504"/>
            <a:ext cx="3969868" cy="292608"/>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Pedí archivos acotados</a:t>
            </a:r>
            <a:endParaRPr lang="en-US" sz="1500" dirty="0"/>
          </a:p>
        </p:txBody>
      </p:sp>
      <p:sp>
        <p:nvSpPr>
          <p:cNvPr id="28" name="Text 26"/>
          <p:cNvSpPr txBox="1"/>
          <p:nvPr/>
        </p:nvSpPr>
        <p:spPr>
          <a:xfrm>
            <a:off x="1645920" y="5522976"/>
            <a:ext cx="3969868" cy="566928"/>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Rangos de líneas o funciones puntuales en vez de 'leé todo el archivo'.</a:t>
            </a:r>
            <a:endParaRPr lang="en-US" sz="1250" dirty="0"/>
          </a:p>
        </p:txBody>
      </p:sp>
      <p:sp>
        <p:nvSpPr>
          <p:cNvPr id="29" name="Shape 27"/>
          <p:cNvSpPr/>
          <p:nvPr/>
        </p:nvSpPr>
        <p:spPr>
          <a:xfrm>
            <a:off x="6255868" y="4919472"/>
            <a:ext cx="5158588" cy="1280160"/>
          </a:xfrm>
          <a:prstGeom prst="roundRect">
            <a:avLst>
              <a:gd name="adj" fmla="val 7143"/>
            </a:avLst>
          </a:prstGeom>
          <a:solidFill>
            <a:srgbClr val="1A212B"/>
          </a:solidFill>
          <a:ln w="12700">
            <a:solidFill>
              <a:srgbClr val="2E3A48"/>
            </a:solidFill>
            <a:prstDash val="solid"/>
          </a:ln>
        </p:spPr>
      </p:sp>
      <p:sp>
        <p:nvSpPr>
          <p:cNvPr id="30" name="Shape 28"/>
          <p:cNvSpPr/>
          <p:nvPr/>
        </p:nvSpPr>
        <p:spPr>
          <a:xfrm>
            <a:off x="6548476" y="5193792"/>
            <a:ext cx="384048" cy="384048"/>
          </a:xfrm>
          <a:prstGeom prst="ellipse">
            <a:avLst/>
          </a:prstGeom>
          <a:solidFill>
            <a:srgbClr val="4FD1C5"/>
          </a:solidFill>
          <a:ln w="12700">
            <a:solidFill>
              <a:srgbClr val="4FD1C5"/>
            </a:solidFill>
            <a:prstDash val="solid"/>
          </a:ln>
        </p:spPr>
      </p:sp>
      <p:sp>
        <p:nvSpPr>
          <p:cNvPr id="31" name="Text 29"/>
          <p:cNvSpPr txBox="1"/>
          <p:nvPr/>
        </p:nvSpPr>
        <p:spPr>
          <a:xfrm>
            <a:off x="6548476" y="519379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6</a:t>
            </a:r>
            <a:endParaRPr lang="en-US" sz="1400" dirty="0"/>
          </a:p>
        </p:txBody>
      </p:sp>
      <p:sp>
        <p:nvSpPr>
          <p:cNvPr id="32" name="Text 30"/>
          <p:cNvSpPr txBox="1"/>
          <p:nvPr/>
        </p:nvSpPr>
        <p:spPr>
          <a:xfrm>
            <a:off x="7124548" y="5175504"/>
            <a:ext cx="3969868" cy="292608"/>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Cerrá los caminos muertos</a:t>
            </a:r>
            <a:endParaRPr lang="en-US" sz="1500" dirty="0"/>
          </a:p>
        </p:txBody>
      </p:sp>
      <p:sp>
        <p:nvSpPr>
          <p:cNvPr id="33" name="Text 31"/>
          <p:cNvSpPr txBox="1"/>
          <p:nvPr/>
        </p:nvSpPr>
        <p:spPr>
          <a:xfrm>
            <a:off x="7124548" y="5522976"/>
            <a:ext cx="3969868" cy="566928"/>
          </a:xfrm>
          <a:prstGeom prst="rect">
            <a:avLst/>
          </a:prstGeom>
          <a:noFill/>
          <a:ln/>
        </p:spPr>
        <p:txBody>
          <a:bodyPr wrap="square" lIns="0" tIns="0" rIns="0" bIns="0" rtlCol="0" anchor="t"/>
          <a:lstStyle/>
          <a:p>
            <a:pPr indent="0" marL="0">
              <a:lnSpc>
                <a:spcPts val="1700"/>
              </a:lnSpc>
              <a:buNone/>
            </a:pPr>
            <a:r>
              <a:rPr lang="en-US" sz="1250" dirty="0">
                <a:solidFill>
                  <a:srgbClr val="97A3B2"/>
                </a:solidFill>
                <a:latin typeface="Calibri" pitchFamily="34" charset="0"/>
                <a:ea typeface="Calibri" pitchFamily="34" charset="-122"/>
                <a:cs typeface="Calibri" pitchFamily="34" charset="-120"/>
              </a:rPr>
              <a:t>Si un enfoque se descartó, decilo explícito o limpiá: el agente no lo asume solo.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LA BATALLA CENTRAL</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Determinismo vs. no determinismo</a:t>
            </a:r>
            <a:endParaRPr lang="en-US" sz="3200" dirty="0"/>
          </a:p>
        </p:txBody>
      </p:sp>
      <p:sp>
        <p:nvSpPr>
          <p:cNvPr id="4" name="Shape 2"/>
          <p:cNvSpPr/>
          <p:nvPr/>
        </p:nvSpPr>
        <p:spPr>
          <a:xfrm>
            <a:off x="777240" y="1691640"/>
            <a:ext cx="5135728" cy="2286000"/>
          </a:xfrm>
          <a:prstGeom prst="roundRect">
            <a:avLst>
              <a:gd name="adj" fmla="val 4000"/>
            </a:avLst>
          </a:prstGeom>
          <a:solidFill>
            <a:srgbClr val="1A212B"/>
          </a:solidFill>
          <a:ln w="12700">
            <a:solidFill>
              <a:srgbClr val="2E3A48"/>
            </a:solidFill>
            <a:prstDash val="solid"/>
          </a:ln>
        </p:spPr>
      </p:sp>
      <p:sp>
        <p:nvSpPr>
          <p:cNvPr id="5" name="Shape 3"/>
          <p:cNvSpPr/>
          <p:nvPr/>
        </p:nvSpPr>
        <p:spPr>
          <a:xfrm>
            <a:off x="1124712" y="1938528"/>
            <a:ext cx="310896" cy="310896"/>
          </a:xfrm>
          <a:prstGeom prst="ellipse">
            <a:avLst/>
          </a:prstGeom>
          <a:solidFill>
            <a:srgbClr val="4FD1C5"/>
          </a:solidFill>
          <a:ln w="12700">
            <a:solidFill>
              <a:srgbClr val="4FD1C5"/>
            </a:solidFill>
            <a:prstDash val="solid"/>
          </a:ln>
        </p:spPr>
      </p:sp>
      <p:sp>
        <p:nvSpPr>
          <p:cNvPr id="6" name="Text 4"/>
          <p:cNvSpPr txBox="1"/>
          <p:nvPr/>
        </p:nvSpPr>
        <p:spPr>
          <a:xfrm>
            <a:off x="1600200" y="1920240"/>
            <a:ext cx="4038448" cy="347472"/>
          </a:xfrm>
          <a:prstGeom prst="rect">
            <a:avLst/>
          </a:prstGeom>
          <a:noFill/>
          <a:ln/>
        </p:spPr>
        <p:txBody>
          <a:bodyPr wrap="square" lIns="0" tIns="0" rIns="0" bIns="0" rtlCol="0" anchor="ctr"/>
          <a:lstStyle/>
          <a:p>
            <a:pPr indent="0" marL="0">
              <a:buNone/>
            </a:pPr>
            <a:r>
              <a:rPr lang="en-US" sz="1900" b="1" dirty="0">
                <a:solidFill>
                  <a:srgbClr val="4FD1C5"/>
                </a:solidFill>
                <a:latin typeface="Arial" pitchFamily="34" charset="0"/>
                <a:ea typeface="Arial" pitchFamily="34" charset="-122"/>
                <a:cs typeface="Arial" pitchFamily="34" charset="-120"/>
              </a:rPr>
              <a:t>Determinista</a:t>
            </a:r>
            <a:endParaRPr lang="en-US" sz="1900" dirty="0"/>
          </a:p>
        </p:txBody>
      </p:sp>
      <p:sp>
        <p:nvSpPr>
          <p:cNvPr id="7" name="Text 5"/>
          <p:cNvSpPr txBox="1"/>
          <p:nvPr/>
        </p:nvSpPr>
        <p:spPr>
          <a:xfrm>
            <a:off x="1124712" y="2395728"/>
            <a:ext cx="4440784" cy="310896"/>
          </a:xfrm>
          <a:prstGeom prst="rect">
            <a:avLst/>
          </a:prstGeom>
          <a:noFill/>
          <a:ln/>
        </p:spPr>
        <p:txBody>
          <a:bodyPr wrap="square" lIns="0" tIns="0" rIns="0" bIns="0" rtlCol="0" anchor="t"/>
          <a:lstStyle/>
          <a:p>
            <a:pPr indent="0" marL="0">
              <a:buNone/>
            </a:pPr>
            <a:r>
              <a:rPr lang="en-US" sz="1500" b="1" dirty="0">
                <a:solidFill>
                  <a:srgbClr val="E9EDF2"/>
                </a:solidFill>
                <a:latin typeface="Arial" pitchFamily="34" charset="0"/>
                <a:ea typeface="Arial" pitchFamily="34" charset="-122"/>
                <a:cs typeface="Arial" pitchFamily="34" charset="-120"/>
              </a:rPr>
              <a:t>Misma entrada → misma salida, siempre.</a:t>
            </a:r>
            <a:endParaRPr lang="en-US" sz="1500" dirty="0"/>
          </a:p>
        </p:txBody>
      </p:sp>
      <p:sp>
        <p:nvSpPr>
          <p:cNvPr id="8" name="Text 6"/>
          <p:cNvSpPr txBox="1"/>
          <p:nvPr/>
        </p:nvSpPr>
        <p:spPr>
          <a:xfrm>
            <a:off x="1124712" y="2779776"/>
            <a:ext cx="4440784" cy="1005840"/>
          </a:xfrm>
          <a:prstGeom prst="rect">
            <a:avLst/>
          </a:prstGeom>
          <a:noFill/>
          <a:ln/>
        </p:spPr>
        <p:txBody>
          <a:bodyPr wrap="square" lIns="0" tIns="0" rIns="0" bIns="0" rtlCol="0" anchor="t"/>
          <a:lstStyle/>
          <a:p>
            <a:pPr indent="0" marL="0">
              <a:lnSpc>
                <a:spcPts val="1800"/>
              </a:lnSpc>
              <a:buNone/>
            </a:pPr>
            <a:r>
              <a:rPr lang="en-US" sz="1300" dirty="0">
                <a:solidFill>
                  <a:srgbClr val="97A3B2"/>
                </a:solidFill>
                <a:latin typeface="Calibri" pitchFamily="34" charset="0"/>
                <a:ea typeface="Calibri" pitchFamily="34" charset="-122"/>
                <a:cs typeface="Calibri" pitchFamily="34" charset="-120"/>
              </a:rPr>
              <a:t>Un compilador, una función pura, una consulta SQL, un test. Se puede reproducir, verificar y auditar: si falla, falla igual las diez veces.</a:t>
            </a:r>
            <a:endParaRPr lang="en-US" sz="1300" dirty="0"/>
          </a:p>
        </p:txBody>
      </p:sp>
      <p:sp>
        <p:nvSpPr>
          <p:cNvPr id="9" name="Shape 7"/>
          <p:cNvSpPr/>
          <p:nvPr/>
        </p:nvSpPr>
        <p:spPr>
          <a:xfrm>
            <a:off x="6278728" y="1691640"/>
            <a:ext cx="5135728" cy="2286000"/>
          </a:xfrm>
          <a:prstGeom prst="roundRect">
            <a:avLst>
              <a:gd name="adj" fmla="val 4000"/>
            </a:avLst>
          </a:prstGeom>
          <a:solidFill>
            <a:srgbClr val="1A212B"/>
          </a:solidFill>
          <a:ln w="12700">
            <a:solidFill>
              <a:srgbClr val="2E3A48"/>
            </a:solidFill>
            <a:prstDash val="solid"/>
          </a:ln>
        </p:spPr>
      </p:sp>
      <p:sp>
        <p:nvSpPr>
          <p:cNvPr id="10" name="Shape 8"/>
          <p:cNvSpPr/>
          <p:nvPr/>
        </p:nvSpPr>
        <p:spPr>
          <a:xfrm>
            <a:off x="6626200" y="1938528"/>
            <a:ext cx="310896" cy="310896"/>
          </a:xfrm>
          <a:prstGeom prst="ellipse">
            <a:avLst/>
          </a:prstGeom>
          <a:solidFill>
            <a:srgbClr val="E8734A"/>
          </a:solidFill>
          <a:ln w="12700">
            <a:solidFill>
              <a:srgbClr val="E8734A"/>
            </a:solidFill>
            <a:prstDash val="solid"/>
          </a:ln>
        </p:spPr>
      </p:sp>
      <p:sp>
        <p:nvSpPr>
          <p:cNvPr id="11" name="Text 9"/>
          <p:cNvSpPr txBox="1"/>
          <p:nvPr/>
        </p:nvSpPr>
        <p:spPr>
          <a:xfrm>
            <a:off x="7101688" y="1920240"/>
            <a:ext cx="4038448" cy="347472"/>
          </a:xfrm>
          <a:prstGeom prst="rect">
            <a:avLst/>
          </a:prstGeom>
          <a:noFill/>
          <a:ln/>
        </p:spPr>
        <p:txBody>
          <a:bodyPr wrap="square" lIns="0" tIns="0" rIns="0" bIns="0" rtlCol="0" anchor="ctr"/>
          <a:lstStyle/>
          <a:p>
            <a:pPr indent="0" marL="0">
              <a:buNone/>
            </a:pPr>
            <a:r>
              <a:rPr lang="en-US" sz="1900" b="1" dirty="0">
                <a:solidFill>
                  <a:srgbClr val="E8734A"/>
                </a:solidFill>
                <a:latin typeface="Arial" pitchFamily="34" charset="0"/>
                <a:ea typeface="Arial" pitchFamily="34" charset="-122"/>
                <a:cs typeface="Arial" pitchFamily="34" charset="-120"/>
              </a:rPr>
              <a:t>No determinista</a:t>
            </a:r>
            <a:endParaRPr lang="en-US" sz="1900" dirty="0"/>
          </a:p>
        </p:txBody>
      </p:sp>
      <p:sp>
        <p:nvSpPr>
          <p:cNvPr id="12" name="Text 10"/>
          <p:cNvSpPr txBox="1"/>
          <p:nvPr/>
        </p:nvSpPr>
        <p:spPr>
          <a:xfrm>
            <a:off x="6626200" y="2395728"/>
            <a:ext cx="4440784" cy="310896"/>
          </a:xfrm>
          <a:prstGeom prst="rect">
            <a:avLst/>
          </a:prstGeom>
          <a:noFill/>
          <a:ln/>
        </p:spPr>
        <p:txBody>
          <a:bodyPr wrap="square" lIns="0" tIns="0" rIns="0" bIns="0" rtlCol="0" anchor="t"/>
          <a:lstStyle/>
          <a:p>
            <a:pPr indent="0" marL="0">
              <a:buNone/>
            </a:pPr>
            <a:r>
              <a:rPr lang="en-US" sz="1500" b="1" dirty="0">
                <a:solidFill>
                  <a:srgbClr val="E9EDF2"/>
                </a:solidFill>
                <a:latin typeface="Arial" pitchFamily="34" charset="0"/>
                <a:ea typeface="Arial" pitchFamily="34" charset="-122"/>
                <a:cs typeface="Arial" pitchFamily="34" charset="-120"/>
              </a:rPr>
              <a:t>Misma entrada → salidas distintas.</a:t>
            </a:r>
            <a:endParaRPr lang="en-US" sz="1500" dirty="0"/>
          </a:p>
        </p:txBody>
      </p:sp>
      <p:sp>
        <p:nvSpPr>
          <p:cNvPr id="13" name="Text 11"/>
          <p:cNvSpPr txBox="1"/>
          <p:nvPr/>
        </p:nvSpPr>
        <p:spPr>
          <a:xfrm>
            <a:off x="6626200" y="2779776"/>
            <a:ext cx="4440784" cy="1005840"/>
          </a:xfrm>
          <a:prstGeom prst="rect">
            <a:avLst/>
          </a:prstGeom>
          <a:noFill/>
          <a:ln/>
        </p:spPr>
        <p:txBody>
          <a:bodyPr wrap="square" lIns="0" tIns="0" rIns="0" bIns="0" rtlCol="0" anchor="t"/>
          <a:lstStyle/>
          <a:p>
            <a:pPr indent="0" marL="0">
              <a:lnSpc>
                <a:spcPts val="1800"/>
              </a:lnSpc>
              <a:buNone/>
            </a:pPr>
            <a:r>
              <a:rPr lang="en-US" sz="1300" dirty="0">
                <a:solidFill>
                  <a:srgbClr val="97A3B2"/>
                </a:solidFill>
                <a:latin typeface="Calibri" pitchFamily="34" charset="0"/>
                <a:ea typeface="Calibri" pitchFamily="34" charset="-122"/>
                <a:cs typeface="Calibri" pitchFamily="34" charset="-120"/>
              </a:rPr>
              <a:t>Un LLM elige cada token muestreando de una distribución de probabilidad. Bajar la temperatura reduce la variación, no la elimina — y además el contexto casi nunca es idéntico dos veces.</a:t>
            </a:r>
            <a:endParaRPr lang="en-US" sz="1300" dirty="0"/>
          </a:p>
        </p:txBody>
      </p:sp>
      <p:sp>
        <p:nvSpPr>
          <p:cNvPr id="14" name="Shape 12"/>
          <p:cNvSpPr/>
          <p:nvPr/>
        </p:nvSpPr>
        <p:spPr>
          <a:xfrm>
            <a:off x="777240" y="4160520"/>
            <a:ext cx="10637215" cy="621792"/>
          </a:xfrm>
          <a:prstGeom prst="roundRect">
            <a:avLst>
              <a:gd name="adj" fmla="val 14706"/>
            </a:avLst>
          </a:prstGeom>
          <a:solidFill>
            <a:srgbClr val="222B37"/>
          </a:solidFill>
          <a:ln w="12700">
            <a:solidFill>
              <a:srgbClr val="E8734A"/>
            </a:solidFill>
            <a:prstDash val="solid"/>
          </a:ln>
        </p:spPr>
      </p:sp>
      <p:sp>
        <p:nvSpPr>
          <p:cNvPr id="15" name="Text 13"/>
          <p:cNvSpPr txBox="1"/>
          <p:nvPr/>
        </p:nvSpPr>
        <p:spPr>
          <a:xfrm>
            <a:off x="1097280" y="4160520"/>
            <a:ext cx="9997135" cy="621792"/>
          </a:xfrm>
          <a:prstGeom prst="rect">
            <a:avLst/>
          </a:prstGeom>
          <a:noFill/>
          <a:ln/>
        </p:spPr>
        <p:txBody>
          <a:bodyPr wrap="square" lIns="0" tIns="0" rIns="0" bIns="0" rtlCol="0" anchor="ctr"/>
          <a:lstStyle/>
          <a:p>
            <a:pPr indent="0" marL="0">
              <a:buNone/>
            </a:pPr>
            <a:r>
              <a:rPr lang="en-US" sz="1450" b="1" dirty="0">
                <a:solidFill>
                  <a:srgbClr val="E9EDF2"/>
                </a:solidFill>
                <a:latin typeface="Calibri" pitchFamily="34" charset="0"/>
                <a:ea typeface="Calibri" pitchFamily="34" charset="-122"/>
                <a:cs typeface="Calibri" pitchFamily="34" charset="-120"/>
              </a:rPr>
              <a:t>La batalla no es volver determinista al modelo — eso no se puede. Es rodearlo de determinismo.</a:t>
            </a:r>
            <a:endParaRPr lang="en-US" sz="1450" dirty="0"/>
          </a:p>
        </p:txBody>
      </p:sp>
      <p:sp>
        <p:nvSpPr>
          <p:cNvPr id="16" name="Shape 14"/>
          <p:cNvSpPr/>
          <p:nvPr/>
        </p:nvSpPr>
        <p:spPr>
          <a:xfrm>
            <a:off x="777240" y="4956048"/>
            <a:ext cx="3362858" cy="1243584"/>
          </a:xfrm>
          <a:prstGeom prst="roundRect">
            <a:avLst>
              <a:gd name="adj" fmla="val 7353"/>
            </a:avLst>
          </a:prstGeom>
          <a:solidFill>
            <a:srgbClr val="1A212B"/>
          </a:solidFill>
          <a:ln w="12700">
            <a:solidFill>
              <a:srgbClr val="2E3A48"/>
            </a:solidFill>
            <a:prstDash val="solid"/>
          </a:ln>
        </p:spPr>
      </p:sp>
      <p:sp>
        <p:nvSpPr>
          <p:cNvPr id="17" name="Shape 15"/>
          <p:cNvSpPr/>
          <p:nvPr/>
        </p:nvSpPr>
        <p:spPr>
          <a:xfrm>
            <a:off x="1051560" y="5193792"/>
            <a:ext cx="146304" cy="146304"/>
          </a:xfrm>
          <a:prstGeom prst="ellipse">
            <a:avLst/>
          </a:prstGeom>
          <a:solidFill>
            <a:srgbClr val="4FD1C5"/>
          </a:solidFill>
          <a:ln w="12700">
            <a:solidFill>
              <a:srgbClr val="4FD1C5"/>
            </a:solidFill>
            <a:prstDash val="solid"/>
          </a:ln>
        </p:spPr>
      </p:sp>
      <p:sp>
        <p:nvSpPr>
          <p:cNvPr id="18" name="Text 16"/>
          <p:cNvSpPr txBox="1"/>
          <p:nvPr/>
        </p:nvSpPr>
        <p:spPr>
          <a:xfrm>
            <a:off x="1051560" y="5431536"/>
            <a:ext cx="2814218" cy="274320"/>
          </a:xfrm>
          <a:prstGeom prst="rect">
            <a:avLst/>
          </a:prstGeom>
          <a:noFill/>
          <a:ln/>
        </p:spPr>
        <p:txBody>
          <a:bodyPr wrap="square" lIns="0" tIns="0" rIns="0" bIns="0" rtlCol="0" anchor="ctr"/>
          <a:lstStyle/>
          <a:p>
            <a:pPr indent="0" marL="0">
              <a:buNone/>
            </a:pPr>
            <a:r>
              <a:rPr lang="en-US" sz="1450" b="1" dirty="0">
                <a:solidFill>
                  <a:srgbClr val="E9EDF2"/>
                </a:solidFill>
                <a:latin typeface="Arial" pitchFamily="34" charset="0"/>
                <a:ea typeface="Arial" pitchFamily="34" charset="-122"/>
                <a:cs typeface="Arial" pitchFamily="34" charset="-120"/>
              </a:rPr>
              <a:t>Entrada estable</a:t>
            </a:r>
            <a:endParaRPr lang="en-US" sz="1450" dirty="0"/>
          </a:p>
        </p:txBody>
      </p:sp>
      <p:sp>
        <p:nvSpPr>
          <p:cNvPr id="19" name="Text 17"/>
          <p:cNvSpPr txBox="1"/>
          <p:nvPr/>
        </p:nvSpPr>
        <p:spPr>
          <a:xfrm>
            <a:off x="1051560" y="5742432"/>
            <a:ext cx="2814218" cy="502920"/>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Una especificación escrita, no una explicación distinta cada vez.</a:t>
            </a:r>
            <a:endParaRPr lang="en-US" sz="1200" dirty="0"/>
          </a:p>
        </p:txBody>
      </p:sp>
      <p:sp>
        <p:nvSpPr>
          <p:cNvPr id="20" name="Shape 18"/>
          <p:cNvSpPr/>
          <p:nvPr/>
        </p:nvSpPr>
        <p:spPr>
          <a:xfrm>
            <a:off x="4414418" y="4956048"/>
            <a:ext cx="3362858" cy="1243584"/>
          </a:xfrm>
          <a:prstGeom prst="roundRect">
            <a:avLst>
              <a:gd name="adj" fmla="val 7353"/>
            </a:avLst>
          </a:prstGeom>
          <a:solidFill>
            <a:srgbClr val="1A212B"/>
          </a:solidFill>
          <a:ln w="12700">
            <a:solidFill>
              <a:srgbClr val="2E3A48"/>
            </a:solidFill>
            <a:prstDash val="solid"/>
          </a:ln>
        </p:spPr>
      </p:sp>
      <p:sp>
        <p:nvSpPr>
          <p:cNvPr id="21" name="Shape 19"/>
          <p:cNvSpPr/>
          <p:nvPr/>
        </p:nvSpPr>
        <p:spPr>
          <a:xfrm>
            <a:off x="4688738" y="5193792"/>
            <a:ext cx="146304" cy="146304"/>
          </a:xfrm>
          <a:prstGeom prst="ellipse">
            <a:avLst/>
          </a:prstGeom>
          <a:solidFill>
            <a:srgbClr val="4FD1C5"/>
          </a:solidFill>
          <a:ln w="12700">
            <a:solidFill>
              <a:srgbClr val="4FD1C5"/>
            </a:solidFill>
            <a:prstDash val="solid"/>
          </a:ln>
        </p:spPr>
      </p:sp>
      <p:sp>
        <p:nvSpPr>
          <p:cNvPr id="22" name="Text 20"/>
          <p:cNvSpPr txBox="1"/>
          <p:nvPr/>
        </p:nvSpPr>
        <p:spPr>
          <a:xfrm>
            <a:off x="4688738" y="5431536"/>
            <a:ext cx="2814218" cy="274320"/>
          </a:xfrm>
          <a:prstGeom prst="rect">
            <a:avLst/>
          </a:prstGeom>
          <a:noFill/>
          <a:ln/>
        </p:spPr>
        <p:txBody>
          <a:bodyPr wrap="square" lIns="0" tIns="0" rIns="0" bIns="0" rtlCol="0" anchor="ctr"/>
          <a:lstStyle/>
          <a:p>
            <a:pPr indent="0" marL="0">
              <a:buNone/>
            </a:pPr>
            <a:r>
              <a:rPr lang="en-US" sz="1450" b="1" dirty="0">
                <a:solidFill>
                  <a:srgbClr val="E9EDF2"/>
                </a:solidFill>
                <a:latin typeface="Arial" pitchFamily="34" charset="0"/>
                <a:ea typeface="Arial" pitchFamily="34" charset="-122"/>
                <a:cs typeface="Arial" pitchFamily="34" charset="-120"/>
              </a:rPr>
              <a:t>Salida verificable</a:t>
            </a:r>
            <a:endParaRPr lang="en-US" sz="1450" dirty="0"/>
          </a:p>
        </p:txBody>
      </p:sp>
      <p:sp>
        <p:nvSpPr>
          <p:cNvPr id="23" name="Text 21"/>
          <p:cNvSpPr txBox="1"/>
          <p:nvPr/>
        </p:nvSpPr>
        <p:spPr>
          <a:xfrm>
            <a:off x="4688738" y="5742432"/>
            <a:ext cx="2814218" cy="502920"/>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Tests que devuelven un binario: pasa o no pasa, no “parece bien”.</a:t>
            </a:r>
            <a:endParaRPr lang="en-US" sz="1200" dirty="0"/>
          </a:p>
        </p:txBody>
      </p:sp>
      <p:sp>
        <p:nvSpPr>
          <p:cNvPr id="24" name="Shape 22"/>
          <p:cNvSpPr/>
          <p:nvPr/>
        </p:nvSpPr>
        <p:spPr>
          <a:xfrm>
            <a:off x="8051597" y="4956048"/>
            <a:ext cx="3362858" cy="1243584"/>
          </a:xfrm>
          <a:prstGeom prst="roundRect">
            <a:avLst>
              <a:gd name="adj" fmla="val 7353"/>
            </a:avLst>
          </a:prstGeom>
          <a:solidFill>
            <a:srgbClr val="1A212B"/>
          </a:solidFill>
          <a:ln w="12700">
            <a:solidFill>
              <a:srgbClr val="2E3A48"/>
            </a:solidFill>
            <a:prstDash val="solid"/>
          </a:ln>
        </p:spPr>
      </p:sp>
      <p:sp>
        <p:nvSpPr>
          <p:cNvPr id="25" name="Shape 23"/>
          <p:cNvSpPr/>
          <p:nvPr/>
        </p:nvSpPr>
        <p:spPr>
          <a:xfrm>
            <a:off x="8325917" y="5193792"/>
            <a:ext cx="146304" cy="146304"/>
          </a:xfrm>
          <a:prstGeom prst="ellipse">
            <a:avLst/>
          </a:prstGeom>
          <a:solidFill>
            <a:srgbClr val="E8734A"/>
          </a:solidFill>
          <a:ln w="12700">
            <a:solidFill>
              <a:srgbClr val="E8734A"/>
            </a:solidFill>
            <a:prstDash val="solid"/>
          </a:ln>
        </p:spPr>
      </p:sp>
      <p:sp>
        <p:nvSpPr>
          <p:cNvPr id="26" name="Text 24"/>
          <p:cNvSpPr txBox="1"/>
          <p:nvPr/>
        </p:nvSpPr>
        <p:spPr>
          <a:xfrm>
            <a:off x="8325917" y="5431536"/>
            <a:ext cx="2814218" cy="274320"/>
          </a:xfrm>
          <a:prstGeom prst="rect">
            <a:avLst/>
          </a:prstGeom>
          <a:noFill/>
          <a:ln/>
        </p:spPr>
        <p:txBody>
          <a:bodyPr wrap="square" lIns="0" tIns="0" rIns="0" bIns="0" rtlCol="0" anchor="ctr"/>
          <a:lstStyle/>
          <a:p>
            <a:pPr indent="0" marL="0">
              <a:buNone/>
            </a:pPr>
            <a:r>
              <a:rPr lang="en-US" sz="1450" b="1" dirty="0">
                <a:solidFill>
                  <a:srgbClr val="E9EDF2"/>
                </a:solidFill>
                <a:latin typeface="Arial" pitchFamily="34" charset="0"/>
                <a:ea typeface="Arial" pitchFamily="34" charset="-122"/>
                <a:cs typeface="Arial" pitchFamily="34" charset="-120"/>
              </a:rPr>
              <a:t>Contexto reducido</a:t>
            </a:r>
            <a:endParaRPr lang="en-US" sz="1450" dirty="0"/>
          </a:p>
        </p:txBody>
      </p:sp>
      <p:sp>
        <p:nvSpPr>
          <p:cNvPr id="27" name="Text 25"/>
          <p:cNvSpPr txBox="1"/>
          <p:nvPr/>
        </p:nvSpPr>
        <p:spPr>
          <a:xfrm>
            <a:off x="8325917" y="5742432"/>
            <a:ext cx="2814218" cy="502920"/>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Menos material variable adentro, menos varianza afuera.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SKILLS</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Procedimientos empaquetados y reutilizables</a:t>
            </a:r>
            <a:endParaRPr lang="en-US" sz="3200" dirty="0"/>
          </a:p>
        </p:txBody>
      </p:sp>
      <p:sp>
        <p:nvSpPr>
          <p:cNvPr id="4" name="Text 2"/>
          <p:cNvSpPr txBox="1"/>
          <p:nvPr/>
        </p:nvSpPr>
        <p:spPr>
          <a:xfrm>
            <a:off x="777240" y="1408176"/>
            <a:ext cx="10637215" cy="548640"/>
          </a:xfrm>
          <a:prstGeom prst="rect">
            <a:avLst/>
          </a:prstGeom>
          <a:noFill/>
          <a:ln/>
        </p:spPr>
        <p:txBody>
          <a:bodyPr wrap="square" lIns="0" tIns="0" rIns="0" bIns="0" rtlCol="0" anchor="t"/>
          <a:lstStyle/>
          <a:p>
            <a:pPr indent="0" marL="0">
              <a:lnSpc>
                <a:spcPts val="2000"/>
              </a:lnSpc>
              <a:buNone/>
            </a:pPr>
            <a:r>
              <a:rPr lang="en-US" sz="1450" dirty="0">
                <a:solidFill>
                  <a:srgbClr val="97A3B2"/>
                </a:solidFill>
                <a:latin typeface="Calibri" pitchFamily="34" charset="0"/>
                <a:ea typeface="Calibri" pitchFamily="34" charset="-122"/>
                <a:cs typeface="Calibri" pitchFamily="34" charset="-120"/>
              </a:rPr>
              <a:t>Una carpeta con un SKILL.md: el procedimiento escrito en Markdown, más los scripts y archivos que necesite. El frontmatter declara name y description — el modelo lee esa description y decide si la skill aplica al pedido.</a:t>
            </a:r>
            <a:endParaRPr lang="en-US" sz="1450" dirty="0"/>
          </a:p>
        </p:txBody>
      </p:sp>
      <p:sp>
        <p:nvSpPr>
          <p:cNvPr id="5" name="Text 3"/>
          <p:cNvSpPr txBox="1"/>
          <p:nvPr/>
        </p:nvSpPr>
        <p:spPr>
          <a:xfrm>
            <a:off x="777240" y="1993392"/>
            <a:ext cx="10637215" cy="256032"/>
          </a:xfrm>
          <a:prstGeom prst="rect">
            <a:avLst/>
          </a:prstGeom>
          <a:noFill/>
          <a:ln/>
        </p:spPr>
        <p:txBody>
          <a:bodyPr wrap="square" lIns="0" tIns="0" rIns="0" bIns="0" rtlCol="0" anchor="ctr"/>
          <a:lstStyle/>
          <a:p>
            <a:pPr indent="0" marL="0">
              <a:buNone/>
            </a:pPr>
            <a:r>
              <a:rPr lang="en-US" sz="1150" b="1" spc="200" kern="0" dirty="0">
                <a:solidFill>
                  <a:srgbClr val="97A3B2"/>
                </a:solidFill>
                <a:latin typeface="Calibri" pitchFamily="34" charset="0"/>
                <a:ea typeface="Calibri" pitchFamily="34" charset="-122"/>
                <a:cs typeface="Calibri" pitchFamily="34" charset="-120"/>
              </a:rPr>
              <a:t>DÓNDE SE INSTALAN</a:t>
            </a:r>
            <a:endParaRPr lang="en-US" sz="1150" dirty="0"/>
          </a:p>
        </p:txBody>
      </p:sp>
      <p:sp>
        <p:nvSpPr>
          <p:cNvPr id="6" name="Shape 4"/>
          <p:cNvSpPr/>
          <p:nvPr/>
        </p:nvSpPr>
        <p:spPr>
          <a:xfrm>
            <a:off x="777240" y="2267712"/>
            <a:ext cx="5158588" cy="1225296"/>
          </a:xfrm>
          <a:prstGeom prst="roundRect">
            <a:avLst>
              <a:gd name="adj" fmla="val 7463"/>
            </a:avLst>
          </a:prstGeom>
          <a:solidFill>
            <a:srgbClr val="1A212B"/>
          </a:solidFill>
          <a:ln w="12700">
            <a:solidFill>
              <a:srgbClr val="2E3A48"/>
            </a:solidFill>
            <a:prstDash val="solid"/>
          </a:ln>
        </p:spPr>
      </p:sp>
      <p:sp>
        <p:nvSpPr>
          <p:cNvPr id="7" name="Text 5"/>
          <p:cNvSpPr txBox="1"/>
          <p:nvPr/>
        </p:nvSpPr>
        <p:spPr>
          <a:xfrm>
            <a:off x="1097280" y="2395728"/>
            <a:ext cx="4518508" cy="274320"/>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En el repositorio</a:t>
            </a:r>
            <a:pPr indent="0" marL="0">
              <a:buNone/>
            </a:pPr>
            <a:r>
              <a:rPr lang="en-US" sz="1150" dirty="0">
                <a:solidFill>
                  <a:srgbClr val="97A3B2"/>
                </a:solidFill>
                <a:latin typeface="Arial" pitchFamily="34" charset="0"/>
                <a:ea typeface="Arial" pitchFamily="34" charset="-122"/>
                <a:cs typeface="Arial" pitchFamily="34" charset="-120"/>
              </a:rPr>
              <a:t>   versionadas, las usa todo el equipo</a:t>
            </a:r>
            <a:endParaRPr lang="en-US" sz="1500" dirty="0"/>
          </a:p>
        </p:txBody>
      </p:sp>
      <p:sp>
        <p:nvSpPr>
          <p:cNvPr id="8" name="Text 6"/>
          <p:cNvSpPr txBox="1"/>
          <p:nvPr/>
        </p:nvSpPr>
        <p:spPr>
          <a:xfrm>
            <a:off x="1097280" y="2743200"/>
            <a:ext cx="777240" cy="256032"/>
          </a:xfrm>
          <a:prstGeom prst="rect">
            <a:avLst/>
          </a:prstGeom>
          <a:noFill/>
          <a:ln/>
        </p:spPr>
        <p:txBody>
          <a:bodyPr wrap="square" lIns="0" tIns="0" rIns="0" bIns="0" rtlCol="0" anchor="ctr"/>
          <a:lstStyle/>
          <a:p>
            <a:pPr indent="0" marL="0">
              <a:buNone/>
            </a:pPr>
            <a:r>
              <a:rPr lang="en-US" sz="1150" b="1" dirty="0">
                <a:solidFill>
                  <a:srgbClr val="E8734A"/>
                </a:solidFill>
                <a:latin typeface="Calibri" pitchFamily="34" charset="0"/>
                <a:ea typeface="Calibri" pitchFamily="34" charset="-122"/>
                <a:cs typeface="Calibri" pitchFamily="34" charset="-120"/>
              </a:rPr>
              <a:t>Claude</a:t>
            </a:r>
            <a:endParaRPr lang="en-US" sz="1150" dirty="0"/>
          </a:p>
        </p:txBody>
      </p:sp>
      <p:sp>
        <p:nvSpPr>
          <p:cNvPr id="9" name="Text 7"/>
          <p:cNvSpPr txBox="1"/>
          <p:nvPr/>
        </p:nvSpPr>
        <p:spPr>
          <a:xfrm>
            <a:off x="1892808" y="2743200"/>
            <a:ext cx="3722980" cy="256032"/>
          </a:xfrm>
          <a:prstGeom prst="rect">
            <a:avLst/>
          </a:prstGeom>
          <a:noFill/>
          <a:ln/>
        </p:spPr>
        <p:txBody>
          <a:bodyPr wrap="square" lIns="0" tIns="0" rIns="0" bIns="0" rtlCol="0" anchor="ctr"/>
          <a:lstStyle/>
          <a:p>
            <a:pPr indent="0" marL="0">
              <a:buNone/>
            </a:pPr>
            <a:r>
              <a:rPr lang="en-US" sz="950" dirty="0">
                <a:solidFill>
                  <a:srgbClr val="E9EDF2"/>
                </a:solidFill>
                <a:latin typeface="Courier New" pitchFamily="34" charset="0"/>
                <a:ea typeface="Courier New" pitchFamily="34" charset="-122"/>
                <a:cs typeface="Courier New" pitchFamily="34" charset="-120"/>
              </a:rPr>
              <a:t>.claude/skills/</a:t>
            </a:r>
            <a:endParaRPr lang="en-US" sz="950" dirty="0"/>
          </a:p>
        </p:txBody>
      </p:sp>
      <p:sp>
        <p:nvSpPr>
          <p:cNvPr id="10" name="Text 8"/>
          <p:cNvSpPr txBox="1"/>
          <p:nvPr/>
        </p:nvSpPr>
        <p:spPr>
          <a:xfrm>
            <a:off x="1097280" y="3054096"/>
            <a:ext cx="777240" cy="256032"/>
          </a:xfrm>
          <a:prstGeom prst="rect">
            <a:avLst/>
          </a:prstGeom>
          <a:noFill/>
          <a:ln/>
        </p:spPr>
        <p:txBody>
          <a:bodyPr wrap="square" lIns="0" tIns="0" rIns="0" bIns="0" rtlCol="0" anchor="ctr"/>
          <a:lstStyle/>
          <a:p>
            <a:pPr indent="0" marL="0">
              <a:buNone/>
            </a:pPr>
            <a:r>
              <a:rPr lang="en-US" sz="1150" b="1" dirty="0">
                <a:solidFill>
                  <a:srgbClr val="4FD1C5"/>
                </a:solidFill>
                <a:latin typeface="Calibri" pitchFamily="34" charset="0"/>
                <a:ea typeface="Calibri" pitchFamily="34" charset="-122"/>
                <a:cs typeface="Calibri" pitchFamily="34" charset="-120"/>
              </a:rPr>
              <a:t>Copilot</a:t>
            </a:r>
            <a:endParaRPr lang="en-US" sz="1150" dirty="0"/>
          </a:p>
        </p:txBody>
      </p:sp>
      <p:sp>
        <p:nvSpPr>
          <p:cNvPr id="11" name="Text 9"/>
          <p:cNvSpPr txBox="1"/>
          <p:nvPr/>
        </p:nvSpPr>
        <p:spPr>
          <a:xfrm>
            <a:off x="1892808" y="3054096"/>
            <a:ext cx="3722980" cy="256032"/>
          </a:xfrm>
          <a:prstGeom prst="rect">
            <a:avLst/>
          </a:prstGeom>
          <a:noFill/>
          <a:ln/>
        </p:spPr>
        <p:txBody>
          <a:bodyPr wrap="square" lIns="0" tIns="0" rIns="0" bIns="0" rtlCol="0" anchor="ctr"/>
          <a:lstStyle/>
          <a:p>
            <a:pPr indent="0" marL="0">
              <a:buNone/>
            </a:pPr>
            <a:r>
              <a:rPr lang="en-US" sz="950" dirty="0">
                <a:solidFill>
                  <a:srgbClr val="E9EDF2"/>
                </a:solidFill>
                <a:latin typeface="Courier New" pitchFamily="34" charset="0"/>
                <a:ea typeface="Courier New" pitchFamily="34" charset="-122"/>
                <a:cs typeface="Courier New" pitchFamily="34" charset="-120"/>
              </a:rPr>
              <a:t>.github/skills/ · .claude/skills/ · .agents/skills/</a:t>
            </a:r>
            <a:endParaRPr lang="en-US" sz="950" dirty="0"/>
          </a:p>
        </p:txBody>
      </p:sp>
      <p:sp>
        <p:nvSpPr>
          <p:cNvPr id="12" name="Shape 10"/>
          <p:cNvSpPr/>
          <p:nvPr/>
        </p:nvSpPr>
        <p:spPr>
          <a:xfrm>
            <a:off x="6255868" y="2267712"/>
            <a:ext cx="5158588" cy="1225296"/>
          </a:xfrm>
          <a:prstGeom prst="roundRect">
            <a:avLst>
              <a:gd name="adj" fmla="val 7463"/>
            </a:avLst>
          </a:prstGeom>
          <a:solidFill>
            <a:srgbClr val="1A212B"/>
          </a:solidFill>
          <a:ln w="12700">
            <a:solidFill>
              <a:srgbClr val="2E3A48"/>
            </a:solidFill>
            <a:prstDash val="solid"/>
          </a:ln>
        </p:spPr>
      </p:sp>
      <p:sp>
        <p:nvSpPr>
          <p:cNvPr id="13" name="Text 11"/>
          <p:cNvSpPr txBox="1"/>
          <p:nvPr/>
        </p:nvSpPr>
        <p:spPr>
          <a:xfrm>
            <a:off x="6575908" y="2395728"/>
            <a:ext cx="4518508" cy="274320"/>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En tu carpeta de usuario</a:t>
            </a:r>
            <a:pPr indent="0" marL="0">
              <a:buNone/>
            </a:pPr>
            <a:r>
              <a:rPr lang="en-US" sz="1150" dirty="0">
                <a:solidFill>
                  <a:srgbClr val="97A3B2"/>
                </a:solidFill>
                <a:latin typeface="Arial" pitchFamily="34" charset="0"/>
                <a:ea typeface="Arial" pitchFamily="34" charset="-122"/>
                <a:cs typeface="Arial" pitchFamily="34" charset="-120"/>
              </a:rPr>
              <a:t>   solo vos, en todos tus proyectos</a:t>
            </a:r>
            <a:endParaRPr lang="en-US" sz="1500" dirty="0"/>
          </a:p>
        </p:txBody>
      </p:sp>
      <p:sp>
        <p:nvSpPr>
          <p:cNvPr id="14" name="Text 12"/>
          <p:cNvSpPr txBox="1"/>
          <p:nvPr/>
        </p:nvSpPr>
        <p:spPr>
          <a:xfrm>
            <a:off x="6575908" y="2743200"/>
            <a:ext cx="777240" cy="256032"/>
          </a:xfrm>
          <a:prstGeom prst="rect">
            <a:avLst/>
          </a:prstGeom>
          <a:noFill/>
          <a:ln/>
        </p:spPr>
        <p:txBody>
          <a:bodyPr wrap="square" lIns="0" tIns="0" rIns="0" bIns="0" rtlCol="0" anchor="ctr"/>
          <a:lstStyle/>
          <a:p>
            <a:pPr indent="0" marL="0">
              <a:buNone/>
            </a:pPr>
            <a:r>
              <a:rPr lang="en-US" sz="1150" b="1" dirty="0">
                <a:solidFill>
                  <a:srgbClr val="E8734A"/>
                </a:solidFill>
                <a:latin typeface="Calibri" pitchFamily="34" charset="0"/>
                <a:ea typeface="Calibri" pitchFamily="34" charset="-122"/>
                <a:cs typeface="Calibri" pitchFamily="34" charset="-120"/>
              </a:rPr>
              <a:t>Claude</a:t>
            </a:r>
            <a:endParaRPr lang="en-US" sz="1150" dirty="0"/>
          </a:p>
        </p:txBody>
      </p:sp>
      <p:sp>
        <p:nvSpPr>
          <p:cNvPr id="15" name="Text 13"/>
          <p:cNvSpPr txBox="1"/>
          <p:nvPr/>
        </p:nvSpPr>
        <p:spPr>
          <a:xfrm>
            <a:off x="7371436" y="2743200"/>
            <a:ext cx="3722980" cy="256032"/>
          </a:xfrm>
          <a:prstGeom prst="rect">
            <a:avLst/>
          </a:prstGeom>
          <a:noFill/>
          <a:ln/>
        </p:spPr>
        <p:txBody>
          <a:bodyPr wrap="square" lIns="0" tIns="0" rIns="0" bIns="0" rtlCol="0" anchor="ctr"/>
          <a:lstStyle/>
          <a:p>
            <a:pPr indent="0" marL="0">
              <a:buNone/>
            </a:pPr>
            <a:r>
              <a:rPr lang="en-US" sz="950" dirty="0">
                <a:solidFill>
                  <a:srgbClr val="E9EDF2"/>
                </a:solidFill>
                <a:latin typeface="Courier New" pitchFamily="34" charset="0"/>
                <a:ea typeface="Courier New" pitchFamily="34" charset="-122"/>
                <a:cs typeface="Courier New" pitchFamily="34" charset="-120"/>
              </a:rPr>
              <a:t>~/.claude/skills/</a:t>
            </a:r>
            <a:endParaRPr lang="en-US" sz="950" dirty="0"/>
          </a:p>
        </p:txBody>
      </p:sp>
      <p:sp>
        <p:nvSpPr>
          <p:cNvPr id="16" name="Text 14"/>
          <p:cNvSpPr txBox="1"/>
          <p:nvPr/>
        </p:nvSpPr>
        <p:spPr>
          <a:xfrm>
            <a:off x="6575908" y="3054096"/>
            <a:ext cx="777240" cy="256032"/>
          </a:xfrm>
          <a:prstGeom prst="rect">
            <a:avLst/>
          </a:prstGeom>
          <a:noFill/>
          <a:ln/>
        </p:spPr>
        <p:txBody>
          <a:bodyPr wrap="square" lIns="0" tIns="0" rIns="0" bIns="0" rtlCol="0" anchor="ctr"/>
          <a:lstStyle/>
          <a:p>
            <a:pPr indent="0" marL="0">
              <a:buNone/>
            </a:pPr>
            <a:r>
              <a:rPr lang="en-US" sz="1150" b="1" dirty="0">
                <a:solidFill>
                  <a:srgbClr val="4FD1C5"/>
                </a:solidFill>
                <a:latin typeface="Calibri" pitchFamily="34" charset="0"/>
                <a:ea typeface="Calibri" pitchFamily="34" charset="-122"/>
                <a:cs typeface="Calibri" pitchFamily="34" charset="-120"/>
              </a:rPr>
              <a:t>Copilot</a:t>
            </a:r>
            <a:endParaRPr lang="en-US" sz="1150" dirty="0"/>
          </a:p>
        </p:txBody>
      </p:sp>
      <p:sp>
        <p:nvSpPr>
          <p:cNvPr id="17" name="Text 15"/>
          <p:cNvSpPr txBox="1"/>
          <p:nvPr/>
        </p:nvSpPr>
        <p:spPr>
          <a:xfrm>
            <a:off x="7371436" y="3054096"/>
            <a:ext cx="3722980" cy="256032"/>
          </a:xfrm>
          <a:prstGeom prst="rect">
            <a:avLst/>
          </a:prstGeom>
          <a:noFill/>
          <a:ln/>
        </p:spPr>
        <p:txBody>
          <a:bodyPr wrap="square" lIns="0" tIns="0" rIns="0" bIns="0" rtlCol="0" anchor="ctr"/>
          <a:lstStyle/>
          <a:p>
            <a:pPr indent="0" marL="0">
              <a:buNone/>
            </a:pPr>
            <a:r>
              <a:rPr lang="en-US" sz="950" dirty="0">
                <a:solidFill>
                  <a:srgbClr val="E9EDF2"/>
                </a:solidFill>
                <a:latin typeface="Courier New" pitchFamily="34" charset="0"/>
                <a:ea typeface="Courier New" pitchFamily="34" charset="-122"/>
                <a:cs typeface="Courier New" pitchFamily="34" charset="-120"/>
              </a:rPr>
              <a:t>~/.copilot/skills/ · ~/.agents/skills/</a:t>
            </a:r>
            <a:endParaRPr lang="en-US" sz="950" dirty="0"/>
          </a:p>
        </p:txBody>
      </p:sp>
      <p:sp>
        <p:nvSpPr>
          <p:cNvPr id="18" name="Text 16"/>
          <p:cNvSpPr txBox="1"/>
          <p:nvPr/>
        </p:nvSpPr>
        <p:spPr>
          <a:xfrm>
            <a:off x="777240" y="3584448"/>
            <a:ext cx="10637215" cy="256032"/>
          </a:xfrm>
          <a:prstGeom prst="rect">
            <a:avLst/>
          </a:prstGeom>
          <a:noFill/>
          <a:ln/>
        </p:spPr>
        <p:txBody>
          <a:bodyPr wrap="square" lIns="0" tIns="0" rIns="0" bIns="0" rtlCol="0" anchor="ctr"/>
          <a:lstStyle/>
          <a:p>
            <a:pPr indent="0" marL="0">
              <a:buNone/>
            </a:pPr>
            <a:r>
              <a:rPr lang="en-US" sz="1150" b="1" spc="200" kern="0" dirty="0">
                <a:solidFill>
                  <a:srgbClr val="97A3B2"/>
                </a:solidFill>
                <a:latin typeface="Calibri" pitchFamily="34" charset="0"/>
                <a:ea typeface="Calibri" pitchFamily="34" charset="-122"/>
                <a:cs typeface="Calibri" pitchFamily="34" charset="-120"/>
              </a:rPr>
              <a:t>CARGA PROGRESIVA · LO QUE REALMENTE ENTRA AL CONTEXTO</a:t>
            </a:r>
            <a:endParaRPr lang="en-US" sz="1150" dirty="0"/>
          </a:p>
        </p:txBody>
      </p:sp>
      <p:sp>
        <p:nvSpPr>
          <p:cNvPr id="19" name="Shape 17"/>
          <p:cNvSpPr/>
          <p:nvPr/>
        </p:nvSpPr>
        <p:spPr>
          <a:xfrm>
            <a:off x="777240" y="3858768"/>
            <a:ext cx="3362858" cy="1371600"/>
          </a:xfrm>
          <a:prstGeom prst="roundRect">
            <a:avLst>
              <a:gd name="adj" fmla="val 6667"/>
            </a:avLst>
          </a:prstGeom>
          <a:solidFill>
            <a:srgbClr val="1A212B"/>
          </a:solidFill>
          <a:ln w="12700">
            <a:solidFill>
              <a:srgbClr val="2E3A48"/>
            </a:solidFill>
            <a:prstDash val="solid"/>
          </a:ln>
        </p:spPr>
      </p:sp>
      <p:sp>
        <p:nvSpPr>
          <p:cNvPr id="20" name="Text 18"/>
          <p:cNvSpPr txBox="1"/>
          <p:nvPr/>
        </p:nvSpPr>
        <p:spPr>
          <a:xfrm>
            <a:off x="1051560" y="4023360"/>
            <a:ext cx="2814218" cy="237744"/>
          </a:xfrm>
          <a:prstGeom prst="rect">
            <a:avLst/>
          </a:prstGeom>
          <a:noFill/>
          <a:ln/>
        </p:spPr>
        <p:txBody>
          <a:bodyPr wrap="square" lIns="0" tIns="0" rIns="0" bIns="0" rtlCol="0" anchor="ctr"/>
          <a:lstStyle/>
          <a:p>
            <a:pPr indent="0" marL="0">
              <a:buNone/>
            </a:pPr>
            <a:r>
              <a:rPr lang="en-US" sz="1050" b="1" spc="100" kern="0" dirty="0">
                <a:solidFill>
                  <a:srgbClr val="4FD1C5"/>
                </a:solidFill>
                <a:latin typeface="Calibri" pitchFamily="34" charset="0"/>
                <a:ea typeface="Calibri" pitchFamily="34" charset="-122"/>
                <a:cs typeface="Calibri" pitchFamily="34" charset="-120"/>
              </a:rPr>
              <a:t>NIVEL 1 · SIEMPRE</a:t>
            </a:r>
            <a:endParaRPr lang="en-US" sz="1050" dirty="0"/>
          </a:p>
        </p:txBody>
      </p:sp>
      <p:sp>
        <p:nvSpPr>
          <p:cNvPr id="21" name="Text 19"/>
          <p:cNvSpPr txBox="1"/>
          <p:nvPr/>
        </p:nvSpPr>
        <p:spPr>
          <a:xfrm>
            <a:off x="1051560" y="4279392"/>
            <a:ext cx="2814218" cy="274320"/>
          </a:xfrm>
          <a:prstGeom prst="rect">
            <a:avLst/>
          </a:prstGeom>
          <a:noFill/>
          <a:ln/>
        </p:spPr>
        <p:txBody>
          <a:bodyPr wrap="square" lIns="0" tIns="0" rIns="0" bIns="0" rtlCol="0" anchor="ctr"/>
          <a:lstStyle/>
          <a:p>
            <a:pPr indent="0" marL="0">
              <a:buNone/>
            </a:pPr>
            <a:r>
              <a:rPr lang="en-US" sz="1450" b="1" dirty="0">
                <a:solidFill>
                  <a:srgbClr val="E9EDF2"/>
                </a:solidFill>
                <a:latin typeface="Arial" pitchFamily="34" charset="0"/>
                <a:ea typeface="Arial" pitchFamily="34" charset="-122"/>
                <a:cs typeface="Arial" pitchFamily="34" charset="-120"/>
              </a:rPr>
              <a:t>name + description</a:t>
            </a:r>
            <a:endParaRPr lang="en-US" sz="1450" dirty="0"/>
          </a:p>
        </p:txBody>
      </p:sp>
      <p:sp>
        <p:nvSpPr>
          <p:cNvPr id="22" name="Text 20"/>
          <p:cNvSpPr txBox="1"/>
          <p:nvPr/>
        </p:nvSpPr>
        <p:spPr>
          <a:xfrm>
            <a:off x="1051560" y="4590288"/>
            <a:ext cx="2814218" cy="548640"/>
          </a:xfrm>
          <a:prstGeom prst="rect">
            <a:avLst/>
          </a:prstGeom>
          <a:noFill/>
          <a:ln/>
        </p:spPr>
        <p:txBody>
          <a:bodyPr wrap="square" lIns="0" tIns="0" rIns="0" bIns="0" rtlCol="0" anchor="t"/>
          <a:lstStyle/>
          <a:p>
            <a:pPr indent="0" marL="0">
              <a:lnSpc>
                <a:spcPts val="1500"/>
              </a:lnSpc>
              <a:buNone/>
            </a:pPr>
            <a:r>
              <a:rPr lang="en-US" sz="1150" dirty="0">
                <a:solidFill>
                  <a:srgbClr val="97A3B2"/>
                </a:solidFill>
                <a:latin typeface="Calibri" pitchFamily="34" charset="0"/>
                <a:ea typeface="Calibri" pitchFamily="34" charset="-122"/>
                <a:cs typeface="Calibri" pitchFamily="34" charset="-120"/>
              </a:rPr>
              <a:t>Lo único que está en contexto desde el arranque: pocas líneas por skill.</a:t>
            </a:r>
            <a:endParaRPr lang="en-US" sz="1150" dirty="0"/>
          </a:p>
        </p:txBody>
      </p:sp>
      <p:sp>
        <p:nvSpPr>
          <p:cNvPr id="23" name="Shape 21"/>
          <p:cNvSpPr/>
          <p:nvPr/>
        </p:nvSpPr>
        <p:spPr>
          <a:xfrm>
            <a:off x="4194962" y="4480560"/>
            <a:ext cx="201168" cy="164592"/>
          </a:xfrm>
          <a:prstGeom prst="rightArrow">
            <a:avLst/>
          </a:prstGeom>
          <a:solidFill>
            <a:srgbClr val="2E3A48"/>
          </a:solidFill>
          <a:ln w="12700">
            <a:solidFill>
              <a:srgbClr val="2E3A48"/>
            </a:solidFill>
            <a:prstDash val="solid"/>
          </a:ln>
        </p:spPr>
      </p:sp>
      <p:sp>
        <p:nvSpPr>
          <p:cNvPr id="24" name="Shape 22"/>
          <p:cNvSpPr/>
          <p:nvPr/>
        </p:nvSpPr>
        <p:spPr>
          <a:xfrm>
            <a:off x="4414418" y="3858768"/>
            <a:ext cx="3362858" cy="1371600"/>
          </a:xfrm>
          <a:prstGeom prst="roundRect">
            <a:avLst>
              <a:gd name="adj" fmla="val 6667"/>
            </a:avLst>
          </a:prstGeom>
          <a:solidFill>
            <a:srgbClr val="1A212B"/>
          </a:solidFill>
          <a:ln w="12700">
            <a:solidFill>
              <a:srgbClr val="2E3A48"/>
            </a:solidFill>
            <a:prstDash val="solid"/>
          </a:ln>
        </p:spPr>
      </p:sp>
      <p:sp>
        <p:nvSpPr>
          <p:cNvPr id="25" name="Text 23"/>
          <p:cNvSpPr txBox="1"/>
          <p:nvPr/>
        </p:nvSpPr>
        <p:spPr>
          <a:xfrm>
            <a:off x="4688738" y="4023360"/>
            <a:ext cx="2814218" cy="237744"/>
          </a:xfrm>
          <a:prstGeom prst="rect">
            <a:avLst/>
          </a:prstGeom>
          <a:noFill/>
          <a:ln/>
        </p:spPr>
        <p:txBody>
          <a:bodyPr wrap="square" lIns="0" tIns="0" rIns="0" bIns="0" rtlCol="0" anchor="ctr"/>
          <a:lstStyle/>
          <a:p>
            <a:pPr indent="0" marL="0">
              <a:buNone/>
            </a:pPr>
            <a:r>
              <a:rPr lang="en-US" sz="1050" b="1" spc="100" kern="0" dirty="0">
                <a:solidFill>
                  <a:srgbClr val="E8734A"/>
                </a:solidFill>
                <a:latin typeface="Calibri" pitchFamily="34" charset="0"/>
                <a:ea typeface="Calibri" pitchFamily="34" charset="-122"/>
                <a:cs typeface="Calibri" pitchFamily="34" charset="-120"/>
              </a:rPr>
              <a:t>NIVEL 2 · AL ACTIVARSE</a:t>
            </a:r>
            <a:endParaRPr lang="en-US" sz="1050" dirty="0"/>
          </a:p>
        </p:txBody>
      </p:sp>
      <p:sp>
        <p:nvSpPr>
          <p:cNvPr id="26" name="Text 24"/>
          <p:cNvSpPr txBox="1"/>
          <p:nvPr/>
        </p:nvSpPr>
        <p:spPr>
          <a:xfrm>
            <a:off x="4688738" y="4279392"/>
            <a:ext cx="2814218" cy="274320"/>
          </a:xfrm>
          <a:prstGeom prst="rect">
            <a:avLst/>
          </a:prstGeom>
          <a:noFill/>
          <a:ln/>
        </p:spPr>
        <p:txBody>
          <a:bodyPr wrap="square" lIns="0" tIns="0" rIns="0" bIns="0" rtlCol="0" anchor="ctr"/>
          <a:lstStyle/>
          <a:p>
            <a:pPr indent="0" marL="0">
              <a:buNone/>
            </a:pPr>
            <a:r>
              <a:rPr lang="en-US" sz="1450" b="1" dirty="0">
                <a:solidFill>
                  <a:srgbClr val="E9EDF2"/>
                </a:solidFill>
                <a:latin typeface="Arial" pitchFamily="34" charset="0"/>
                <a:ea typeface="Arial" pitchFamily="34" charset="-122"/>
                <a:cs typeface="Arial" pitchFamily="34" charset="-120"/>
              </a:rPr>
              <a:t>El SKILL.md completo</a:t>
            </a:r>
            <a:endParaRPr lang="en-US" sz="1450" dirty="0"/>
          </a:p>
        </p:txBody>
      </p:sp>
      <p:sp>
        <p:nvSpPr>
          <p:cNvPr id="27" name="Text 25"/>
          <p:cNvSpPr txBox="1"/>
          <p:nvPr/>
        </p:nvSpPr>
        <p:spPr>
          <a:xfrm>
            <a:off x="4688738" y="4590288"/>
            <a:ext cx="2814218" cy="548640"/>
          </a:xfrm>
          <a:prstGeom prst="rect">
            <a:avLst/>
          </a:prstGeom>
          <a:noFill/>
          <a:ln/>
        </p:spPr>
        <p:txBody>
          <a:bodyPr wrap="square" lIns="0" tIns="0" rIns="0" bIns="0" rtlCol="0" anchor="t"/>
          <a:lstStyle/>
          <a:p>
            <a:pPr indent="0" marL="0">
              <a:lnSpc>
                <a:spcPts val="1500"/>
              </a:lnSpc>
              <a:buNone/>
            </a:pPr>
            <a:r>
              <a:rPr lang="en-US" sz="1150" dirty="0">
                <a:solidFill>
                  <a:srgbClr val="97A3B2"/>
                </a:solidFill>
                <a:latin typeface="Calibri" pitchFamily="34" charset="0"/>
                <a:ea typeface="Calibri" pitchFamily="34" charset="-122"/>
                <a:cs typeface="Calibri" pitchFamily="34" charset="-120"/>
              </a:rPr>
              <a:t>El procedimiento entero entra cuando el modelo decide que aplica.</a:t>
            </a:r>
            <a:endParaRPr lang="en-US" sz="1150" dirty="0"/>
          </a:p>
        </p:txBody>
      </p:sp>
      <p:sp>
        <p:nvSpPr>
          <p:cNvPr id="28" name="Shape 26"/>
          <p:cNvSpPr/>
          <p:nvPr/>
        </p:nvSpPr>
        <p:spPr>
          <a:xfrm>
            <a:off x="7832141" y="4480560"/>
            <a:ext cx="201168" cy="164592"/>
          </a:xfrm>
          <a:prstGeom prst="rightArrow">
            <a:avLst/>
          </a:prstGeom>
          <a:solidFill>
            <a:srgbClr val="2E3A48"/>
          </a:solidFill>
          <a:ln w="12700">
            <a:solidFill>
              <a:srgbClr val="2E3A48"/>
            </a:solidFill>
            <a:prstDash val="solid"/>
          </a:ln>
        </p:spPr>
      </p:sp>
      <p:sp>
        <p:nvSpPr>
          <p:cNvPr id="29" name="Shape 27"/>
          <p:cNvSpPr/>
          <p:nvPr/>
        </p:nvSpPr>
        <p:spPr>
          <a:xfrm>
            <a:off x="8051597" y="3858768"/>
            <a:ext cx="3362858" cy="1371600"/>
          </a:xfrm>
          <a:prstGeom prst="roundRect">
            <a:avLst>
              <a:gd name="adj" fmla="val 6667"/>
            </a:avLst>
          </a:prstGeom>
          <a:solidFill>
            <a:srgbClr val="1A212B"/>
          </a:solidFill>
          <a:ln w="12700">
            <a:solidFill>
              <a:srgbClr val="2E3A48"/>
            </a:solidFill>
            <a:prstDash val="solid"/>
          </a:ln>
        </p:spPr>
      </p:sp>
      <p:sp>
        <p:nvSpPr>
          <p:cNvPr id="30" name="Text 28"/>
          <p:cNvSpPr txBox="1"/>
          <p:nvPr/>
        </p:nvSpPr>
        <p:spPr>
          <a:xfrm>
            <a:off x="8325917" y="4023360"/>
            <a:ext cx="2814218" cy="237744"/>
          </a:xfrm>
          <a:prstGeom prst="rect">
            <a:avLst/>
          </a:prstGeom>
          <a:noFill/>
          <a:ln/>
        </p:spPr>
        <p:txBody>
          <a:bodyPr wrap="square" lIns="0" tIns="0" rIns="0" bIns="0" rtlCol="0" anchor="ctr"/>
          <a:lstStyle/>
          <a:p>
            <a:pPr indent="0" marL="0">
              <a:buNone/>
            </a:pPr>
            <a:r>
              <a:rPr lang="en-US" sz="1050" b="1" spc="100" kern="0" dirty="0">
                <a:solidFill>
                  <a:srgbClr val="F2C94C"/>
                </a:solidFill>
                <a:latin typeface="Calibri" pitchFamily="34" charset="0"/>
                <a:ea typeface="Calibri" pitchFamily="34" charset="-122"/>
                <a:cs typeface="Calibri" pitchFamily="34" charset="-120"/>
              </a:rPr>
              <a:t>NIVEL 3 · SI HACE FALTA</a:t>
            </a:r>
            <a:endParaRPr lang="en-US" sz="1050" dirty="0"/>
          </a:p>
        </p:txBody>
      </p:sp>
      <p:sp>
        <p:nvSpPr>
          <p:cNvPr id="31" name="Text 29"/>
          <p:cNvSpPr txBox="1"/>
          <p:nvPr/>
        </p:nvSpPr>
        <p:spPr>
          <a:xfrm>
            <a:off x="8325917" y="4279392"/>
            <a:ext cx="2814218" cy="274320"/>
          </a:xfrm>
          <a:prstGeom prst="rect">
            <a:avLst/>
          </a:prstGeom>
          <a:noFill/>
          <a:ln/>
        </p:spPr>
        <p:txBody>
          <a:bodyPr wrap="square" lIns="0" tIns="0" rIns="0" bIns="0" rtlCol="0" anchor="ctr"/>
          <a:lstStyle/>
          <a:p>
            <a:pPr indent="0" marL="0">
              <a:buNone/>
            </a:pPr>
            <a:r>
              <a:rPr lang="en-US" sz="1450" b="1" dirty="0">
                <a:solidFill>
                  <a:srgbClr val="E9EDF2"/>
                </a:solidFill>
                <a:latin typeface="Arial" pitchFamily="34" charset="0"/>
                <a:ea typeface="Arial" pitchFamily="34" charset="-122"/>
                <a:cs typeface="Arial" pitchFamily="34" charset="-120"/>
              </a:rPr>
              <a:t>Scripts y archivos</a:t>
            </a:r>
            <a:endParaRPr lang="en-US" sz="1450" dirty="0"/>
          </a:p>
        </p:txBody>
      </p:sp>
      <p:sp>
        <p:nvSpPr>
          <p:cNvPr id="32" name="Text 30"/>
          <p:cNvSpPr txBox="1"/>
          <p:nvPr/>
        </p:nvSpPr>
        <p:spPr>
          <a:xfrm>
            <a:off x="8325917" y="4590288"/>
            <a:ext cx="2814218" cy="548640"/>
          </a:xfrm>
          <a:prstGeom prst="rect">
            <a:avLst/>
          </a:prstGeom>
          <a:noFill/>
          <a:ln/>
        </p:spPr>
        <p:txBody>
          <a:bodyPr wrap="square" lIns="0" tIns="0" rIns="0" bIns="0" rtlCol="0" anchor="t"/>
          <a:lstStyle/>
          <a:p>
            <a:pPr indent="0" marL="0">
              <a:lnSpc>
                <a:spcPts val="1500"/>
              </a:lnSpc>
              <a:buNone/>
            </a:pPr>
            <a:r>
              <a:rPr lang="en-US" sz="1150" dirty="0">
                <a:solidFill>
                  <a:srgbClr val="97A3B2"/>
                </a:solidFill>
                <a:latin typeface="Calibri" pitchFamily="34" charset="0"/>
                <a:ea typeface="Calibri" pitchFamily="34" charset="-122"/>
                <a:cs typeface="Calibri" pitchFamily="34" charset="-120"/>
              </a:rPr>
              <a:t>Solo si se referencian. Un script cuesta su salida, no su código.</a:t>
            </a:r>
            <a:endParaRPr lang="en-US" sz="1150" dirty="0"/>
          </a:p>
        </p:txBody>
      </p:sp>
      <p:sp>
        <p:nvSpPr>
          <p:cNvPr id="33" name="Shape 31"/>
          <p:cNvSpPr/>
          <p:nvPr/>
        </p:nvSpPr>
        <p:spPr>
          <a:xfrm>
            <a:off x="777240" y="5394960"/>
            <a:ext cx="5158588" cy="960120"/>
          </a:xfrm>
          <a:prstGeom prst="roundRect">
            <a:avLst>
              <a:gd name="adj" fmla="val 9524"/>
            </a:avLst>
          </a:prstGeom>
          <a:solidFill>
            <a:srgbClr val="222B37"/>
          </a:solidFill>
          <a:ln w="12700">
            <a:solidFill>
              <a:srgbClr val="4FD1C5"/>
            </a:solidFill>
            <a:prstDash val="solid"/>
          </a:ln>
        </p:spPr>
      </p:sp>
      <p:sp>
        <p:nvSpPr>
          <p:cNvPr id="34" name="Shape 32"/>
          <p:cNvSpPr/>
          <p:nvPr/>
        </p:nvSpPr>
        <p:spPr>
          <a:xfrm>
            <a:off x="1069848" y="5577840"/>
            <a:ext cx="146304" cy="146304"/>
          </a:xfrm>
          <a:prstGeom prst="ellipse">
            <a:avLst/>
          </a:prstGeom>
          <a:solidFill>
            <a:srgbClr val="4FD1C5"/>
          </a:solidFill>
          <a:ln w="12700">
            <a:solidFill>
              <a:srgbClr val="4FD1C5"/>
            </a:solidFill>
            <a:prstDash val="solid"/>
          </a:ln>
        </p:spPr>
      </p:sp>
      <p:sp>
        <p:nvSpPr>
          <p:cNvPr id="35" name="Text 33"/>
          <p:cNvSpPr txBox="1"/>
          <p:nvPr/>
        </p:nvSpPr>
        <p:spPr>
          <a:xfrm>
            <a:off x="1325880" y="5522976"/>
            <a:ext cx="4335628" cy="256032"/>
          </a:xfrm>
          <a:prstGeom prst="rect">
            <a:avLst/>
          </a:prstGeom>
          <a:noFill/>
          <a:ln/>
        </p:spPr>
        <p:txBody>
          <a:bodyPr wrap="square" lIns="0" tIns="0" rIns="0" bIns="0" rtlCol="0" anchor="ctr"/>
          <a:lstStyle/>
          <a:p>
            <a:pPr indent="0" marL="0">
              <a:buNone/>
            </a:pPr>
            <a:r>
              <a:rPr lang="en-US" sz="1400" b="1" dirty="0">
                <a:solidFill>
                  <a:srgbClr val="4FD1C5"/>
                </a:solidFill>
                <a:latin typeface="Arial" pitchFamily="34" charset="0"/>
                <a:ea typeface="Arial" pitchFamily="34" charset="-122"/>
                <a:cs typeface="Arial" pitchFamily="34" charset="-120"/>
              </a:rPr>
              <a:t>Contexto reducido</a:t>
            </a:r>
            <a:endParaRPr lang="en-US" sz="1400" dirty="0"/>
          </a:p>
        </p:txBody>
      </p:sp>
      <p:sp>
        <p:nvSpPr>
          <p:cNvPr id="36" name="Text 34"/>
          <p:cNvSpPr txBox="1"/>
          <p:nvPr/>
        </p:nvSpPr>
        <p:spPr>
          <a:xfrm>
            <a:off x="1069848" y="5833872"/>
            <a:ext cx="4573372" cy="438912"/>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El conocimiento vive afuera y entra solo cuando aplica. El CLAUDE.md, en cambio, se paga en cada turno.</a:t>
            </a:r>
            <a:endParaRPr lang="en-US" sz="1200" dirty="0"/>
          </a:p>
        </p:txBody>
      </p:sp>
      <p:sp>
        <p:nvSpPr>
          <p:cNvPr id="37" name="Shape 35"/>
          <p:cNvSpPr/>
          <p:nvPr/>
        </p:nvSpPr>
        <p:spPr>
          <a:xfrm>
            <a:off x="6255868" y="5394960"/>
            <a:ext cx="5158588" cy="960120"/>
          </a:xfrm>
          <a:prstGeom prst="roundRect">
            <a:avLst>
              <a:gd name="adj" fmla="val 9524"/>
            </a:avLst>
          </a:prstGeom>
          <a:solidFill>
            <a:srgbClr val="222B37"/>
          </a:solidFill>
          <a:ln w="12700">
            <a:solidFill>
              <a:srgbClr val="E8734A"/>
            </a:solidFill>
            <a:prstDash val="solid"/>
          </a:ln>
        </p:spPr>
      </p:sp>
      <p:sp>
        <p:nvSpPr>
          <p:cNvPr id="38" name="Shape 36"/>
          <p:cNvSpPr/>
          <p:nvPr/>
        </p:nvSpPr>
        <p:spPr>
          <a:xfrm>
            <a:off x="6548476" y="5577840"/>
            <a:ext cx="146304" cy="146304"/>
          </a:xfrm>
          <a:prstGeom prst="ellipse">
            <a:avLst/>
          </a:prstGeom>
          <a:solidFill>
            <a:srgbClr val="E8734A"/>
          </a:solidFill>
          <a:ln w="12700">
            <a:solidFill>
              <a:srgbClr val="E8734A"/>
            </a:solidFill>
            <a:prstDash val="solid"/>
          </a:ln>
        </p:spPr>
      </p:sp>
      <p:sp>
        <p:nvSpPr>
          <p:cNvPr id="39" name="Text 37"/>
          <p:cNvSpPr txBox="1"/>
          <p:nvPr/>
        </p:nvSpPr>
        <p:spPr>
          <a:xfrm>
            <a:off x="6804508" y="5522976"/>
            <a:ext cx="4335628" cy="256032"/>
          </a:xfrm>
          <a:prstGeom prst="rect">
            <a:avLst/>
          </a:prstGeom>
          <a:noFill/>
          <a:ln/>
        </p:spPr>
        <p:txBody>
          <a:bodyPr wrap="square" lIns="0" tIns="0" rIns="0" bIns="0" rtlCol="0" anchor="ctr"/>
          <a:lstStyle/>
          <a:p>
            <a:pPr indent="0" marL="0">
              <a:buNone/>
            </a:pPr>
            <a:r>
              <a:rPr lang="en-US" sz="1400" b="1" dirty="0">
                <a:solidFill>
                  <a:srgbClr val="E8734A"/>
                </a:solidFill>
                <a:latin typeface="Arial" pitchFamily="34" charset="0"/>
                <a:ea typeface="Arial" pitchFamily="34" charset="-122"/>
                <a:cs typeface="Arial" pitchFamily="34" charset="-120"/>
              </a:rPr>
              <a:t>Menos no determinismo</a:t>
            </a:r>
            <a:endParaRPr lang="en-US" sz="1400" dirty="0"/>
          </a:p>
        </p:txBody>
      </p:sp>
      <p:sp>
        <p:nvSpPr>
          <p:cNvPr id="40" name="Text 38"/>
          <p:cNvSpPr txBox="1"/>
          <p:nvPr/>
        </p:nvSpPr>
        <p:spPr>
          <a:xfrm>
            <a:off x="6548476" y="5833872"/>
            <a:ext cx="4573372" cy="438912"/>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Un procedimiento fijo y versionado en lugar de un prompt improvisado distinto cada vez.</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CAMBIO DE PARADIGMA</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En qué se va el tiempo de un programador</a:t>
            </a:r>
            <a:endParaRPr lang="en-US" sz="3200" dirty="0"/>
          </a:p>
        </p:txBody>
      </p:sp>
      <p:sp>
        <p:nvSpPr>
          <p:cNvPr id="4" name="Text 2"/>
          <p:cNvSpPr txBox="1"/>
          <p:nvPr/>
        </p:nvSpPr>
        <p:spPr>
          <a:xfrm>
            <a:off x="777240" y="1426464"/>
            <a:ext cx="10637215" cy="292608"/>
          </a:xfrm>
          <a:prstGeom prst="rect">
            <a:avLst/>
          </a:prstGeom>
          <a:noFill/>
          <a:ln/>
        </p:spPr>
        <p:txBody>
          <a:bodyPr wrap="square" lIns="0" tIns="0" rIns="0" bIns="0" rtlCol="0" anchor="ctr"/>
          <a:lstStyle/>
          <a:p>
            <a:pPr indent="0" marL="0">
              <a:buNone/>
            </a:pPr>
            <a:r>
              <a:rPr lang="en-US" sz="1500" dirty="0">
                <a:solidFill>
                  <a:srgbClr val="97A3B2"/>
                </a:solidFill>
                <a:latin typeface="Calibri" pitchFamily="34" charset="0"/>
                <a:ea typeface="Calibri" pitchFamily="34" charset="-122"/>
                <a:cs typeface="Calibri" pitchFamily="34" charset="-120"/>
              </a:rPr>
              <a:t>Con agentes, escribir código deja de ser el trabajo. El tiempo se desplaza a decidir qué construir y verificar que lo construido esté bien.</a:t>
            </a:r>
            <a:endParaRPr lang="en-US" sz="1500" dirty="0"/>
          </a:p>
        </p:txBody>
      </p:sp>
      <p:sp>
        <p:nvSpPr>
          <p:cNvPr id="5" name="Text 3"/>
          <p:cNvSpPr txBox="1"/>
          <p:nvPr/>
        </p:nvSpPr>
        <p:spPr>
          <a:xfrm>
            <a:off x="777240" y="1938528"/>
            <a:ext cx="10637215" cy="274320"/>
          </a:xfrm>
          <a:prstGeom prst="rect">
            <a:avLst/>
          </a:prstGeom>
          <a:noFill/>
          <a:ln/>
        </p:spPr>
        <p:txBody>
          <a:bodyPr wrap="square" lIns="0" tIns="0" rIns="0" bIns="0" rtlCol="0" anchor="ctr"/>
          <a:lstStyle/>
          <a:p>
            <a:pPr indent="0" marL="0">
              <a:buNone/>
            </a:pPr>
            <a:r>
              <a:rPr lang="en-US" sz="1200" b="1" spc="200" kern="0" dirty="0">
                <a:solidFill>
                  <a:srgbClr val="97A3B2"/>
                </a:solidFill>
                <a:latin typeface="Calibri" pitchFamily="34" charset="0"/>
                <a:ea typeface="Calibri" pitchFamily="34" charset="-122"/>
                <a:cs typeface="Calibri" pitchFamily="34" charset="-120"/>
              </a:rPr>
              <a:t>ANTES · SIN AGENTES</a:t>
            </a:r>
            <a:endParaRPr lang="en-US" sz="1200" dirty="0"/>
          </a:p>
        </p:txBody>
      </p:sp>
      <p:sp>
        <p:nvSpPr>
          <p:cNvPr id="6" name="Shape 4"/>
          <p:cNvSpPr/>
          <p:nvPr/>
        </p:nvSpPr>
        <p:spPr>
          <a:xfrm>
            <a:off x="777240" y="2240280"/>
            <a:ext cx="9573494" cy="914400"/>
          </a:xfrm>
          <a:prstGeom prst="rect">
            <a:avLst/>
          </a:prstGeom>
          <a:solidFill>
            <a:srgbClr val="8C4630"/>
          </a:solidFill>
          <a:ln w="25400">
            <a:solidFill>
              <a:srgbClr val="0E1117"/>
            </a:solidFill>
            <a:prstDash val="solid"/>
          </a:ln>
        </p:spPr>
      </p:sp>
      <p:sp>
        <p:nvSpPr>
          <p:cNvPr id="7" name="Text 5"/>
          <p:cNvSpPr txBox="1"/>
          <p:nvPr/>
        </p:nvSpPr>
        <p:spPr>
          <a:xfrm>
            <a:off x="777240" y="2368296"/>
            <a:ext cx="9573494" cy="310896"/>
          </a:xfrm>
          <a:prstGeom prst="rect">
            <a:avLst/>
          </a:prstGeom>
          <a:noFill/>
          <a:ln/>
        </p:spPr>
        <p:txBody>
          <a:bodyPr wrap="square" lIns="0" tIns="0" rIns="0" bIns="0" rtlCol="0" anchor="ctr"/>
          <a:lstStyle/>
          <a:p>
            <a:pPr algn="ctr" indent="0" marL="0">
              <a:buNone/>
            </a:pPr>
            <a:r>
              <a:rPr lang="en-US" sz="1700" b="1" dirty="0">
                <a:solidFill>
                  <a:srgbClr val="E9EDF2"/>
                </a:solidFill>
                <a:latin typeface="Arial" pitchFamily="34" charset="0"/>
                <a:ea typeface="Arial" pitchFamily="34" charset="-122"/>
                <a:cs typeface="Arial" pitchFamily="34" charset="-120"/>
              </a:rPr>
              <a:t>90%</a:t>
            </a:r>
            <a:endParaRPr lang="en-US" sz="1700" dirty="0"/>
          </a:p>
        </p:txBody>
      </p:sp>
      <p:sp>
        <p:nvSpPr>
          <p:cNvPr id="8" name="Text 6"/>
          <p:cNvSpPr txBox="1"/>
          <p:nvPr/>
        </p:nvSpPr>
        <p:spPr>
          <a:xfrm>
            <a:off x="777240" y="2697480"/>
            <a:ext cx="9573494" cy="310896"/>
          </a:xfrm>
          <a:prstGeom prst="rect">
            <a:avLst/>
          </a:prstGeom>
          <a:noFill/>
          <a:ln/>
        </p:spPr>
        <p:txBody>
          <a:bodyPr wrap="square" lIns="0" tIns="0" rIns="0" bIns="0" rtlCol="0" anchor="ctr"/>
          <a:lstStyle/>
          <a:p>
            <a:pPr algn="ctr" indent="0" marL="0">
              <a:buNone/>
            </a:pPr>
            <a:r>
              <a:rPr lang="en-US" sz="1300" dirty="0">
                <a:solidFill>
                  <a:srgbClr val="D9E2EA"/>
                </a:solidFill>
                <a:latin typeface="Calibri" pitchFamily="34" charset="0"/>
                <a:ea typeface="Calibri" pitchFamily="34" charset="-122"/>
                <a:cs typeface="Calibri" pitchFamily="34" charset="-120"/>
              </a:rPr>
              <a:t>Escritura de código</a:t>
            </a:r>
            <a:endParaRPr lang="en-US" sz="1300" dirty="0"/>
          </a:p>
        </p:txBody>
      </p:sp>
      <p:sp>
        <p:nvSpPr>
          <p:cNvPr id="9" name="Shape 7"/>
          <p:cNvSpPr/>
          <p:nvPr/>
        </p:nvSpPr>
        <p:spPr>
          <a:xfrm>
            <a:off x="10350734" y="2240280"/>
            <a:ext cx="1063722" cy="914400"/>
          </a:xfrm>
          <a:prstGeom prst="rect">
            <a:avLst/>
          </a:prstGeom>
          <a:solidFill>
            <a:srgbClr val="17564F"/>
          </a:solidFill>
          <a:ln w="25400">
            <a:solidFill>
              <a:srgbClr val="0E1117"/>
            </a:solidFill>
            <a:prstDash val="solid"/>
          </a:ln>
        </p:spPr>
      </p:sp>
      <p:sp>
        <p:nvSpPr>
          <p:cNvPr id="10" name="Text 8"/>
          <p:cNvSpPr txBox="1"/>
          <p:nvPr/>
        </p:nvSpPr>
        <p:spPr>
          <a:xfrm>
            <a:off x="10350734" y="2542032"/>
            <a:ext cx="1063722" cy="310896"/>
          </a:xfrm>
          <a:prstGeom prst="rect">
            <a:avLst/>
          </a:prstGeom>
          <a:noFill/>
          <a:ln/>
        </p:spPr>
        <p:txBody>
          <a:bodyPr wrap="square" lIns="0" tIns="0" rIns="0" bIns="0" rtlCol="0" anchor="ctr"/>
          <a:lstStyle/>
          <a:p>
            <a:pPr algn="ctr" indent="0" marL="0">
              <a:buNone/>
            </a:pPr>
            <a:r>
              <a:rPr lang="en-US" sz="1200" b="1" dirty="0">
                <a:solidFill>
                  <a:srgbClr val="E9EDF2"/>
                </a:solidFill>
                <a:latin typeface="Arial" pitchFamily="34" charset="0"/>
                <a:ea typeface="Arial" pitchFamily="34" charset="-122"/>
                <a:cs typeface="Arial" pitchFamily="34" charset="-120"/>
              </a:rPr>
              <a:t>10%</a:t>
            </a:r>
            <a:endParaRPr lang="en-US" sz="1200" dirty="0"/>
          </a:p>
        </p:txBody>
      </p:sp>
      <p:sp>
        <p:nvSpPr>
          <p:cNvPr id="11" name="Text 9"/>
          <p:cNvSpPr txBox="1"/>
          <p:nvPr/>
        </p:nvSpPr>
        <p:spPr>
          <a:xfrm>
            <a:off x="777240" y="3264408"/>
            <a:ext cx="10637215" cy="310896"/>
          </a:xfrm>
          <a:prstGeom prst="rect">
            <a:avLst/>
          </a:prstGeom>
          <a:noFill/>
          <a:ln/>
        </p:spPr>
        <p:txBody>
          <a:bodyPr wrap="square" lIns="0" tIns="0" rIns="0" bIns="0" rtlCol="0" anchor="t"/>
          <a:lstStyle/>
          <a:p>
            <a:pPr indent="0" marL="0">
              <a:buNone/>
            </a:pPr>
            <a:r>
              <a:rPr lang="en-US" sz="1250" dirty="0">
                <a:solidFill>
                  <a:srgbClr val="97A3B2"/>
                </a:solidFill>
                <a:latin typeface="Calibri" pitchFamily="34" charset="0"/>
                <a:ea typeface="Calibri" pitchFamily="34" charset="-122"/>
                <a:cs typeface="Calibri" pitchFamily="34" charset="-120"/>
              </a:rPr>
              <a:t>Ese 10% se repartía entre arquitectura, seguridad, UX, tests unitarios, tests E2E, code review, documentación y refinamiento de requisitos.</a:t>
            </a:r>
            <a:endParaRPr lang="en-US" sz="1250" dirty="0"/>
          </a:p>
        </p:txBody>
      </p:sp>
      <p:sp>
        <p:nvSpPr>
          <p:cNvPr id="12" name="Text 10"/>
          <p:cNvSpPr txBox="1"/>
          <p:nvPr/>
        </p:nvSpPr>
        <p:spPr>
          <a:xfrm>
            <a:off x="777240" y="3913632"/>
            <a:ext cx="10637215" cy="274320"/>
          </a:xfrm>
          <a:prstGeom prst="rect">
            <a:avLst/>
          </a:prstGeom>
          <a:noFill/>
          <a:ln/>
        </p:spPr>
        <p:txBody>
          <a:bodyPr wrap="square" lIns="0" tIns="0" rIns="0" bIns="0" rtlCol="0" anchor="ctr"/>
          <a:lstStyle/>
          <a:p>
            <a:pPr indent="0" marL="0">
              <a:buNone/>
            </a:pPr>
            <a:r>
              <a:rPr lang="en-US" sz="1200" b="1" spc="200" kern="0" dirty="0">
                <a:solidFill>
                  <a:srgbClr val="97A3B2"/>
                </a:solidFill>
                <a:latin typeface="Calibri" pitchFamily="34" charset="0"/>
                <a:ea typeface="Calibri" pitchFamily="34" charset="-122"/>
                <a:cs typeface="Calibri" pitchFamily="34" charset="-120"/>
              </a:rPr>
              <a:t>AHORA · CON AGENTES</a:t>
            </a:r>
            <a:endParaRPr lang="en-US" sz="1200" dirty="0"/>
          </a:p>
        </p:txBody>
      </p:sp>
      <p:sp>
        <p:nvSpPr>
          <p:cNvPr id="13" name="Shape 11"/>
          <p:cNvSpPr/>
          <p:nvPr/>
        </p:nvSpPr>
        <p:spPr>
          <a:xfrm>
            <a:off x="777240" y="4215384"/>
            <a:ext cx="531861" cy="914400"/>
          </a:xfrm>
          <a:prstGeom prst="rect">
            <a:avLst/>
          </a:prstGeom>
          <a:solidFill>
            <a:srgbClr val="8C4630"/>
          </a:solidFill>
          <a:ln w="25400">
            <a:solidFill>
              <a:srgbClr val="0E1117"/>
            </a:solidFill>
            <a:prstDash val="solid"/>
          </a:ln>
        </p:spPr>
      </p:sp>
      <p:sp>
        <p:nvSpPr>
          <p:cNvPr id="14" name="Text 12"/>
          <p:cNvSpPr txBox="1"/>
          <p:nvPr/>
        </p:nvSpPr>
        <p:spPr>
          <a:xfrm>
            <a:off x="777240" y="4517136"/>
            <a:ext cx="531861" cy="310896"/>
          </a:xfrm>
          <a:prstGeom prst="rect">
            <a:avLst/>
          </a:prstGeom>
          <a:noFill/>
          <a:ln/>
        </p:spPr>
        <p:txBody>
          <a:bodyPr wrap="square" lIns="0" tIns="0" rIns="0" bIns="0" rtlCol="0" anchor="ctr"/>
          <a:lstStyle/>
          <a:p>
            <a:pPr algn="ctr" indent="0" marL="0">
              <a:buNone/>
            </a:pPr>
            <a:r>
              <a:rPr lang="en-US" sz="1200" b="1" dirty="0">
                <a:solidFill>
                  <a:srgbClr val="E9EDF2"/>
                </a:solidFill>
                <a:latin typeface="Arial" pitchFamily="34" charset="0"/>
                <a:ea typeface="Arial" pitchFamily="34" charset="-122"/>
                <a:cs typeface="Arial" pitchFamily="34" charset="-120"/>
              </a:rPr>
              <a:t>0-5%</a:t>
            </a:r>
            <a:endParaRPr lang="en-US" sz="1200" dirty="0"/>
          </a:p>
        </p:txBody>
      </p:sp>
      <p:sp>
        <p:nvSpPr>
          <p:cNvPr id="15" name="Shape 13"/>
          <p:cNvSpPr/>
          <p:nvPr/>
        </p:nvSpPr>
        <p:spPr>
          <a:xfrm>
            <a:off x="1309101" y="4215384"/>
            <a:ext cx="10105354" cy="914400"/>
          </a:xfrm>
          <a:prstGeom prst="rect">
            <a:avLst/>
          </a:prstGeom>
          <a:solidFill>
            <a:srgbClr val="17564F"/>
          </a:solidFill>
          <a:ln w="25400">
            <a:solidFill>
              <a:srgbClr val="0E1117"/>
            </a:solidFill>
            <a:prstDash val="solid"/>
          </a:ln>
        </p:spPr>
      </p:sp>
      <p:sp>
        <p:nvSpPr>
          <p:cNvPr id="16" name="Text 14"/>
          <p:cNvSpPr txBox="1"/>
          <p:nvPr/>
        </p:nvSpPr>
        <p:spPr>
          <a:xfrm>
            <a:off x="1309101" y="4343400"/>
            <a:ext cx="10105354" cy="310896"/>
          </a:xfrm>
          <a:prstGeom prst="rect">
            <a:avLst/>
          </a:prstGeom>
          <a:noFill/>
          <a:ln/>
        </p:spPr>
        <p:txBody>
          <a:bodyPr wrap="square" lIns="0" tIns="0" rIns="0" bIns="0" rtlCol="0" anchor="ctr"/>
          <a:lstStyle/>
          <a:p>
            <a:pPr algn="ctr" indent="0" marL="0">
              <a:buNone/>
            </a:pPr>
            <a:r>
              <a:rPr lang="en-US" sz="1700" b="1" dirty="0">
                <a:solidFill>
                  <a:srgbClr val="E9EDF2"/>
                </a:solidFill>
                <a:latin typeface="Arial" pitchFamily="34" charset="0"/>
                <a:ea typeface="Arial" pitchFamily="34" charset="-122"/>
                <a:cs typeface="Arial" pitchFamily="34" charset="-120"/>
              </a:rPr>
              <a:t>95-100%</a:t>
            </a:r>
            <a:endParaRPr lang="en-US" sz="1700" dirty="0"/>
          </a:p>
        </p:txBody>
      </p:sp>
      <p:sp>
        <p:nvSpPr>
          <p:cNvPr id="17" name="Text 15"/>
          <p:cNvSpPr txBox="1"/>
          <p:nvPr/>
        </p:nvSpPr>
        <p:spPr>
          <a:xfrm>
            <a:off x="1309101" y="4672584"/>
            <a:ext cx="10105354" cy="310896"/>
          </a:xfrm>
          <a:prstGeom prst="rect">
            <a:avLst/>
          </a:prstGeom>
          <a:noFill/>
          <a:ln/>
        </p:spPr>
        <p:txBody>
          <a:bodyPr wrap="square" lIns="0" tIns="0" rIns="0" bIns="0" rtlCol="0" anchor="ctr"/>
          <a:lstStyle/>
          <a:p>
            <a:pPr algn="ctr" indent="0" marL="0">
              <a:buNone/>
            </a:pPr>
            <a:r>
              <a:rPr lang="en-US" sz="1300" dirty="0">
                <a:solidFill>
                  <a:srgbClr val="D9E2EA"/>
                </a:solidFill>
                <a:latin typeface="Calibri" pitchFamily="34" charset="0"/>
                <a:ea typeface="Calibri" pitchFamily="34" charset="-122"/>
                <a:cs typeface="Calibri" pitchFamily="34" charset="-120"/>
              </a:rPr>
              <a:t>Arquitectura · Seguridad · UX · Especificaciones · Tests E2E · Verificación</a:t>
            </a:r>
            <a:endParaRPr lang="en-US" sz="1300" dirty="0"/>
          </a:p>
        </p:txBody>
      </p:sp>
      <p:sp>
        <p:nvSpPr>
          <p:cNvPr id="18" name="Text 16"/>
          <p:cNvSpPr txBox="1"/>
          <p:nvPr/>
        </p:nvSpPr>
        <p:spPr>
          <a:xfrm>
            <a:off x="777240" y="5239512"/>
            <a:ext cx="10637215" cy="310896"/>
          </a:xfrm>
          <a:prstGeom prst="rect">
            <a:avLst/>
          </a:prstGeom>
          <a:noFill/>
          <a:ln/>
        </p:spPr>
        <p:txBody>
          <a:bodyPr wrap="square" lIns="0" tIns="0" rIns="0" bIns="0" rtlCol="0" anchor="t"/>
          <a:lstStyle/>
          <a:p>
            <a:pPr indent="0" marL="0">
              <a:buNone/>
            </a:pPr>
            <a:r>
              <a:rPr lang="en-US" sz="1250" dirty="0">
                <a:solidFill>
                  <a:srgbClr val="97A3B2"/>
                </a:solidFill>
                <a:latin typeface="Calibri" pitchFamily="34" charset="0"/>
                <a:ea typeface="Calibri" pitchFamily="34" charset="-122"/>
                <a:cs typeface="Calibri" pitchFamily="34" charset="-120"/>
              </a:rPr>
              <a:t>Ese 0-5% es el código y los tests que todavía se escriben a mano. Y se suman tareas nuevas: especificaciones y criterios de aceptación, revisión crítica del código generado, gestión del contexto del agente y validación de lo entregado.</a:t>
            </a:r>
            <a:endParaRPr lang="en-US" sz="1250" dirty="0"/>
          </a:p>
        </p:txBody>
      </p:sp>
      <p:sp>
        <p:nvSpPr>
          <p:cNvPr id="19" name="Shape 17"/>
          <p:cNvSpPr/>
          <p:nvPr/>
        </p:nvSpPr>
        <p:spPr>
          <a:xfrm>
            <a:off x="777240" y="5806440"/>
            <a:ext cx="10637215" cy="621792"/>
          </a:xfrm>
          <a:prstGeom prst="roundRect">
            <a:avLst>
              <a:gd name="adj" fmla="val 14706"/>
            </a:avLst>
          </a:prstGeom>
          <a:solidFill>
            <a:srgbClr val="1A212B"/>
          </a:solidFill>
          <a:ln w="12700">
            <a:solidFill>
              <a:srgbClr val="E8734A"/>
            </a:solidFill>
            <a:prstDash val="solid"/>
          </a:ln>
        </p:spPr>
      </p:sp>
      <p:sp>
        <p:nvSpPr>
          <p:cNvPr id="20" name="Text 18"/>
          <p:cNvSpPr txBox="1"/>
          <p:nvPr/>
        </p:nvSpPr>
        <p:spPr>
          <a:xfrm>
            <a:off x="1097280" y="5806440"/>
            <a:ext cx="9997135" cy="621792"/>
          </a:xfrm>
          <a:prstGeom prst="rect">
            <a:avLst/>
          </a:prstGeom>
          <a:noFill/>
          <a:ln/>
        </p:spPr>
        <p:txBody>
          <a:bodyPr wrap="square" lIns="0" tIns="0" rIns="0" bIns="0" rtlCol="0" anchor="ctr"/>
          <a:lstStyle/>
          <a:p>
            <a:pPr indent="0" marL="0">
              <a:buNone/>
            </a:pPr>
            <a:r>
              <a:rPr lang="en-US" sz="1400" b="1" dirty="0">
                <a:solidFill>
                  <a:srgbClr val="E9EDF2"/>
                </a:solidFill>
                <a:latin typeface="Calibri" pitchFamily="34" charset="0"/>
                <a:ea typeface="Calibri" pitchFamily="34" charset="-122"/>
                <a:cs typeface="Calibri" pitchFamily="34" charset="-120"/>
              </a:rPr>
              <a:t>El cuello de botella se corrió: ya no es tipear, es especificar bien y verificar. Por eso las dos prácticas que siguen.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A22"/>
        </a:solidFill>
      </p:bgPr>
    </p:bg>
    <p:spTree>
      <p:nvGrpSpPr>
        <p:cNvPr id="1" name=""/>
        <p:cNvGrpSpPr/>
        <p:nvPr/>
      </p:nvGrpSpPr>
      <p:grpSpPr>
        <a:xfrm>
          <a:off x="0" y="0"/>
          <a:ext cx="0" cy="0"/>
          <a:chOff x="0" y="0"/>
          <a:chExt cx="0" cy="0"/>
        </a:xfrm>
      </p:grpSpPr>
      <p:sp>
        <p:nvSpPr>
          <p:cNvPr id="2" name="Shape 0"/>
          <p:cNvSpPr/>
          <p:nvPr/>
        </p:nvSpPr>
        <p:spPr>
          <a:xfrm>
            <a:off x="-1463040" y="3108960"/>
            <a:ext cx="5486400" cy="5486400"/>
          </a:xfrm>
          <a:prstGeom prst="ellipse">
            <a:avLst/>
          </a:prstGeom>
          <a:solidFill>
            <a:srgbClr val="4FD1C5">
              <a:alpha val="9000"/>
            </a:srgbClr>
          </a:solidFill>
          <a:ln/>
        </p:spPr>
      </p:sp>
      <p:sp>
        <p:nvSpPr>
          <p:cNvPr id="3" name="Text 1"/>
          <p:cNvSpPr txBox="1"/>
          <p:nvPr/>
        </p:nvSpPr>
        <p:spPr>
          <a:xfrm>
            <a:off x="777240" y="2331720"/>
            <a:ext cx="7315200" cy="320040"/>
          </a:xfrm>
          <a:prstGeom prst="rect">
            <a:avLst/>
          </a:prstGeom>
          <a:noFill/>
          <a:ln/>
        </p:spPr>
        <p:txBody>
          <a:bodyPr wrap="square" lIns="0" tIns="0" rIns="0" bIns="0" rtlCol="0" anchor="ctr"/>
          <a:lstStyle/>
          <a:p>
            <a:pPr indent="0" marL="0">
              <a:buNone/>
            </a:pPr>
            <a:r>
              <a:rPr lang="en-US" sz="1400" b="1" spc="300" kern="0" dirty="0">
                <a:solidFill>
                  <a:srgbClr val="4FD1C5"/>
                </a:solidFill>
                <a:latin typeface="Calibri" pitchFamily="34" charset="0"/>
                <a:ea typeface="Calibri" pitchFamily="34" charset="-122"/>
                <a:cs typeface="Calibri" pitchFamily="34" charset="-120"/>
              </a:rPr>
              <a:t>PARTE 2</a:t>
            </a:r>
            <a:endParaRPr lang="en-US" sz="1400" dirty="0"/>
          </a:p>
        </p:txBody>
      </p:sp>
      <p:sp>
        <p:nvSpPr>
          <p:cNvPr id="4" name="Text 2"/>
          <p:cNvSpPr txBox="1"/>
          <p:nvPr/>
        </p:nvSpPr>
        <p:spPr>
          <a:xfrm>
            <a:off x="777240" y="2697480"/>
            <a:ext cx="7315200" cy="1005840"/>
          </a:xfrm>
          <a:prstGeom prst="rect">
            <a:avLst/>
          </a:prstGeom>
          <a:noFill/>
          <a:ln/>
        </p:spPr>
        <p:txBody>
          <a:bodyPr wrap="square" lIns="0" tIns="0" rIns="0" bIns="0" rtlCol="0" anchor="ctr"/>
          <a:lstStyle/>
          <a:p>
            <a:pPr indent="0" marL="0">
              <a:buNone/>
            </a:pPr>
            <a:r>
              <a:rPr lang="en-US" sz="6000" b="1" dirty="0">
                <a:solidFill>
                  <a:srgbClr val="E9EDF2"/>
                </a:solidFill>
                <a:latin typeface="Arial" pitchFamily="34" charset="0"/>
                <a:ea typeface="Arial" pitchFamily="34" charset="-122"/>
                <a:cs typeface="Arial" pitchFamily="34" charset="-120"/>
              </a:rPr>
              <a:t>TDD</a:t>
            </a:r>
            <a:endParaRPr lang="en-US" sz="6000" dirty="0"/>
          </a:p>
        </p:txBody>
      </p:sp>
      <p:sp>
        <p:nvSpPr>
          <p:cNvPr id="5" name="Text 3"/>
          <p:cNvSpPr txBox="1"/>
          <p:nvPr/>
        </p:nvSpPr>
        <p:spPr>
          <a:xfrm>
            <a:off x="777240" y="3749040"/>
            <a:ext cx="8686800" cy="365760"/>
          </a:xfrm>
          <a:prstGeom prst="rect">
            <a:avLst/>
          </a:prstGeom>
          <a:noFill/>
          <a:ln/>
        </p:spPr>
        <p:txBody>
          <a:bodyPr wrap="square" lIns="0" tIns="0" rIns="0" bIns="0" rtlCol="0" anchor="ctr"/>
          <a:lstStyle/>
          <a:p>
            <a:pPr indent="0" marL="0">
              <a:buNone/>
            </a:pPr>
            <a:r>
              <a:rPr lang="en-US" sz="1800" dirty="0">
                <a:solidFill>
                  <a:srgbClr val="97A3B2"/>
                </a:solidFill>
                <a:latin typeface="Calibri" pitchFamily="34" charset="0"/>
                <a:ea typeface="Calibri" pitchFamily="34" charset="-122"/>
                <a:cs typeface="Calibri" pitchFamily="34" charset="-120"/>
              </a:rPr>
              <a:t>Test-Driven Development — el test primero, el código después.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TDD</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El ciclo: escribir el test antes que el código</a:t>
            </a:r>
            <a:endParaRPr lang="en-US" sz="3200" dirty="0"/>
          </a:p>
        </p:txBody>
      </p:sp>
      <p:sp>
        <p:nvSpPr>
          <p:cNvPr id="4" name="Shape 2"/>
          <p:cNvSpPr/>
          <p:nvPr/>
        </p:nvSpPr>
        <p:spPr>
          <a:xfrm>
            <a:off x="777240" y="1874520"/>
            <a:ext cx="3271418" cy="2468880"/>
          </a:xfrm>
          <a:prstGeom prst="roundRect">
            <a:avLst>
              <a:gd name="adj" fmla="val 3704"/>
            </a:avLst>
          </a:prstGeom>
          <a:solidFill>
            <a:srgbClr val="1A212B"/>
          </a:solidFill>
          <a:ln w="12700">
            <a:solidFill>
              <a:srgbClr val="2E3A48"/>
            </a:solidFill>
            <a:prstDash val="solid"/>
          </a:ln>
        </p:spPr>
      </p:sp>
      <p:sp>
        <p:nvSpPr>
          <p:cNvPr id="5" name="Shape 3"/>
          <p:cNvSpPr/>
          <p:nvPr/>
        </p:nvSpPr>
        <p:spPr>
          <a:xfrm>
            <a:off x="2001469" y="2194560"/>
            <a:ext cx="822960" cy="822960"/>
          </a:xfrm>
          <a:prstGeom prst="ellipse">
            <a:avLst/>
          </a:prstGeom>
          <a:solidFill>
            <a:srgbClr val="E05A4A">
              <a:alpha val="20000"/>
            </a:srgbClr>
          </a:solidFill>
          <a:ln w="25400">
            <a:solidFill>
              <a:srgbClr val="E05A4A"/>
            </a:solidFill>
            <a:prstDash val="solid"/>
          </a:ln>
        </p:spPr>
      </p:sp>
      <p:sp>
        <p:nvSpPr>
          <p:cNvPr id="6" name="Text 4"/>
          <p:cNvSpPr txBox="1"/>
          <p:nvPr/>
        </p:nvSpPr>
        <p:spPr>
          <a:xfrm>
            <a:off x="2001469" y="2194560"/>
            <a:ext cx="822960" cy="822960"/>
          </a:xfrm>
          <a:prstGeom prst="rect">
            <a:avLst/>
          </a:prstGeom>
          <a:noFill/>
          <a:ln/>
        </p:spPr>
        <p:txBody>
          <a:bodyPr wrap="square" lIns="0" tIns="0" rIns="0" bIns="0" rtlCol="0" anchor="ctr"/>
          <a:lstStyle/>
          <a:p>
            <a:pPr algn="ctr" indent="0" marL="0">
              <a:buNone/>
            </a:pPr>
            <a:r>
              <a:rPr lang="en-US" sz="2200" b="1" dirty="0">
                <a:solidFill>
                  <a:srgbClr val="E05A4A"/>
                </a:solidFill>
                <a:latin typeface="Arial" pitchFamily="34" charset="0"/>
                <a:ea typeface="Arial" pitchFamily="34" charset="-122"/>
                <a:cs typeface="Arial" pitchFamily="34" charset="-120"/>
              </a:rPr>
              <a:t>1</a:t>
            </a:r>
            <a:endParaRPr lang="en-US" sz="2200" dirty="0"/>
          </a:p>
        </p:txBody>
      </p:sp>
      <p:sp>
        <p:nvSpPr>
          <p:cNvPr id="7" name="Text 5"/>
          <p:cNvSpPr txBox="1"/>
          <p:nvPr/>
        </p:nvSpPr>
        <p:spPr>
          <a:xfrm>
            <a:off x="777240" y="3182112"/>
            <a:ext cx="3271418" cy="347472"/>
          </a:xfrm>
          <a:prstGeom prst="rect">
            <a:avLst/>
          </a:prstGeom>
          <a:noFill/>
          <a:ln/>
        </p:spPr>
        <p:txBody>
          <a:bodyPr wrap="square" lIns="0" tIns="0" rIns="0" bIns="0" rtlCol="0" anchor="ctr"/>
          <a:lstStyle/>
          <a:p>
            <a:pPr algn="ctr" indent="0" marL="0">
              <a:buNone/>
            </a:pPr>
            <a:r>
              <a:rPr lang="en-US" sz="1900" b="1" spc="100" kern="0" dirty="0">
                <a:solidFill>
                  <a:srgbClr val="E05A4A"/>
                </a:solidFill>
                <a:latin typeface="Arial" pitchFamily="34" charset="0"/>
                <a:ea typeface="Arial" pitchFamily="34" charset="-122"/>
                <a:cs typeface="Arial" pitchFamily="34" charset="-120"/>
              </a:rPr>
              <a:t>RED</a:t>
            </a:r>
            <a:endParaRPr lang="en-US" sz="1900" dirty="0"/>
          </a:p>
        </p:txBody>
      </p:sp>
      <p:sp>
        <p:nvSpPr>
          <p:cNvPr id="8" name="Text 6"/>
          <p:cNvSpPr txBox="1"/>
          <p:nvPr/>
        </p:nvSpPr>
        <p:spPr>
          <a:xfrm>
            <a:off x="1097280" y="3602736"/>
            <a:ext cx="2631338" cy="713232"/>
          </a:xfrm>
          <a:prstGeom prst="rect">
            <a:avLst/>
          </a:prstGeom>
          <a:noFill/>
          <a:ln/>
        </p:spPr>
        <p:txBody>
          <a:bodyPr wrap="square" lIns="0" tIns="0" rIns="0" bIns="0" rtlCol="0" anchor="t"/>
          <a:lstStyle/>
          <a:p>
            <a:pPr algn="ctr" indent="0" marL="0">
              <a:lnSpc>
                <a:spcPts val="1800"/>
              </a:lnSpc>
              <a:buNone/>
            </a:pPr>
            <a:r>
              <a:rPr lang="en-US" sz="1300" dirty="0">
                <a:solidFill>
                  <a:srgbClr val="97A3B2"/>
                </a:solidFill>
                <a:latin typeface="Calibri" pitchFamily="34" charset="0"/>
                <a:ea typeface="Calibri" pitchFamily="34" charset="-122"/>
                <a:cs typeface="Calibri" pitchFamily="34" charset="-120"/>
              </a:rPr>
              <a:t>Escribís un test que describe el comportamiento deseado. Falla, porque el código no existe.</a:t>
            </a:r>
            <a:endParaRPr lang="en-US" sz="1300" dirty="0"/>
          </a:p>
        </p:txBody>
      </p:sp>
      <p:sp>
        <p:nvSpPr>
          <p:cNvPr id="9" name="Shape 7"/>
          <p:cNvSpPr/>
          <p:nvPr/>
        </p:nvSpPr>
        <p:spPr>
          <a:xfrm>
            <a:off x="4130954" y="3017520"/>
            <a:ext cx="246888" cy="201168"/>
          </a:xfrm>
          <a:prstGeom prst="rightArrow">
            <a:avLst/>
          </a:prstGeom>
          <a:solidFill>
            <a:srgbClr val="2E3A48"/>
          </a:solidFill>
          <a:ln w="12700">
            <a:solidFill>
              <a:srgbClr val="2E3A48"/>
            </a:solidFill>
            <a:prstDash val="solid"/>
          </a:ln>
        </p:spPr>
      </p:sp>
      <p:sp>
        <p:nvSpPr>
          <p:cNvPr id="10" name="Shape 8"/>
          <p:cNvSpPr/>
          <p:nvPr/>
        </p:nvSpPr>
        <p:spPr>
          <a:xfrm>
            <a:off x="4460138" y="1874520"/>
            <a:ext cx="3271418" cy="2468880"/>
          </a:xfrm>
          <a:prstGeom prst="roundRect">
            <a:avLst>
              <a:gd name="adj" fmla="val 3704"/>
            </a:avLst>
          </a:prstGeom>
          <a:solidFill>
            <a:srgbClr val="1A212B"/>
          </a:solidFill>
          <a:ln w="12700">
            <a:solidFill>
              <a:srgbClr val="2E3A48"/>
            </a:solidFill>
            <a:prstDash val="solid"/>
          </a:ln>
        </p:spPr>
      </p:sp>
      <p:sp>
        <p:nvSpPr>
          <p:cNvPr id="11" name="Shape 9"/>
          <p:cNvSpPr/>
          <p:nvPr/>
        </p:nvSpPr>
        <p:spPr>
          <a:xfrm>
            <a:off x="5684368" y="2194560"/>
            <a:ext cx="822960" cy="822960"/>
          </a:xfrm>
          <a:prstGeom prst="ellipse">
            <a:avLst/>
          </a:prstGeom>
          <a:solidFill>
            <a:srgbClr val="3FBF8F">
              <a:alpha val="20000"/>
            </a:srgbClr>
          </a:solidFill>
          <a:ln w="25400">
            <a:solidFill>
              <a:srgbClr val="3FBF8F"/>
            </a:solidFill>
            <a:prstDash val="solid"/>
          </a:ln>
        </p:spPr>
      </p:sp>
      <p:sp>
        <p:nvSpPr>
          <p:cNvPr id="12" name="Text 10"/>
          <p:cNvSpPr txBox="1"/>
          <p:nvPr/>
        </p:nvSpPr>
        <p:spPr>
          <a:xfrm>
            <a:off x="5684368" y="2194560"/>
            <a:ext cx="822960" cy="822960"/>
          </a:xfrm>
          <a:prstGeom prst="rect">
            <a:avLst/>
          </a:prstGeom>
          <a:noFill/>
          <a:ln/>
        </p:spPr>
        <p:txBody>
          <a:bodyPr wrap="square" lIns="0" tIns="0" rIns="0" bIns="0" rtlCol="0" anchor="ctr"/>
          <a:lstStyle/>
          <a:p>
            <a:pPr algn="ctr" indent="0" marL="0">
              <a:buNone/>
            </a:pPr>
            <a:r>
              <a:rPr lang="en-US" sz="2200" b="1" dirty="0">
                <a:solidFill>
                  <a:srgbClr val="3FBF8F"/>
                </a:solidFill>
                <a:latin typeface="Arial" pitchFamily="34" charset="0"/>
                <a:ea typeface="Arial" pitchFamily="34" charset="-122"/>
                <a:cs typeface="Arial" pitchFamily="34" charset="-120"/>
              </a:rPr>
              <a:t>2</a:t>
            </a:r>
            <a:endParaRPr lang="en-US" sz="2200" dirty="0"/>
          </a:p>
        </p:txBody>
      </p:sp>
      <p:sp>
        <p:nvSpPr>
          <p:cNvPr id="13" name="Text 11"/>
          <p:cNvSpPr txBox="1"/>
          <p:nvPr/>
        </p:nvSpPr>
        <p:spPr>
          <a:xfrm>
            <a:off x="4460138" y="3182112"/>
            <a:ext cx="3271418" cy="347472"/>
          </a:xfrm>
          <a:prstGeom prst="rect">
            <a:avLst/>
          </a:prstGeom>
          <a:noFill/>
          <a:ln/>
        </p:spPr>
        <p:txBody>
          <a:bodyPr wrap="square" lIns="0" tIns="0" rIns="0" bIns="0" rtlCol="0" anchor="ctr"/>
          <a:lstStyle/>
          <a:p>
            <a:pPr algn="ctr" indent="0" marL="0">
              <a:buNone/>
            </a:pPr>
            <a:r>
              <a:rPr lang="en-US" sz="1900" b="1" spc="100" kern="0" dirty="0">
                <a:solidFill>
                  <a:srgbClr val="3FBF8F"/>
                </a:solidFill>
                <a:latin typeface="Arial" pitchFamily="34" charset="0"/>
                <a:ea typeface="Arial" pitchFamily="34" charset="-122"/>
                <a:cs typeface="Arial" pitchFamily="34" charset="-120"/>
              </a:rPr>
              <a:t>GREEN</a:t>
            </a:r>
            <a:endParaRPr lang="en-US" sz="1900" dirty="0"/>
          </a:p>
        </p:txBody>
      </p:sp>
      <p:sp>
        <p:nvSpPr>
          <p:cNvPr id="14" name="Text 12"/>
          <p:cNvSpPr txBox="1"/>
          <p:nvPr/>
        </p:nvSpPr>
        <p:spPr>
          <a:xfrm>
            <a:off x="4780178" y="3602736"/>
            <a:ext cx="2631338" cy="713232"/>
          </a:xfrm>
          <a:prstGeom prst="rect">
            <a:avLst/>
          </a:prstGeom>
          <a:noFill/>
          <a:ln/>
        </p:spPr>
        <p:txBody>
          <a:bodyPr wrap="square" lIns="0" tIns="0" rIns="0" bIns="0" rtlCol="0" anchor="t"/>
          <a:lstStyle/>
          <a:p>
            <a:pPr algn="ctr" indent="0" marL="0">
              <a:lnSpc>
                <a:spcPts val="1800"/>
              </a:lnSpc>
              <a:buNone/>
            </a:pPr>
            <a:r>
              <a:rPr lang="en-US" sz="1300" dirty="0">
                <a:solidFill>
                  <a:srgbClr val="97A3B2"/>
                </a:solidFill>
                <a:latin typeface="Calibri" pitchFamily="34" charset="0"/>
                <a:ea typeface="Calibri" pitchFamily="34" charset="-122"/>
                <a:cs typeface="Calibri" pitchFamily="34" charset="-120"/>
              </a:rPr>
              <a:t>Escribís el mínimo código necesario para que el test pase. Sin adornos ni anticipaciones.</a:t>
            </a:r>
            <a:endParaRPr lang="en-US" sz="1300" dirty="0"/>
          </a:p>
        </p:txBody>
      </p:sp>
      <p:sp>
        <p:nvSpPr>
          <p:cNvPr id="15" name="Shape 13"/>
          <p:cNvSpPr/>
          <p:nvPr/>
        </p:nvSpPr>
        <p:spPr>
          <a:xfrm>
            <a:off x="7813853" y="3017520"/>
            <a:ext cx="246888" cy="201168"/>
          </a:xfrm>
          <a:prstGeom prst="rightArrow">
            <a:avLst/>
          </a:prstGeom>
          <a:solidFill>
            <a:srgbClr val="2E3A48"/>
          </a:solidFill>
          <a:ln w="12700">
            <a:solidFill>
              <a:srgbClr val="2E3A48"/>
            </a:solidFill>
            <a:prstDash val="solid"/>
          </a:ln>
        </p:spPr>
      </p:sp>
      <p:sp>
        <p:nvSpPr>
          <p:cNvPr id="16" name="Shape 14"/>
          <p:cNvSpPr/>
          <p:nvPr/>
        </p:nvSpPr>
        <p:spPr>
          <a:xfrm>
            <a:off x="8143037" y="1874520"/>
            <a:ext cx="3271418" cy="2468880"/>
          </a:xfrm>
          <a:prstGeom prst="roundRect">
            <a:avLst>
              <a:gd name="adj" fmla="val 3704"/>
            </a:avLst>
          </a:prstGeom>
          <a:solidFill>
            <a:srgbClr val="1A212B"/>
          </a:solidFill>
          <a:ln w="12700">
            <a:solidFill>
              <a:srgbClr val="2E3A48"/>
            </a:solidFill>
            <a:prstDash val="solid"/>
          </a:ln>
        </p:spPr>
      </p:sp>
      <p:sp>
        <p:nvSpPr>
          <p:cNvPr id="17" name="Shape 15"/>
          <p:cNvSpPr/>
          <p:nvPr/>
        </p:nvSpPr>
        <p:spPr>
          <a:xfrm>
            <a:off x="9367266" y="2194560"/>
            <a:ext cx="822960" cy="822960"/>
          </a:xfrm>
          <a:prstGeom prst="ellipse">
            <a:avLst/>
          </a:prstGeom>
          <a:solidFill>
            <a:srgbClr val="4FD1C5">
              <a:alpha val="20000"/>
            </a:srgbClr>
          </a:solidFill>
          <a:ln w="25400">
            <a:solidFill>
              <a:srgbClr val="4FD1C5"/>
            </a:solidFill>
            <a:prstDash val="solid"/>
          </a:ln>
        </p:spPr>
      </p:sp>
      <p:sp>
        <p:nvSpPr>
          <p:cNvPr id="18" name="Text 16"/>
          <p:cNvSpPr txBox="1"/>
          <p:nvPr/>
        </p:nvSpPr>
        <p:spPr>
          <a:xfrm>
            <a:off x="9367266" y="2194560"/>
            <a:ext cx="822960" cy="822960"/>
          </a:xfrm>
          <a:prstGeom prst="rect">
            <a:avLst/>
          </a:prstGeom>
          <a:noFill/>
          <a:ln/>
        </p:spPr>
        <p:txBody>
          <a:bodyPr wrap="square" lIns="0" tIns="0" rIns="0" bIns="0" rtlCol="0" anchor="ctr"/>
          <a:lstStyle/>
          <a:p>
            <a:pPr algn="ctr" indent="0" marL="0">
              <a:buNone/>
            </a:pPr>
            <a:r>
              <a:rPr lang="en-US" sz="2200" b="1" dirty="0">
                <a:solidFill>
                  <a:srgbClr val="4FD1C5"/>
                </a:solidFill>
                <a:latin typeface="Arial" pitchFamily="34" charset="0"/>
                <a:ea typeface="Arial" pitchFamily="34" charset="-122"/>
                <a:cs typeface="Arial" pitchFamily="34" charset="-120"/>
              </a:rPr>
              <a:t>3</a:t>
            </a:r>
            <a:endParaRPr lang="en-US" sz="2200" dirty="0"/>
          </a:p>
        </p:txBody>
      </p:sp>
      <p:sp>
        <p:nvSpPr>
          <p:cNvPr id="19" name="Text 17"/>
          <p:cNvSpPr txBox="1"/>
          <p:nvPr/>
        </p:nvSpPr>
        <p:spPr>
          <a:xfrm>
            <a:off x="8143037" y="3182112"/>
            <a:ext cx="3271418" cy="347472"/>
          </a:xfrm>
          <a:prstGeom prst="rect">
            <a:avLst/>
          </a:prstGeom>
          <a:noFill/>
          <a:ln/>
        </p:spPr>
        <p:txBody>
          <a:bodyPr wrap="square" lIns="0" tIns="0" rIns="0" bIns="0" rtlCol="0" anchor="ctr"/>
          <a:lstStyle/>
          <a:p>
            <a:pPr algn="ctr" indent="0" marL="0">
              <a:buNone/>
            </a:pPr>
            <a:r>
              <a:rPr lang="en-US" sz="1900" b="1" spc="100" kern="0" dirty="0">
                <a:solidFill>
                  <a:srgbClr val="4FD1C5"/>
                </a:solidFill>
                <a:latin typeface="Arial" pitchFamily="34" charset="0"/>
                <a:ea typeface="Arial" pitchFamily="34" charset="-122"/>
                <a:cs typeface="Arial" pitchFamily="34" charset="-120"/>
              </a:rPr>
              <a:t>REFACTOR</a:t>
            </a:r>
            <a:endParaRPr lang="en-US" sz="1900" dirty="0"/>
          </a:p>
        </p:txBody>
      </p:sp>
      <p:sp>
        <p:nvSpPr>
          <p:cNvPr id="20" name="Text 18"/>
          <p:cNvSpPr txBox="1"/>
          <p:nvPr/>
        </p:nvSpPr>
        <p:spPr>
          <a:xfrm>
            <a:off x="8463077" y="3602736"/>
            <a:ext cx="2631338" cy="713232"/>
          </a:xfrm>
          <a:prstGeom prst="rect">
            <a:avLst/>
          </a:prstGeom>
          <a:noFill/>
          <a:ln/>
        </p:spPr>
        <p:txBody>
          <a:bodyPr wrap="square" lIns="0" tIns="0" rIns="0" bIns="0" rtlCol="0" anchor="t"/>
          <a:lstStyle/>
          <a:p>
            <a:pPr algn="ctr" indent="0" marL="0">
              <a:lnSpc>
                <a:spcPts val="1800"/>
              </a:lnSpc>
              <a:buNone/>
            </a:pPr>
            <a:r>
              <a:rPr lang="en-US" sz="1300" dirty="0">
                <a:solidFill>
                  <a:srgbClr val="97A3B2"/>
                </a:solidFill>
                <a:latin typeface="Calibri" pitchFamily="34" charset="0"/>
                <a:ea typeface="Calibri" pitchFamily="34" charset="-122"/>
                <a:cs typeface="Calibri" pitchFamily="34" charset="-120"/>
              </a:rPr>
              <a:t>Mejorás el diseño con los tests en verde como red de seguridad. Repetís el ciclo.</a:t>
            </a:r>
            <a:endParaRPr lang="en-US" sz="1300" dirty="0"/>
          </a:p>
        </p:txBody>
      </p:sp>
      <p:sp>
        <p:nvSpPr>
          <p:cNvPr id="21" name="Shape 19"/>
          <p:cNvSpPr/>
          <p:nvPr/>
        </p:nvSpPr>
        <p:spPr>
          <a:xfrm>
            <a:off x="777240" y="4754880"/>
            <a:ext cx="10637215" cy="1325880"/>
          </a:xfrm>
          <a:prstGeom prst="roundRect">
            <a:avLst>
              <a:gd name="adj" fmla="val 6897"/>
            </a:avLst>
          </a:prstGeom>
          <a:solidFill>
            <a:srgbClr val="1A212B"/>
          </a:solidFill>
          <a:ln w="12700">
            <a:solidFill>
              <a:srgbClr val="2E3A48"/>
            </a:solidFill>
            <a:prstDash val="solid"/>
          </a:ln>
        </p:spPr>
      </p:sp>
      <p:sp>
        <p:nvSpPr>
          <p:cNvPr id="22" name="Text 20"/>
          <p:cNvSpPr txBox="1"/>
          <p:nvPr/>
        </p:nvSpPr>
        <p:spPr>
          <a:xfrm>
            <a:off x="1143000" y="4956048"/>
            <a:ext cx="3657600" cy="274320"/>
          </a:xfrm>
          <a:prstGeom prst="rect">
            <a:avLst/>
          </a:prstGeom>
          <a:noFill/>
          <a:ln/>
        </p:spPr>
        <p:txBody>
          <a:bodyPr wrap="square" lIns="0" tIns="0" rIns="0" bIns="0" rtlCol="0" anchor="ctr"/>
          <a:lstStyle/>
          <a:p>
            <a:pPr indent="0" marL="0">
              <a:buNone/>
            </a:pPr>
            <a:r>
              <a:rPr lang="en-US" sz="1400" b="1" dirty="0">
                <a:solidFill>
                  <a:srgbClr val="E8734A"/>
                </a:solidFill>
                <a:latin typeface="Arial" pitchFamily="34" charset="0"/>
                <a:ea typeface="Arial" pitchFamily="34" charset="-122"/>
                <a:cs typeface="Arial" pitchFamily="34" charset="-120"/>
              </a:rPr>
              <a:t>La idea de fondo</a:t>
            </a:r>
            <a:endParaRPr lang="en-US" sz="1400" dirty="0"/>
          </a:p>
        </p:txBody>
      </p:sp>
      <p:sp>
        <p:nvSpPr>
          <p:cNvPr id="23" name="Text 21"/>
          <p:cNvSpPr txBox="1"/>
          <p:nvPr/>
        </p:nvSpPr>
        <p:spPr>
          <a:xfrm>
            <a:off x="1143000" y="5285232"/>
            <a:ext cx="9905695" cy="658368"/>
          </a:xfrm>
          <a:prstGeom prst="rect">
            <a:avLst/>
          </a:prstGeom>
          <a:noFill/>
          <a:ln/>
        </p:spPr>
        <p:txBody>
          <a:bodyPr wrap="square" lIns="0" tIns="0" rIns="0" bIns="0" rtlCol="0" anchor="ctr"/>
          <a:lstStyle/>
          <a:p>
            <a:pPr indent="0" marL="0">
              <a:lnSpc>
                <a:spcPts val="2000"/>
              </a:lnSpc>
              <a:buNone/>
            </a:pPr>
            <a:r>
              <a:rPr lang="en-US" sz="1400" dirty="0">
                <a:solidFill>
                  <a:srgbClr val="E9EDF2"/>
                </a:solidFill>
                <a:latin typeface="Calibri" pitchFamily="34" charset="0"/>
                <a:ea typeface="Calibri" pitchFamily="34" charset="-122"/>
                <a:cs typeface="Calibri" pitchFamily="34" charset="-120"/>
              </a:rPr>
              <a:t>El test no es una verificación posterior: es la especificación ejecutable de una unidad de código. Escribirlo primero te obliga a definir la interfaz y el comportamiento esperado antes de comprometerte con una implementación.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TDD</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Ventajas y desventajas</a:t>
            </a:r>
            <a:endParaRPr lang="en-US" sz="3200" dirty="0"/>
          </a:p>
        </p:txBody>
      </p:sp>
      <p:sp>
        <p:nvSpPr>
          <p:cNvPr id="4" name="Shape 2"/>
          <p:cNvSpPr/>
          <p:nvPr/>
        </p:nvSpPr>
        <p:spPr>
          <a:xfrm>
            <a:off x="777240" y="1737360"/>
            <a:ext cx="5135728" cy="4069080"/>
          </a:xfrm>
          <a:prstGeom prst="roundRect">
            <a:avLst>
              <a:gd name="adj" fmla="val 2247"/>
            </a:avLst>
          </a:prstGeom>
          <a:solidFill>
            <a:srgbClr val="1A212B"/>
          </a:solidFill>
          <a:ln w="12700">
            <a:solidFill>
              <a:srgbClr val="2E3A48"/>
            </a:solidFill>
            <a:prstDash val="solid"/>
          </a:ln>
        </p:spPr>
      </p:sp>
      <p:sp>
        <p:nvSpPr>
          <p:cNvPr id="5" name="Shape 3"/>
          <p:cNvSpPr/>
          <p:nvPr/>
        </p:nvSpPr>
        <p:spPr>
          <a:xfrm>
            <a:off x="1124712" y="1975104"/>
            <a:ext cx="310896" cy="310896"/>
          </a:xfrm>
          <a:prstGeom prst="ellipse">
            <a:avLst/>
          </a:prstGeom>
          <a:solidFill>
            <a:srgbClr val="4FD1C5"/>
          </a:solidFill>
          <a:ln w="12700">
            <a:solidFill>
              <a:srgbClr val="4FD1C5"/>
            </a:solidFill>
            <a:prstDash val="solid"/>
          </a:ln>
        </p:spPr>
      </p:sp>
      <p:sp>
        <p:nvSpPr>
          <p:cNvPr id="6" name="Text 4"/>
          <p:cNvSpPr txBox="1"/>
          <p:nvPr/>
        </p:nvSpPr>
        <p:spPr>
          <a:xfrm>
            <a:off x="1600200" y="1956816"/>
            <a:ext cx="4038448" cy="347472"/>
          </a:xfrm>
          <a:prstGeom prst="rect">
            <a:avLst/>
          </a:prstGeom>
          <a:noFill/>
          <a:ln/>
        </p:spPr>
        <p:txBody>
          <a:bodyPr wrap="square" lIns="0" tIns="0" rIns="0" bIns="0" rtlCol="0" anchor="ctr"/>
          <a:lstStyle/>
          <a:p>
            <a:pPr indent="0" marL="0">
              <a:buNone/>
            </a:pPr>
            <a:r>
              <a:rPr lang="en-US" sz="2000" b="1" dirty="0">
                <a:solidFill>
                  <a:srgbClr val="4FD1C5"/>
                </a:solidFill>
                <a:latin typeface="Arial" pitchFamily="34" charset="0"/>
                <a:ea typeface="Arial" pitchFamily="34" charset="-122"/>
                <a:cs typeface="Arial" pitchFamily="34" charset="-120"/>
              </a:rPr>
              <a:t>Ventajas</a:t>
            </a:r>
            <a:endParaRPr lang="en-US" sz="2000" dirty="0"/>
          </a:p>
        </p:txBody>
      </p:sp>
      <p:sp>
        <p:nvSpPr>
          <p:cNvPr id="7" name="Text 5"/>
          <p:cNvSpPr txBox="1"/>
          <p:nvPr/>
        </p:nvSpPr>
        <p:spPr>
          <a:xfrm>
            <a:off x="1124712" y="2560320"/>
            <a:ext cx="4440784" cy="3154680"/>
          </a:xfrm>
          <a:prstGeom prst="rect">
            <a:avLst/>
          </a:prstGeom>
          <a:noFill/>
          <a:ln/>
        </p:spPr>
        <p:txBody>
          <a:bodyPr wrap="square" lIns="0" tIns="0" rIns="0" bIns="0" rtlCol="0" anchor="t"/>
          <a:lstStyle/>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Red de seguridad para refactorizar sin miedo.</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Los bugs se detectan en el momento en que se introducen.</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Fuerza un diseño desacoplado: código difícil de testear es código mal acoplado.</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Los tests documentan el comportamiento real, y no se desactualizan en silencio.</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Con agentes: da un criterio de éxito objetivo y verificable.</a:t>
            </a:r>
            <a:endParaRPr lang="en-US" sz="1350" dirty="0"/>
          </a:p>
        </p:txBody>
      </p:sp>
      <p:sp>
        <p:nvSpPr>
          <p:cNvPr id="8" name="Shape 6"/>
          <p:cNvSpPr/>
          <p:nvPr/>
        </p:nvSpPr>
        <p:spPr>
          <a:xfrm>
            <a:off x="6278728" y="1737360"/>
            <a:ext cx="5135728" cy="4069080"/>
          </a:xfrm>
          <a:prstGeom prst="roundRect">
            <a:avLst>
              <a:gd name="adj" fmla="val 2247"/>
            </a:avLst>
          </a:prstGeom>
          <a:solidFill>
            <a:srgbClr val="1A212B"/>
          </a:solidFill>
          <a:ln w="12700">
            <a:solidFill>
              <a:srgbClr val="2E3A48"/>
            </a:solidFill>
            <a:prstDash val="solid"/>
          </a:ln>
        </p:spPr>
      </p:sp>
      <p:sp>
        <p:nvSpPr>
          <p:cNvPr id="9" name="Shape 7"/>
          <p:cNvSpPr/>
          <p:nvPr/>
        </p:nvSpPr>
        <p:spPr>
          <a:xfrm>
            <a:off x="6626200" y="1975104"/>
            <a:ext cx="310896" cy="310896"/>
          </a:xfrm>
          <a:prstGeom prst="ellipse">
            <a:avLst/>
          </a:prstGeom>
          <a:solidFill>
            <a:srgbClr val="E8734A"/>
          </a:solidFill>
          <a:ln w="12700">
            <a:solidFill>
              <a:srgbClr val="E8734A"/>
            </a:solidFill>
            <a:prstDash val="solid"/>
          </a:ln>
        </p:spPr>
      </p:sp>
      <p:sp>
        <p:nvSpPr>
          <p:cNvPr id="10" name="Text 8"/>
          <p:cNvSpPr txBox="1"/>
          <p:nvPr/>
        </p:nvSpPr>
        <p:spPr>
          <a:xfrm>
            <a:off x="7101688" y="1956816"/>
            <a:ext cx="4038448" cy="347472"/>
          </a:xfrm>
          <a:prstGeom prst="rect">
            <a:avLst/>
          </a:prstGeom>
          <a:noFill/>
          <a:ln/>
        </p:spPr>
        <p:txBody>
          <a:bodyPr wrap="square" lIns="0" tIns="0" rIns="0" bIns="0" rtlCol="0" anchor="ctr"/>
          <a:lstStyle/>
          <a:p>
            <a:pPr indent="0" marL="0">
              <a:buNone/>
            </a:pPr>
            <a:r>
              <a:rPr lang="en-US" sz="2000" b="1" dirty="0">
                <a:solidFill>
                  <a:srgbClr val="E8734A"/>
                </a:solidFill>
                <a:latin typeface="Arial" pitchFamily="34" charset="0"/>
                <a:ea typeface="Arial" pitchFamily="34" charset="-122"/>
                <a:cs typeface="Arial" pitchFamily="34" charset="-120"/>
              </a:rPr>
              <a:t>Desventajas</a:t>
            </a:r>
            <a:endParaRPr lang="en-US" sz="2000" dirty="0"/>
          </a:p>
        </p:txBody>
      </p:sp>
      <p:sp>
        <p:nvSpPr>
          <p:cNvPr id="11" name="Text 9"/>
          <p:cNvSpPr txBox="1"/>
          <p:nvPr/>
        </p:nvSpPr>
        <p:spPr>
          <a:xfrm>
            <a:off x="6626200" y="2560320"/>
            <a:ext cx="4440784" cy="3154680"/>
          </a:xfrm>
          <a:prstGeom prst="rect">
            <a:avLst/>
          </a:prstGeom>
          <a:noFill/>
          <a:ln/>
        </p:spPr>
        <p:txBody>
          <a:bodyPr wrap="square" lIns="0" tIns="0" rIns="0" bIns="0" rtlCol="0" anchor="t"/>
          <a:lstStyle/>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Curva de aprendizaje real: cuesta cambiar el orden mental.</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Más código para escribir y mantener por cada cambio.</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Mal aplicado, produce tests frágiles atados a la implementación.</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Poco práctico en exploración, prototipos o requisitos que aún cambian.</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No cubre lo que el diseño de la unidad no contempla: no reemplaza integración ni QA.</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A22"/>
        </a:solidFill>
      </p:bgPr>
    </p:bg>
    <p:spTree>
      <p:nvGrpSpPr>
        <p:cNvPr id="1" name=""/>
        <p:cNvGrpSpPr/>
        <p:nvPr/>
      </p:nvGrpSpPr>
      <p:grpSpPr>
        <a:xfrm>
          <a:off x="0" y="0"/>
          <a:ext cx="0" cy="0"/>
          <a:chOff x="0" y="0"/>
          <a:chExt cx="0" cy="0"/>
        </a:xfrm>
      </p:grpSpPr>
      <p:sp>
        <p:nvSpPr>
          <p:cNvPr id="2" name="Shape 0"/>
          <p:cNvSpPr/>
          <p:nvPr/>
        </p:nvSpPr>
        <p:spPr>
          <a:xfrm>
            <a:off x="8412480" y="-1828800"/>
            <a:ext cx="5852160" cy="5852160"/>
          </a:xfrm>
          <a:prstGeom prst="ellipse">
            <a:avLst/>
          </a:prstGeom>
          <a:solidFill>
            <a:srgbClr val="E8734A">
              <a:alpha val="11000"/>
            </a:srgbClr>
          </a:solidFill>
          <a:ln/>
        </p:spPr>
      </p:sp>
      <p:sp>
        <p:nvSpPr>
          <p:cNvPr id="3" name="Text 1"/>
          <p:cNvSpPr txBox="1"/>
          <p:nvPr/>
        </p:nvSpPr>
        <p:spPr>
          <a:xfrm>
            <a:off x="777240" y="2331720"/>
            <a:ext cx="7315200" cy="320040"/>
          </a:xfrm>
          <a:prstGeom prst="rect">
            <a:avLst/>
          </a:prstGeom>
          <a:noFill/>
          <a:ln/>
        </p:spPr>
        <p:txBody>
          <a:bodyPr wrap="square" lIns="0" tIns="0" rIns="0" bIns="0" rtlCol="0" anchor="ctr"/>
          <a:lstStyle/>
          <a:p>
            <a:pPr indent="0" marL="0">
              <a:buNone/>
            </a:pPr>
            <a:r>
              <a:rPr lang="en-US" sz="1400" b="1" spc="300" kern="0" dirty="0">
                <a:solidFill>
                  <a:srgbClr val="E8734A"/>
                </a:solidFill>
                <a:latin typeface="Calibri" pitchFamily="34" charset="0"/>
                <a:ea typeface="Calibri" pitchFamily="34" charset="-122"/>
                <a:cs typeface="Calibri" pitchFamily="34" charset="-120"/>
              </a:rPr>
              <a:t>PARTE 3</a:t>
            </a:r>
            <a:endParaRPr lang="en-US" sz="1400" dirty="0"/>
          </a:p>
        </p:txBody>
      </p:sp>
      <p:sp>
        <p:nvSpPr>
          <p:cNvPr id="4" name="Text 2"/>
          <p:cNvSpPr txBox="1"/>
          <p:nvPr/>
        </p:nvSpPr>
        <p:spPr>
          <a:xfrm>
            <a:off x="777240" y="2697480"/>
            <a:ext cx="7315200" cy="1005840"/>
          </a:xfrm>
          <a:prstGeom prst="rect">
            <a:avLst/>
          </a:prstGeom>
          <a:noFill/>
          <a:ln/>
        </p:spPr>
        <p:txBody>
          <a:bodyPr wrap="square" lIns="0" tIns="0" rIns="0" bIns="0" rtlCol="0" anchor="ctr"/>
          <a:lstStyle/>
          <a:p>
            <a:pPr indent="0" marL="0">
              <a:buNone/>
            </a:pPr>
            <a:r>
              <a:rPr lang="en-US" sz="6000" b="1" dirty="0">
                <a:solidFill>
                  <a:srgbClr val="E9EDF2"/>
                </a:solidFill>
                <a:latin typeface="Arial" pitchFamily="34" charset="0"/>
                <a:ea typeface="Arial" pitchFamily="34" charset="-122"/>
                <a:cs typeface="Arial" pitchFamily="34" charset="-120"/>
              </a:rPr>
              <a:t>SDD</a:t>
            </a:r>
            <a:endParaRPr lang="en-US" sz="6000" dirty="0"/>
          </a:p>
        </p:txBody>
      </p:sp>
      <p:sp>
        <p:nvSpPr>
          <p:cNvPr id="5" name="Text 3"/>
          <p:cNvSpPr txBox="1"/>
          <p:nvPr/>
        </p:nvSpPr>
        <p:spPr>
          <a:xfrm>
            <a:off x="777240" y="3749040"/>
            <a:ext cx="9144000" cy="365760"/>
          </a:xfrm>
          <a:prstGeom prst="rect">
            <a:avLst/>
          </a:prstGeom>
          <a:noFill/>
          <a:ln/>
        </p:spPr>
        <p:txBody>
          <a:bodyPr wrap="square" lIns="0" tIns="0" rIns="0" bIns="0" rtlCol="0" anchor="ctr"/>
          <a:lstStyle/>
          <a:p>
            <a:pPr indent="0" marL="0">
              <a:buNone/>
            </a:pPr>
            <a:r>
              <a:rPr lang="en-US" sz="1800" dirty="0">
                <a:solidFill>
                  <a:srgbClr val="97A3B2"/>
                </a:solidFill>
                <a:latin typeface="Calibri" pitchFamily="34" charset="0"/>
                <a:ea typeface="Calibri" pitchFamily="34" charset="-122"/>
                <a:cs typeface="Calibri" pitchFamily="34" charset="-120"/>
              </a:rPr>
              <a:t>Spec-Driven Development — la especificación como fuente de verdad.</a:t>
            </a:r>
            <a:endParaRPr lang="en-US" sz="1800" dirty="0"/>
          </a:p>
        </p:txBody>
      </p:sp>
      <p:sp>
        <p:nvSpPr>
          <p:cNvPr id="6" name="Text 4"/>
          <p:cNvSpPr txBox="1"/>
          <p:nvPr/>
        </p:nvSpPr>
        <p:spPr>
          <a:xfrm>
            <a:off x="777240" y="4224528"/>
            <a:ext cx="9144000" cy="365760"/>
          </a:xfrm>
          <a:prstGeom prst="rect">
            <a:avLst/>
          </a:prstGeom>
          <a:noFill/>
          <a:ln/>
        </p:spPr>
        <p:txBody>
          <a:bodyPr wrap="square" lIns="0" tIns="0" rIns="0" bIns="0" rtlCol="0" anchor="ctr"/>
          <a:lstStyle/>
          <a:p>
            <a:pPr indent="0" marL="0">
              <a:buNone/>
            </a:pPr>
            <a:r>
              <a:rPr lang="en-US" sz="1800" b="1" dirty="0">
                <a:solidFill>
                  <a:srgbClr val="E8734A"/>
                </a:solidFill>
                <a:latin typeface="Arial" pitchFamily="34" charset="0"/>
                <a:ea typeface="Arial" pitchFamily="34" charset="-122"/>
                <a:cs typeface="Arial" pitchFamily="34" charset="-120"/>
              </a:rPr>
              <a:t>El principal método para reducir el no determinismo del agente.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SDD</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La especificación deja de ser un documento muerto</a:t>
            </a:r>
            <a:endParaRPr lang="en-US" sz="3200" dirty="0"/>
          </a:p>
        </p:txBody>
      </p:sp>
      <p:sp>
        <p:nvSpPr>
          <p:cNvPr id="4" name="Text 2"/>
          <p:cNvSpPr txBox="1"/>
          <p:nvPr/>
        </p:nvSpPr>
        <p:spPr>
          <a:xfrm>
            <a:off x="777240" y="1444752"/>
            <a:ext cx="10637215" cy="548640"/>
          </a:xfrm>
          <a:prstGeom prst="rect">
            <a:avLst/>
          </a:prstGeom>
          <a:noFill/>
          <a:ln/>
        </p:spPr>
        <p:txBody>
          <a:bodyPr wrap="square" lIns="0" tIns="0" rIns="0" bIns="0" rtlCol="0" anchor="ctr"/>
          <a:lstStyle/>
          <a:p>
            <a:pPr indent="0" marL="0">
              <a:lnSpc>
                <a:spcPts val="2100"/>
              </a:lnSpc>
              <a:buNone/>
            </a:pPr>
            <a:r>
              <a:rPr lang="en-US" sz="1500" dirty="0">
                <a:solidFill>
                  <a:srgbClr val="97A3B2"/>
                </a:solidFill>
                <a:latin typeface="Calibri" pitchFamily="34" charset="0"/>
                <a:ea typeface="Calibri" pitchFamily="34" charset="-122"/>
                <a:cs typeface="Calibri" pitchFamily="34" charset="-120"/>
              </a:rPr>
              <a:t>En SDD escribís primero una especificación explícita y versionada de QUÉ hay que construir y por qué. El plan y el código se derivan de ella, y toda corrección vuelve a la spec, no al parche.</a:t>
            </a:r>
            <a:endParaRPr lang="en-US" sz="1500" dirty="0"/>
          </a:p>
        </p:txBody>
      </p:sp>
      <p:sp>
        <p:nvSpPr>
          <p:cNvPr id="5" name="Shape 3"/>
          <p:cNvSpPr/>
          <p:nvPr/>
        </p:nvSpPr>
        <p:spPr>
          <a:xfrm>
            <a:off x="777240" y="2194560"/>
            <a:ext cx="2371268" cy="1691640"/>
          </a:xfrm>
          <a:prstGeom prst="roundRect">
            <a:avLst>
              <a:gd name="adj" fmla="val 5405"/>
            </a:avLst>
          </a:prstGeom>
          <a:solidFill>
            <a:srgbClr val="1A212B"/>
          </a:solidFill>
          <a:ln w="12700">
            <a:solidFill>
              <a:srgbClr val="2E3A48"/>
            </a:solidFill>
            <a:prstDash val="solid"/>
          </a:ln>
        </p:spPr>
      </p:sp>
      <p:sp>
        <p:nvSpPr>
          <p:cNvPr id="6" name="Shape 4"/>
          <p:cNvSpPr/>
          <p:nvPr/>
        </p:nvSpPr>
        <p:spPr>
          <a:xfrm>
            <a:off x="1051560" y="2432304"/>
            <a:ext cx="365760" cy="365760"/>
          </a:xfrm>
          <a:prstGeom prst="ellipse">
            <a:avLst/>
          </a:prstGeom>
          <a:solidFill>
            <a:srgbClr val="4FD1C5">
              <a:alpha val="22000"/>
            </a:srgbClr>
          </a:solidFill>
          <a:ln w="12700">
            <a:solidFill>
              <a:srgbClr val="4FD1C5"/>
            </a:solidFill>
            <a:prstDash val="solid"/>
          </a:ln>
        </p:spPr>
      </p:sp>
      <p:sp>
        <p:nvSpPr>
          <p:cNvPr id="7" name="Text 5"/>
          <p:cNvSpPr txBox="1"/>
          <p:nvPr/>
        </p:nvSpPr>
        <p:spPr>
          <a:xfrm>
            <a:off x="1051560" y="2432304"/>
            <a:ext cx="365760" cy="365760"/>
          </a:xfrm>
          <a:prstGeom prst="rect">
            <a:avLst/>
          </a:prstGeom>
          <a:noFill/>
          <a:ln/>
        </p:spPr>
        <p:txBody>
          <a:bodyPr wrap="square" lIns="0" tIns="0" rIns="0" bIns="0" rtlCol="0" anchor="ctr"/>
          <a:lstStyle/>
          <a:p>
            <a:pPr algn="ctr" indent="0" marL="0">
              <a:buNone/>
            </a:pPr>
            <a:r>
              <a:rPr lang="en-US" sz="1300" b="1" dirty="0">
                <a:solidFill>
                  <a:srgbClr val="4FD1C5"/>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051560" y="2871216"/>
            <a:ext cx="1822628" cy="310896"/>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Especificación</a:t>
            </a:r>
            <a:endParaRPr lang="en-US" sz="1500" dirty="0"/>
          </a:p>
        </p:txBody>
      </p:sp>
      <p:sp>
        <p:nvSpPr>
          <p:cNvPr id="9" name="Text 7"/>
          <p:cNvSpPr txBox="1"/>
          <p:nvPr/>
        </p:nvSpPr>
        <p:spPr>
          <a:xfrm>
            <a:off x="1051560" y="3200400"/>
            <a:ext cx="1822628" cy="658368"/>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Qué, para quién, con qué criterios de aceptación. Sin decidir el cómo.</a:t>
            </a:r>
            <a:endParaRPr lang="en-US" sz="1200" dirty="0"/>
          </a:p>
        </p:txBody>
      </p:sp>
      <p:sp>
        <p:nvSpPr>
          <p:cNvPr id="10" name="Shape 8"/>
          <p:cNvSpPr/>
          <p:nvPr/>
        </p:nvSpPr>
        <p:spPr>
          <a:xfrm>
            <a:off x="3221660" y="2962656"/>
            <a:ext cx="237744" cy="182880"/>
          </a:xfrm>
          <a:prstGeom prst="rightArrow">
            <a:avLst/>
          </a:prstGeom>
          <a:solidFill>
            <a:srgbClr val="2E3A48"/>
          </a:solidFill>
          <a:ln w="12700">
            <a:solidFill>
              <a:srgbClr val="2E3A48"/>
            </a:solidFill>
            <a:prstDash val="solid"/>
          </a:ln>
        </p:spPr>
      </p:sp>
      <p:sp>
        <p:nvSpPr>
          <p:cNvPr id="11" name="Shape 9"/>
          <p:cNvSpPr/>
          <p:nvPr/>
        </p:nvSpPr>
        <p:spPr>
          <a:xfrm>
            <a:off x="3532556" y="2194560"/>
            <a:ext cx="2371268" cy="1691640"/>
          </a:xfrm>
          <a:prstGeom prst="roundRect">
            <a:avLst>
              <a:gd name="adj" fmla="val 5405"/>
            </a:avLst>
          </a:prstGeom>
          <a:solidFill>
            <a:srgbClr val="1A212B"/>
          </a:solidFill>
          <a:ln w="12700">
            <a:solidFill>
              <a:srgbClr val="2E3A48"/>
            </a:solidFill>
            <a:prstDash val="solid"/>
          </a:ln>
        </p:spPr>
      </p:sp>
      <p:sp>
        <p:nvSpPr>
          <p:cNvPr id="12" name="Shape 10"/>
          <p:cNvSpPr/>
          <p:nvPr/>
        </p:nvSpPr>
        <p:spPr>
          <a:xfrm>
            <a:off x="3806876" y="2432304"/>
            <a:ext cx="365760" cy="365760"/>
          </a:xfrm>
          <a:prstGeom prst="ellipse">
            <a:avLst/>
          </a:prstGeom>
          <a:solidFill>
            <a:srgbClr val="4FD1C5">
              <a:alpha val="22000"/>
            </a:srgbClr>
          </a:solidFill>
          <a:ln w="12700">
            <a:solidFill>
              <a:srgbClr val="4FD1C5"/>
            </a:solidFill>
            <a:prstDash val="solid"/>
          </a:ln>
        </p:spPr>
      </p:sp>
      <p:sp>
        <p:nvSpPr>
          <p:cNvPr id="13" name="Text 11"/>
          <p:cNvSpPr txBox="1"/>
          <p:nvPr/>
        </p:nvSpPr>
        <p:spPr>
          <a:xfrm>
            <a:off x="3806876" y="2432304"/>
            <a:ext cx="365760" cy="365760"/>
          </a:xfrm>
          <a:prstGeom prst="rect">
            <a:avLst/>
          </a:prstGeom>
          <a:noFill/>
          <a:ln/>
        </p:spPr>
        <p:txBody>
          <a:bodyPr wrap="square" lIns="0" tIns="0" rIns="0" bIns="0" rtlCol="0" anchor="ctr"/>
          <a:lstStyle/>
          <a:p>
            <a:pPr algn="ctr" indent="0" marL="0">
              <a:buNone/>
            </a:pPr>
            <a:r>
              <a:rPr lang="en-US" sz="1300" b="1" dirty="0">
                <a:solidFill>
                  <a:srgbClr val="4FD1C5"/>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3806876" y="2871216"/>
            <a:ext cx="1822628" cy="310896"/>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Plan técnico</a:t>
            </a:r>
            <a:endParaRPr lang="en-US" sz="1500" dirty="0"/>
          </a:p>
        </p:txBody>
      </p:sp>
      <p:sp>
        <p:nvSpPr>
          <p:cNvPr id="15" name="Text 13"/>
          <p:cNvSpPr txBox="1"/>
          <p:nvPr/>
        </p:nvSpPr>
        <p:spPr>
          <a:xfrm>
            <a:off x="3806876" y="3200400"/>
            <a:ext cx="1822628" cy="658368"/>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Cómo se implementa: arquitectura, contratos, restricciones.</a:t>
            </a:r>
            <a:endParaRPr lang="en-US" sz="1200" dirty="0"/>
          </a:p>
        </p:txBody>
      </p:sp>
      <p:sp>
        <p:nvSpPr>
          <p:cNvPr id="16" name="Shape 14"/>
          <p:cNvSpPr/>
          <p:nvPr/>
        </p:nvSpPr>
        <p:spPr>
          <a:xfrm>
            <a:off x="5976976" y="2962656"/>
            <a:ext cx="237744" cy="182880"/>
          </a:xfrm>
          <a:prstGeom prst="rightArrow">
            <a:avLst/>
          </a:prstGeom>
          <a:solidFill>
            <a:srgbClr val="2E3A48"/>
          </a:solidFill>
          <a:ln w="12700">
            <a:solidFill>
              <a:srgbClr val="2E3A48"/>
            </a:solidFill>
            <a:prstDash val="solid"/>
          </a:ln>
        </p:spPr>
      </p:sp>
      <p:sp>
        <p:nvSpPr>
          <p:cNvPr id="17" name="Shape 15"/>
          <p:cNvSpPr/>
          <p:nvPr/>
        </p:nvSpPr>
        <p:spPr>
          <a:xfrm>
            <a:off x="6287872" y="2194560"/>
            <a:ext cx="2371268" cy="1691640"/>
          </a:xfrm>
          <a:prstGeom prst="roundRect">
            <a:avLst>
              <a:gd name="adj" fmla="val 5405"/>
            </a:avLst>
          </a:prstGeom>
          <a:solidFill>
            <a:srgbClr val="1A212B"/>
          </a:solidFill>
          <a:ln w="12700">
            <a:solidFill>
              <a:srgbClr val="2E3A48"/>
            </a:solidFill>
            <a:prstDash val="solid"/>
          </a:ln>
        </p:spPr>
      </p:sp>
      <p:sp>
        <p:nvSpPr>
          <p:cNvPr id="18" name="Shape 16"/>
          <p:cNvSpPr/>
          <p:nvPr/>
        </p:nvSpPr>
        <p:spPr>
          <a:xfrm>
            <a:off x="6562192" y="2432304"/>
            <a:ext cx="365760" cy="365760"/>
          </a:xfrm>
          <a:prstGeom prst="ellipse">
            <a:avLst/>
          </a:prstGeom>
          <a:solidFill>
            <a:srgbClr val="E8734A">
              <a:alpha val="22000"/>
            </a:srgbClr>
          </a:solidFill>
          <a:ln w="12700">
            <a:solidFill>
              <a:srgbClr val="E8734A"/>
            </a:solidFill>
            <a:prstDash val="solid"/>
          </a:ln>
        </p:spPr>
      </p:sp>
      <p:sp>
        <p:nvSpPr>
          <p:cNvPr id="19" name="Text 17"/>
          <p:cNvSpPr txBox="1"/>
          <p:nvPr/>
        </p:nvSpPr>
        <p:spPr>
          <a:xfrm>
            <a:off x="6562192" y="2432304"/>
            <a:ext cx="365760" cy="365760"/>
          </a:xfrm>
          <a:prstGeom prst="rect">
            <a:avLst/>
          </a:prstGeom>
          <a:noFill/>
          <a:ln/>
        </p:spPr>
        <p:txBody>
          <a:bodyPr wrap="square" lIns="0" tIns="0" rIns="0" bIns="0" rtlCol="0" anchor="ctr"/>
          <a:lstStyle/>
          <a:p>
            <a:pPr algn="ctr" indent="0" marL="0">
              <a:buNone/>
            </a:pPr>
            <a:r>
              <a:rPr lang="en-US" sz="1300" b="1" dirty="0">
                <a:solidFill>
                  <a:srgbClr val="E8734A"/>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6562192" y="2871216"/>
            <a:ext cx="1822628" cy="310896"/>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Tareas</a:t>
            </a:r>
            <a:endParaRPr lang="en-US" sz="1500" dirty="0"/>
          </a:p>
        </p:txBody>
      </p:sp>
      <p:sp>
        <p:nvSpPr>
          <p:cNvPr id="21" name="Text 19"/>
          <p:cNvSpPr txBox="1"/>
          <p:nvPr/>
        </p:nvSpPr>
        <p:spPr>
          <a:xfrm>
            <a:off x="6562192" y="3200400"/>
            <a:ext cx="1822628" cy="658368"/>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El plan se parte en unidades chicas y verificables.</a:t>
            </a:r>
            <a:endParaRPr lang="en-US" sz="1200" dirty="0"/>
          </a:p>
        </p:txBody>
      </p:sp>
      <p:sp>
        <p:nvSpPr>
          <p:cNvPr id="22" name="Shape 20"/>
          <p:cNvSpPr/>
          <p:nvPr/>
        </p:nvSpPr>
        <p:spPr>
          <a:xfrm>
            <a:off x="8732291" y="2962656"/>
            <a:ext cx="237744" cy="182880"/>
          </a:xfrm>
          <a:prstGeom prst="rightArrow">
            <a:avLst/>
          </a:prstGeom>
          <a:solidFill>
            <a:srgbClr val="2E3A48"/>
          </a:solidFill>
          <a:ln w="12700">
            <a:solidFill>
              <a:srgbClr val="2E3A48"/>
            </a:solidFill>
            <a:prstDash val="solid"/>
          </a:ln>
        </p:spPr>
      </p:sp>
      <p:sp>
        <p:nvSpPr>
          <p:cNvPr id="23" name="Shape 21"/>
          <p:cNvSpPr/>
          <p:nvPr/>
        </p:nvSpPr>
        <p:spPr>
          <a:xfrm>
            <a:off x="9043187" y="2194560"/>
            <a:ext cx="2371268" cy="1691640"/>
          </a:xfrm>
          <a:prstGeom prst="roundRect">
            <a:avLst>
              <a:gd name="adj" fmla="val 5405"/>
            </a:avLst>
          </a:prstGeom>
          <a:solidFill>
            <a:srgbClr val="1A212B"/>
          </a:solidFill>
          <a:ln w="12700">
            <a:solidFill>
              <a:srgbClr val="2E3A48"/>
            </a:solidFill>
            <a:prstDash val="solid"/>
          </a:ln>
        </p:spPr>
      </p:sp>
      <p:sp>
        <p:nvSpPr>
          <p:cNvPr id="24" name="Shape 22"/>
          <p:cNvSpPr/>
          <p:nvPr/>
        </p:nvSpPr>
        <p:spPr>
          <a:xfrm>
            <a:off x="9317507" y="2432304"/>
            <a:ext cx="365760" cy="365760"/>
          </a:xfrm>
          <a:prstGeom prst="ellipse">
            <a:avLst/>
          </a:prstGeom>
          <a:solidFill>
            <a:srgbClr val="E8734A">
              <a:alpha val="22000"/>
            </a:srgbClr>
          </a:solidFill>
          <a:ln w="12700">
            <a:solidFill>
              <a:srgbClr val="E8734A"/>
            </a:solidFill>
            <a:prstDash val="solid"/>
          </a:ln>
        </p:spPr>
      </p:sp>
      <p:sp>
        <p:nvSpPr>
          <p:cNvPr id="25" name="Text 23"/>
          <p:cNvSpPr txBox="1"/>
          <p:nvPr/>
        </p:nvSpPr>
        <p:spPr>
          <a:xfrm>
            <a:off x="9317507" y="2432304"/>
            <a:ext cx="365760" cy="365760"/>
          </a:xfrm>
          <a:prstGeom prst="rect">
            <a:avLst/>
          </a:prstGeom>
          <a:noFill/>
          <a:ln/>
        </p:spPr>
        <p:txBody>
          <a:bodyPr wrap="square" lIns="0" tIns="0" rIns="0" bIns="0" rtlCol="0" anchor="ctr"/>
          <a:lstStyle/>
          <a:p>
            <a:pPr algn="ctr" indent="0" marL="0">
              <a:buNone/>
            </a:pPr>
            <a:r>
              <a:rPr lang="en-US" sz="1300" b="1" dirty="0">
                <a:solidFill>
                  <a:srgbClr val="E8734A"/>
                </a:solidFill>
                <a:latin typeface="Arial" pitchFamily="34" charset="0"/>
                <a:ea typeface="Arial" pitchFamily="34" charset="-122"/>
                <a:cs typeface="Arial" pitchFamily="34" charset="-120"/>
              </a:rPr>
              <a:t>4</a:t>
            </a:r>
            <a:endParaRPr lang="en-US" sz="1300" dirty="0"/>
          </a:p>
        </p:txBody>
      </p:sp>
      <p:sp>
        <p:nvSpPr>
          <p:cNvPr id="26" name="Text 24"/>
          <p:cNvSpPr txBox="1"/>
          <p:nvPr/>
        </p:nvSpPr>
        <p:spPr>
          <a:xfrm>
            <a:off x="9317507" y="2871216"/>
            <a:ext cx="1822628" cy="310896"/>
          </a:xfrm>
          <a:prstGeom prst="rect">
            <a:avLst/>
          </a:prstGeom>
          <a:noFill/>
          <a:ln/>
        </p:spPr>
        <p:txBody>
          <a:bodyPr wrap="square" lIns="0" tIns="0" rIns="0" bIns="0" rtlCol="0" anchor="ctr"/>
          <a:lstStyle/>
          <a:p>
            <a:pPr indent="0" marL="0">
              <a:buNone/>
            </a:pPr>
            <a:r>
              <a:rPr lang="en-US" sz="1500" b="1" dirty="0">
                <a:solidFill>
                  <a:srgbClr val="E9EDF2"/>
                </a:solidFill>
                <a:latin typeface="Arial" pitchFamily="34" charset="0"/>
                <a:ea typeface="Arial" pitchFamily="34" charset="-122"/>
                <a:cs typeface="Arial" pitchFamily="34" charset="-120"/>
              </a:rPr>
              <a:t>Implementación</a:t>
            </a:r>
            <a:endParaRPr lang="en-US" sz="1500" dirty="0"/>
          </a:p>
        </p:txBody>
      </p:sp>
      <p:sp>
        <p:nvSpPr>
          <p:cNvPr id="27" name="Text 25"/>
          <p:cNvSpPr txBox="1"/>
          <p:nvPr/>
        </p:nvSpPr>
        <p:spPr>
          <a:xfrm>
            <a:off x="9317507" y="3200400"/>
            <a:ext cx="1822628" cy="658368"/>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El agente (o vos) ejecuta cada tarea contra su criterio.</a:t>
            </a:r>
            <a:endParaRPr lang="en-US" sz="1200" dirty="0"/>
          </a:p>
        </p:txBody>
      </p:sp>
      <p:sp>
        <p:nvSpPr>
          <p:cNvPr id="28" name="Shape 26"/>
          <p:cNvSpPr/>
          <p:nvPr/>
        </p:nvSpPr>
        <p:spPr>
          <a:xfrm>
            <a:off x="777240" y="4069080"/>
            <a:ext cx="10637215" cy="804672"/>
          </a:xfrm>
          <a:prstGeom prst="roundRect">
            <a:avLst>
              <a:gd name="adj" fmla="val 11364"/>
            </a:avLst>
          </a:prstGeom>
          <a:solidFill>
            <a:srgbClr val="2E1C14"/>
          </a:solidFill>
          <a:ln w="25400">
            <a:solidFill>
              <a:srgbClr val="E8734A"/>
            </a:solidFill>
            <a:prstDash val="solid"/>
          </a:ln>
        </p:spPr>
      </p:sp>
      <p:sp>
        <p:nvSpPr>
          <p:cNvPr id="29" name="Text 27"/>
          <p:cNvSpPr txBox="1"/>
          <p:nvPr/>
        </p:nvSpPr>
        <p:spPr>
          <a:xfrm>
            <a:off x="1143000" y="4069080"/>
            <a:ext cx="9905695" cy="804672"/>
          </a:xfrm>
          <a:prstGeom prst="rect">
            <a:avLst/>
          </a:prstGeom>
          <a:noFill/>
          <a:ln/>
        </p:spPr>
        <p:txBody>
          <a:bodyPr wrap="square" lIns="0" tIns="0" rIns="0" bIns="0" rtlCol="0" anchor="ctr"/>
          <a:lstStyle/>
          <a:p>
            <a:pPr indent="0" marL="0">
              <a:buNone/>
            </a:pPr>
            <a:r>
              <a:rPr lang="en-US" sz="1500" b="1" dirty="0">
                <a:solidFill>
                  <a:srgbClr val="E8734A"/>
                </a:solidFill>
                <a:latin typeface="Calibri" pitchFamily="34" charset="0"/>
                <a:ea typeface="Calibri" pitchFamily="34" charset="-122"/>
                <a:cs typeface="Calibri" pitchFamily="34" charset="-120"/>
              </a:rPr>
              <a:t>SDD es el principal método para reducir el no determinismo: </a:t>
            </a:r>
            <a:pPr indent="0" marL="0">
              <a:buNone/>
            </a:pPr>
            <a:r>
              <a:rPr lang="en-US" sz="1500" b="1" dirty="0">
                <a:solidFill>
                  <a:srgbClr val="E9EDF2"/>
                </a:solidFill>
                <a:latin typeface="Calibri" pitchFamily="34" charset="0"/>
                <a:ea typeface="Calibri" pitchFamily="34" charset="-122"/>
                <a:cs typeface="Calibri" pitchFamily="34" charset="-120"/>
              </a:rPr>
              <a:t>fija la entrada del agente, que es la única palanca real que tenés sobre la varianza de su salida.</a:t>
            </a:r>
            <a:endParaRPr lang="en-US" sz="1500" dirty="0"/>
          </a:p>
        </p:txBody>
      </p:sp>
      <p:sp>
        <p:nvSpPr>
          <p:cNvPr id="30" name="Shape 28"/>
          <p:cNvSpPr/>
          <p:nvPr/>
        </p:nvSpPr>
        <p:spPr>
          <a:xfrm>
            <a:off x="777240" y="5029200"/>
            <a:ext cx="3362858" cy="1280160"/>
          </a:xfrm>
          <a:prstGeom prst="roundRect">
            <a:avLst>
              <a:gd name="adj" fmla="val 7143"/>
            </a:avLst>
          </a:prstGeom>
          <a:solidFill>
            <a:srgbClr val="1A212B"/>
          </a:solidFill>
          <a:ln w="12700">
            <a:solidFill>
              <a:srgbClr val="2E3A48"/>
            </a:solidFill>
            <a:prstDash val="solid"/>
          </a:ln>
        </p:spPr>
      </p:sp>
      <p:sp>
        <p:nvSpPr>
          <p:cNvPr id="31" name="Shape 29"/>
          <p:cNvSpPr/>
          <p:nvPr/>
        </p:nvSpPr>
        <p:spPr>
          <a:xfrm>
            <a:off x="1051560" y="5266944"/>
            <a:ext cx="146304" cy="146304"/>
          </a:xfrm>
          <a:prstGeom prst="ellipse">
            <a:avLst/>
          </a:prstGeom>
          <a:solidFill>
            <a:srgbClr val="E8734A"/>
          </a:solidFill>
          <a:ln w="12700">
            <a:solidFill>
              <a:srgbClr val="E8734A"/>
            </a:solidFill>
            <a:prstDash val="solid"/>
          </a:ln>
        </p:spPr>
      </p:sp>
      <p:sp>
        <p:nvSpPr>
          <p:cNvPr id="32" name="Text 30"/>
          <p:cNvSpPr txBox="1"/>
          <p:nvPr/>
        </p:nvSpPr>
        <p:spPr>
          <a:xfrm>
            <a:off x="1051560" y="5504688"/>
            <a:ext cx="2814218" cy="274320"/>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Misma entrada, misma dirección</a:t>
            </a:r>
            <a:endParaRPr lang="en-US" sz="1400" dirty="0"/>
          </a:p>
        </p:txBody>
      </p:sp>
      <p:sp>
        <p:nvSpPr>
          <p:cNvPr id="33" name="Text 31"/>
          <p:cNvSpPr txBox="1"/>
          <p:nvPr/>
        </p:nvSpPr>
        <p:spPr>
          <a:xfrm>
            <a:off x="1051560" y="5815584"/>
            <a:ext cx="2814218" cy="457200"/>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Dos corridas contra la misma spec convergen.</a:t>
            </a:r>
            <a:endParaRPr lang="en-US" sz="1200" dirty="0"/>
          </a:p>
        </p:txBody>
      </p:sp>
      <p:sp>
        <p:nvSpPr>
          <p:cNvPr id="34" name="Shape 32"/>
          <p:cNvSpPr/>
          <p:nvPr/>
        </p:nvSpPr>
        <p:spPr>
          <a:xfrm>
            <a:off x="4414418" y="5029200"/>
            <a:ext cx="3362858" cy="1280160"/>
          </a:xfrm>
          <a:prstGeom prst="roundRect">
            <a:avLst>
              <a:gd name="adj" fmla="val 7143"/>
            </a:avLst>
          </a:prstGeom>
          <a:solidFill>
            <a:srgbClr val="1A212B"/>
          </a:solidFill>
          <a:ln w="12700">
            <a:solidFill>
              <a:srgbClr val="2E3A48"/>
            </a:solidFill>
            <a:prstDash val="solid"/>
          </a:ln>
        </p:spPr>
      </p:sp>
      <p:sp>
        <p:nvSpPr>
          <p:cNvPr id="35" name="Shape 33"/>
          <p:cNvSpPr/>
          <p:nvPr/>
        </p:nvSpPr>
        <p:spPr>
          <a:xfrm>
            <a:off x="4688738" y="5266944"/>
            <a:ext cx="146304" cy="146304"/>
          </a:xfrm>
          <a:prstGeom prst="ellipse">
            <a:avLst/>
          </a:prstGeom>
          <a:solidFill>
            <a:srgbClr val="E8734A"/>
          </a:solidFill>
          <a:ln w="12700">
            <a:solidFill>
              <a:srgbClr val="E8734A"/>
            </a:solidFill>
            <a:prstDash val="solid"/>
          </a:ln>
        </p:spPr>
      </p:sp>
      <p:sp>
        <p:nvSpPr>
          <p:cNvPr id="36" name="Text 34"/>
          <p:cNvSpPr txBox="1"/>
          <p:nvPr/>
        </p:nvSpPr>
        <p:spPr>
          <a:xfrm>
            <a:off x="4688738" y="5504688"/>
            <a:ext cx="2814218" cy="274320"/>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Sobrevive a la sesión</a:t>
            </a:r>
            <a:endParaRPr lang="en-US" sz="1400" dirty="0"/>
          </a:p>
        </p:txBody>
      </p:sp>
      <p:sp>
        <p:nvSpPr>
          <p:cNvPr id="37" name="Text 35"/>
          <p:cNvSpPr txBox="1"/>
          <p:nvPr/>
        </p:nvSpPr>
        <p:spPr>
          <a:xfrm>
            <a:off x="4688738" y="5815584"/>
            <a:ext cx="2814218" cy="457200"/>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Es un archivo: se relee, no depende de la conversación.</a:t>
            </a:r>
            <a:endParaRPr lang="en-US" sz="1200" dirty="0"/>
          </a:p>
        </p:txBody>
      </p:sp>
      <p:sp>
        <p:nvSpPr>
          <p:cNvPr id="38" name="Shape 36"/>
          <p:cNvSpPr/>
          <p:nvPr/>
        </p:nvSpPr>
        <p:spPr>
          <a:xfrm>
            <a:off x="8051597" y="5029200"/>
            <a:ext cx="3362858" cy="1280160"/>
          </a:xfrm>
          <a:prstGeom prst="roundRect">
            <a:avLst>
              <a:gd name="adj" fmla="val 7143"/>
            </a:avLst>
          </a:prstGeom>
          <a:solidFill>
            <a:srgbClr val="1A212B"/>
          </a:solidFill>
          <a:ln w="12700">
            <a:solidFill>
              <a:srgbClr val="2E3A48"/>
            </a:solidFill>
            <a:prstDash val="solid"/>
          </a:ln>
        </p:spPr>
      </p:sp>
      <p:sp>
        <p:nvSpPr>
          <p:cNvPr id="39" name="Shape 37"/>
          <p:cNvSpPr/>
          <p:nvPr/>
        </p:nvSpPr>
        <p:spPr>
          <a:xfrm>
            <a:off x="8325917" y="5266944"/>
            <a:ext cx="146304" cy="146304"/>
          </a:xfrm>
          <a:prstGeom prst="ellipse">
            <a:avLst/>
          </a:prstGeom>
          <a:solidFill>
            <a:srgbClr val="E8734A"/>
          </a:solidFill>
          <a:ln w="12700">
            <a:solidFill>
              <a:srgbClr val="E8734A"/>
            </a:solidFill>
            <a:prstDash val="solid"/>
          </a:ln>
        </p:spPr>
      </p:sp>
      <p:sp>
        <p:nvSpPr>
          <p:cNvPr id="40" name="Text 38"/>
          <p:cNvSpPr txBox="1"/>
          <p:nvPr/>
        </p:nvSpPr>
        <p:spPr>
          <a:xfrm>
            <a:off x="8325917" y="5504688"/>
            <a:ext cx="2814218" cy="274320"/>
          </a:xfrm>
          <a:prstGeom prst="rect">
            <a:avLst/>
          </a:prstGeom>
          <a:noFill/>
          <a:ln/>
        </p:spPr>
        <p:txBody>
          <a:bodyPr wrap="square" lIns="0" tIns="0" rIns="0" bIns="0" rtlCol="0" anchor="ctr"/>
          <a:lstStyle/>
          <a:p>
            <a:pPr indent="0" marL="0">
              <a:buNone/>
            </a:pPr>
            <a:r>
              <a:rPr lang="en-US" sz="1400" b="1" dirty="0">
                <a:solidFill>
                  <a:srgbClr val="E9EDF2"/>
                </a:solidFill>
                <a:latin typeface="Arial" pitchFamily="34" charset="0"/>
                <a:ea typeface="Arial" pitchFamily="34" charset="-122"/>
                <a:cs typeface="Arial" pitchFamily="34" charset="-120"/>
              </a:rPr>
              <a:t>Se corrige la spec, no el parche</a:t>
            </a:r>
            <a:endParaRPr lang="en-US" sz="1400" dirty="0"/>
          </a:p>
        </p:txBody>
      </p:sp>
      <p:sp>
        <p:nvSpPr>
          <p:cNvPr id="41" name="Text 39"/>
          <p:cNvSpPr txBox="1"/>
          <p:nvPr/>
        </p:nvSpPr>
        <p:spPr>
          <a:xfrm>
            <a:off x="8325917" y="5815584"/>
            <a:ext cx="2814218" cy="457200"/>
          </a:xfrm>
          <a:prstGeom prst="rect">
            <a:avLst/>
          </a:prstGeom>
          <a:noFill/>
          <a:ln/>
        </p:spPr>
        <p:txBody>
          <a:bodyPr wrap="square" lIns="0" tIns="0" rIns="0" bIns="0" rtlCol="0" anchor="t"/>
          <a:lstStyle/>
          <a:p>
            <a:pPr indent="0" marL="0">
              <a:lnSpc>
                <a:spcPts val="1600"/>
              </a:lnSpc>
              <a:buNone/>
            </a:pPr>
            <a:r>
              <a:rPr lang="en-US" sz="1200" dirty="0">
                <a:solidFill>
                  <a:srgbClr val="97A3B2"/>
                </a:solidFill>
                <a:latin typeface="Calibri" pitchFamily="34" charset="0"/>
                <a:ea typeface="Calibri" pitchFamily="34" charset="-122"/>
                <a:cs typeface="Calibri" pitchFamily="34" charset="-120"/>
              </a:rPr>
              <a:t>Si algo no cierra, se arregla la spec y se vuelve a derivar.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SDD</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Cuándo conviene — y cuándo no</a:t>
            </a:r>
            <a:endParaRPr lang="en-US" sz="3200" dirty="0"/>
          </a:p>
        </p:txBody>
      </p:sp>
      <p:sp>
        <p:nvSpPr>
          <p:cNvPr id="4" name="Shape 2"/>
          <p:cNvSpPr/>
          <p:nvPr/>
        </p:nvSpPr>
        <p:spPr>
          <a:xfrm>
            <a:off x="777240" y="1737360"/>
            <a:ext cx="5135728" cy="4069080"/>
          </a:xfrm>
          <a:prstGeom prst="roundRect">
            <a:avLst>
              <a:gd name="adj" fmla="val 2247"/>
            </a:avLst>
          </a:prstGeom>
          <a:solidFill>
            <a:srgbClr val="1A212B"/>
          </a:solidFill>
          <a:ln w="12700">
            <a:solidFill>
              <a:srgbClr val="2E3A48"/>
            </a:solidFill>
            <a:prstDash val="solid"/>
          </a:ln>
        </p:spPr>
      </p:sp>
      <p:sp>
        <p:nvSpPr>
          <p:cNvPr id="5" name="Shape 3"/>
          <p:cNvSpPr/>
          <p:nvPr/>
        </p:nvSpPr>
        <p:spPr>
          <a:xfrm>
            <a:off x="1124712" y="1975104"/>
            <a:ext cx="310896" cy="310896"/>
          </a:xfrm>
          <a:prstGeom prst="ellipse">
            <a:avLst/>
          </a:prstGeom>
          <a:solidFill>
            <a:srgbClr val="4FD1C5"/>
          </a:solidFill>
          <a:ln w="12700">
            <a:solidFill>
              <a:srgbClr val="4FD1C5"/>
            </a:solidFill>
            <a:prstDash val="solid"/>
          </a:ln>
        </p:spPr>
      </p:sp>
      <p:sp>
        <p:nvSpPr>
          <p:cNvPr id="6" name="Text 4"/>
          <p:cNvSpPr txBox="1"/>
          <p:nvPr/>
        </p:nvSpPr>
        <p:spPr>
          <a:xfrm>
            <a:off x="1600200" y="1956816"/>
            <a:ext cx="4038448" cy="347472"/>
          </a:xfrm>
          <a:prstGeom prst="rect">
            <a:avLst/>
          </a:prstGeom>
          <a:noFill/>
          <a:ln/>
        </p:spPr>
        <p:txBody>
          <a:bodyPr wrap="square" lIns="0" tIns="0" rIns="0" bIns="0" rtlCol="0" anchor="ctr"/>
          <a:lstStyle/>
          <a:p>
            <a:pPr indent="0" marL="0">
              <a:buNone/>
            </a:pPr>
            <a:r>
              <a:rPr lang="en-US" sz="2000" b="1" dirty="0">
                <a:solidFill>
                  <a:srgbClr val="4FD1C5"/>
                </a:solidFill>
                <a:latin typeface="Arial" pitchFamily="34" charset="0"/>
                <a:ea typeface="Arial" pitchFamily="34" charset="-122"/>
                <a:cs typeface="Arial" pitchFamily="34" charset="-120"/>
              </a:rPr>
              <a:t>Conviene</a:t>
            </a:r>
            <a:endParaRPr lang="en-US" sz="2000" dirty="0"/>
          </a:p>
        </p:txBody>
      </p:sp>
      <p:sp>
        <p:nvSpPr>
          <p:cNvPr id="7" name="Text 5"/>
          <p:cNvSpPr txBox="1"/>
          <p:nvPr/>
        </p:nvSpPr>
        <p:spPr>
          <a:xfrm>
            <a:off x="1124712" y="2560320"/>
            <a:ext cx="4440784" cy="3154680"/>
          </a:xfrm>
          <a:prstGeom prst="rect">
            <a:avLst/>
          </a:prstGeom>
          <a:noFill/>
          <a:ln/>
        </p:spPr>
        <p:txBody>
          <a:bodyPr wrap="square" lIns="0" tIns="0" rIns="0" bIns="0" rtlCol="0" anchor="t"/>
          <a:lstStyle/>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Features grandes o que tocan varios módulos o servicios.</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Trabajo delegado a agentes durante sesiones largas.</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Varias personas o agentes trabajando sobre lo mismo.</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Dominios con reglas de negocio densas o requisitos regulatorios.</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Reescrituras y migraciones, donde el comportamiento actual hay que dejarlo explícito.</a:t>
            </a:r>
            <a:endParaRPr lang="en-US" sz="1350" dirty="0"/>
          </a:p>
        </p:txBody>
      </p:sp>
      <p:sp>
        <p:nvSpPr>
          <p:cNvPr id="8" name="Shape 6"/>
          <p:cNvSpPr/>
          <p:nvPr/>
        </p:nvSpPr>
        <p:spPr>
          <a:xfrm>
            <a:off x="6278728" y="1737360"/>
            <a:ext cx="5135728" cy="4069080"/>
          </a:xfrm>
          <a:prstGeom prst="roundRect">
            <a:avLst>
              <a:gd name="adj" fmla="val 2247"/>
            </a:avLst>
          </a:prstGeom>
          <a:solidFill>
            <a:srgbClr val="1A212B"/>
          </a:solidFill>
          <a:ln w="12700">
            <a:solidFill>
              <a:srgbClr val="2E3A48"/>
            </a:solidFill>
            <a:prstDash val="solid"/>
          </a:ln>
        </p:spPr>
      </p:sp>
      <p:sp>
        <p:nvSpPr>
          <p:cNvPr id="9" name="Shape 7"/>
          <p:cNvSpPr/>
          <p:nvPr/>
        </p:nvSpPr>
        <p:spPr>
          <a:xfrm>
            <a:off x="6626200" y="1975104"/>
            <a:ext cx="310896" cy="310896"/>
          </a:xfrm>
          <a:prstGeom prst="ellipse">
            <a:avLst/>
          </a:prstGeom>
          <a:solidFill>
            <a:srgbClr val="E8734A"/>
          </a:solidFill>
          <a:ln w="12700">
            <a:solidFill>
              <a:srgbClr val="E8734A"/>
            </a:solidFill>
            <a:prstDash val="solid"/>
          </a:ln>
        </p:spPr>
      </p:sp>
      <p:sp>
        <p:nvSpPr>
          <p:cNvPr id="10" name="Text 8"/>
          <p:cNvSpPr txBox="1"/>
          <p:nvPr/>
        </p:nvSpPr>
        <p:spPr>
          <a:xfrm>
            <a:off x="7101688" y="1956816"/>
            <a:ext cx="4038448" cy="347472"/>
          </a:xfrm>
          <a:prstGeom prst="rect">
            <a:avLst/>
          </a:prstGeom>
          <a:noFill/>
          <a:ln/>
        </p:spPr>
        <p:txBody>
          <a:bodyPr wrap="square" lIns="0" tIns="0" rIns="0" bIns="0" rtlCol="0" anchor="ctr"/>
          <a:lstStyle/>
          <a:p>
            <a:pPr indent="0" marL="0">
              <a:buNone/>
            </a:pPr>
            <a:r>
              <a:rPr lang="en-US" sz="2000" b="1" dirty="0">
                <a:solidFill>
                  <a:srgbClr val="E8734A"/>
                </a:solidFill>
                <a:latin typeface="Arial" pitchFamily="34" charset="0"/>
                <a:ea typeface="Arial" pitchFamily="34" charset="-122"/>
                <a:cs typeface="Arial" pitchFamily="34" charset="-120"/>
              </a:rPr>
              <a:t>No conviene</a:t>
            </a:r>
            <a:endParaRPr lang="en-US" sz="2000" dirty="0"/>
          </a:p>
        </p:txBody>
      </p:sp>
      <p:sp>
        <p:nvSpPr>
          <p:cNvPr id="11" name="Text 9"/>
          <p:cNvSpPr txBox="1"/>
          <p:nvPr/>
        </p:nvSpPr>
        <p:spPr>
          <a:xfrm>
            <a:off x="6626200" y="2560320"/>
            <a:ext cx="4440784" cy="3154680"/>
          </a:xfrm>
          <a:prstGeom prst="rect">
            <a:avLst/>
          </a:prstGeom>
          <a:noFill/>
          <a:ln/>
        </p:spPr>
        <p:txBody>
          <a:bodyPr wrap="square" lIns="0" tIns="0" rIns="0" bIns="0" rtlCol="0" anchor="t"/>
          <a:lstStyle/>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Bugfixes chicos y cambios de una línea.</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Exploración o spikes: todavía no sabés qué querés construir.</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Prototipos descartables y pruebas de concepto.</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Tareas mecánicas y bien acotadas (renombres, bumps de versión).</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Requisitos que cambian a diario: la spec envejece más rápido de lo que se escribe.</a:t>
            </a:r>
            <a:endParaRPr lang="en-US" sz="1350" dirty="0"/>
          </a:p>
        </p:txBody>
      </p:sp>
      <p:sp>
        <p:nvSpPr>
          <p:cNvPr id="12" name="Text 10"/>
          <p:cNvSpPr txBox="1"/>
          <p:nvPr/>
        </p:nvSpPr>
        <p:spPr>
          <a:xfrm>
            <a:off x="777240" y="5989320"/>
            <a:ext cx="10637215" cy="320040"/>
          </a:xfrm>
          <a:prstGeom prst="rect">
            <a:avLst/>
          </a:prstGeom>
          <a:noFill/>
          <a:ln/>
        </p:spPr>
        <p:txBody>
          <a:bodyPr wrap="square" lIns="0" tIns="0" rIns="0" bIns="0" rtlCol="0" anchor="ctr"/>
          <a:lstStyle/>
          <a:p>
            <a:pPr indent="0" marL="0">
              <a:buNone/>
            </a:pPr>
            <a:r>
              <a:rPr lang="en-US" sz="1400" i="1" dirty="0">
                <a:solidFill>
                  <a:srgbClr val="F2C94C"/>
                </a:solidFill>
                <a:latin typeface="Calibri" pitchFamily="34" charset="0"/>
                <a:ea typeface="Calibri" pitchFamily="34" charset="-122"/>
                <a:cs typeface="Calibri" pitchFamily="34" charset="-120"/>
              </a:rPr>
              <a:t>Regla práctica: si explicar bien la tarea te lleva más tiempo que hacerla, no necesita spec. Si vas a explicarla tres veces, sí.</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SDD</a:t>
            </a:r>
            <a:endParaRPr lang="en-US" sz="1200" dirty="0"/>
          </a:p>
        </p:txBody>
      </p:sp>
      <p:sp>
        <p:nvSpPr>
          <p:cNvPr id="3" name="Text 1"/>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Ventajas y desventajas</a:t>
            </a:r>
            <a:endParaRPr lang="en-US" sz="3200" dirty="0"/>
          </a:p>
        </p:txBody>
      </p:sp>
      <p:sp>
        <p:nvSpPr>
          <p:cNvPr id="4" name="Shape 2"/>
          <p:cNvSpPr/>
          <p:nvPr/>
        </p:nvSpPr>
        <p:spPr>
          <a:xfrm>
            <a:off x="777240" y="1737360"/>
            <a:ext cx="5135728" cy="4069080"/>
          </a:xfrm>
          <a:prstGeom prst="roundRect">
            <a:avLst>
              <a:gd name="adj" fmla="val 2247"/>
            </a:avLst>
          </a:prstGeom>
          <a:solidFill>
            <a:srgbClr val="1A212B"/>
          </a:solidFill>
          <a:ln w="12700">
            <a:solidFill>
              <a:srgbClr val="2E3A48"/>
            </a:solidFill>
            <a:prstDash val="solid"/>
          </a:ln>
        </p:spPr>
      </p:sp>
      <p:sp>
        <p:nvSpPr>
          <p:cNvPr id="5" name="Shape 3"/>
          <p:cNvSpPr/>
          <p:nvPr/>
        </p:nvSpPr>
        <p:spPr>
          <a:xfrm>
            <a:off x="1124712" y="1975104"/>
            <a:ext cx="310896" cy="310896"/>
          </a:xfrm>
          <a:prstGeom prst="ellipse">
            <a:avLst/>
          </a:prstGeom>
          <a:solidFill>
            <a:srgbClr val="4FD1C5"/>
          </a:solidFill>
          <a:ln w="12700">
            <a:solidFill>
              <a:srgbClr val="4FD1C5"/>
            </a:solidFill>
            <a:prstDash val="solid"/>
          </a:ln>
        </p:spPr>
      </p:sp>
      <p:sp>
        <p:nvSpPr>
          <p:cNvPr id="6" name="Text 4"/>
          <p:cNvSpPr txBox="1"/>
          <p:nvPr/>
        </p:nvSpPr>
        <p:spPr>
          <a:xfrm>
            <a:off x="1600200" y="1956816"/>
            <a:ext cx="4038448" cy="347472"/>
          </a:xfrm>
          <a:prstGeom prst="rect">
            <a:avLst/>
          </a:prstGeom>
          <a:noFill/>
          <a:ln/>
        </p:spPr>
        <p:txBody>
          <a:bodyPr wrap="square" lIns="0" tIns="0" rIns="0" bIns="0" rtlCol="0" anchor="ctr"/>
          <a:lstStyle/>
          <a:p>
            <a:pPr indent="0" marL="0">
              <a:buNone/>
            </a:pPr>
            <a:r>
              <a:rPr lang="en-US" sz="2000" b="1" dirty="0">
                <a:solidFill>
                  <a:srgbClr val="4FD1C5"/>
                </a:solidFill>
                <a:latin typeface="Arial" pitchFamily="34" charset="0"/>
                <a:ea typeface="Arial" pitchFamily="34" charset="-122"/>
                <a:cs typeface="Arial" pitchFamily="34" charset="-120"/>
              </a:rPr>
              <a:t>Ventajas</a:t>
            </a:r>
            <a:endParaRPr lang="en-US" sz="2000" dirty="0"/>
          </a:p>
        </p:txBody>
      </p:sp>
      <p:sp>
        <p:nvSpPr>
          <p:cNvPr id="7" name="Text 5"/>
          <p:cNvSpPr txBox="1"/>
          <p:nvPr/>
        </p:nvSpPr>
        <p:spPr>
          <a:xfrm>
            <a:off x="1124712" y="2560320"/>
            <a:ext cx="4440784" cy="3154680"/>
          </a:xfrm>
          <a:prstGeom prst="rect">
            <a:avLst/>
          </a:prstGeom>
          <a:noFill/>
          <a:ln/>
        </p:spPr>
        <p:txBody>
          <a:bodyPr wrap="square" lIns="0" tIns="0" rIns="0" bIns="0" rtlCol="0" anchor="t"/>
          <a:lstStyle/>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Es la principal palanca contra el no determinismo: fija la entrada, que es lo único que realmente controlás.</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La intención queda escrita y versionada: sobrevive a la sesión, al /clear y a la rotación del equipo.</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Los malentendidos se detectan en un párrafo, antes de costar días de implementación.</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Habilita trabajo paralelo — varias personas o agentes contra el mismo contrato.</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Reduce la reinyección de contexto: la spec se relee en vez de reexplicarse.</a:t>
            </a:r>
            <a:endParaRPr lang="en-US" sz="1350" dirty="0"/>
          </a:p>
        </p:txBody>
      </p:sp>
      <p:sp>
        <p:nvSpPr>
          <p:cNvPr id="8" name="Shape 6"/>
          <p:cNvSpPr/>
          <p:nvPr/>
        </p:nvSpPr>
        <p:spPr>
          <a:xfrm>
            <a:off x="6278728" y="1737360"/>
            <a:ext cx="5135728" cy="4069080"/>
          </a:xfrm>
          <a:prstGeom prst="roundRect">
            <a:avLst>
              <a:gd name="adj" fmla="val 2247"/>
            </a:avLst>
          </a:prstGeom>
          <a:solidFill>
            <a:srgbClr val="1A212B"/>
          </a:solidFill>
          <a:ln w="12700">
            <a:solidFill>
              <a:srgbClr val="2E3A48"/>
            </a:solidFill>
            <a:prstDash val="solid"/>
          </a:ln>
        </p:spPr>
      </p:sp>
      <p:sp>
        <p:nvSpPr>
          <p:cNvPr id="9" name="Shape 7"/>
          <p:cNvSpPr/>
          <p:nvPr/>
        </p:nvSpPr>
        <p:spPr>
          <a:xfrm>
            <a:off x="6626200" y="1975104"/>
            <a:ext cx="310896" cy="310896"/>
          </a:xfrm>
          <a:prstGeom prst="ellipse">
            <a:avLst/>
          </a:prstGeom>
          <a:solidFill>
            <a:srgbClr val="E8734A"/>
          </a:solidFill>
          <a:ln w="12700">
            <a:solidFill>
              <a:srgbClr val="E8734A"/>
            </a:solidFill>
            <a:prstDash val="solid"/>
          </a:ln>
        </p:spPr>
      </p:sp>
      <p:sp>
        <p:nvSpPr>
          <p:cNvPr id="10" name="Text 8"/>
          <p:cNvSpPr txBox="1"/>
          <p:nvPr/>
        </p:nvSpPr>
        <p:spPr>
          <a:xfrm>
            <a:off x="7101688" y="1956816"/>
            <a:ext cx="4038448" cy="347472"/>
          </a:xfrm>
          <a:prstGeom prst="rect">
            <a:avLst/>
          </a:prstGeom>
          <a:noFill/>
          <a:ln/>
        </p:spPr>
        <p:txBody>
          <a:bodyPr wrap="square" lIns="0" tIns="0" rIns="0" bIns="0" rtlCol="0" anchor="ctr"/>
          <a:lstStyle/>
          <a:p>
            <a:pPr indent="0" marL="0">
              <a:buNone/>
            </a:pPr>
            <a:r>
              <a:rPr lang="en-US" sz="2000" b="1" dirty="0">
                <a:solidFill>
                  <a:srgbClr val="E8734A"/>
                </a:solidFill>
                <a:latin typeface="Arial" pitchFamily="34" charset="0"/>
                <a:ea typeface="Arial" pitchFamily="34" charset="-122"/>
                <a:cs typeface="Arial" pitchFamily="34" charset="-120"/>
              </a:rPr>
              <a:t>Desventajas</a:t>
            </a:r>
            <a:endParaRPr lang="en-US" sz="2000" dirty="0"/>
          </a:p>
        </p:txBody>
      </p:sp>
      <p:sp>
        <p:nvSpPr>
          <p:cNvPr id="11" name="Text 9"/>
          <p:cNvSpPr txBox="1"/>
          <p:nvPr/>
        </p:nvSpPr>
        <p:spPr>
          <a:xfrm>
            <a:off x="6626200" y="2560320"/>
            <a:ext cx="4440784" cy="3154680"/>
          </a:xfrm>
          <a:prstGeom prst="rect">
            <a:avLst/>
          </a:prstGeom>
          <a:noFill/>
          <a:ln/>
        </p:spPr>
        <p:txBody>
          <a:bodyPr wrap="square" lIns="0" tIns="0" rIns="0" bIns="0" rtlCol="0" anchor="t"/>
          <a:lstStyle/>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Costo inicial real: escribir una buena spec lleva tiempo y disciplina.</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Riesgo de ceremonia: specs para todo terminan siendo burocracia.</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Si nadie la mantiene, se desactualiza y pasa a ser peor que no tenerla.</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Especificar de más congela decisiones que convenía dejar abiertas.</a:t>
            </a:r>
            <a:endParaRPr lang="en-US" sz="1350" dirty="0"/>
          </a:p>
          <a:p>
            <a:pPr marL="342900" indent="-342900">
              <a:lnSpc>
                <a:spcPts val="1900"/>
              </a:lnSpc>
              <a:spcAft>
                <a:spcPts val="1200"/>
              </a:spcAft>
              <a:buSzPct val="100000"/>
              <a:buChar char="•"/>
            </a:pPr>
            <a:r>
              <a:rPr lang="en-US" sz="1350" dirty="0">
                <a:solidFill>
                  <a:srgbClr val="97A3B2"/>
                </a:solidFill>
                <a:latin typeface="Calibri" pitchFamily="34" charset="0"/>
                <a:ea typeface="Calibri" pitchFamily="34" charset="-122"/>
                <a:cs typeface="Calibri" pitchFamily="34" charset="-120"/>
              </a:rPr>
              <a:t>Requiere acuerdo del equipo: una spec que solo respeta una persona no sirve.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A22"/>
        </a:solidFill>
      </p:bgPr>
    </p:bg>
    <p:spTree>
      <p:nvGrpSpPr>
        <p:cNvPr id="1" name=""/>
        <p:cNvGrpSpPr/>
        <p:nvPr/>
      </p:nvGrpSpPr>
      <p:grpSpPr>
        <a:xfrm>
          <a:off x="0" y="0"/>
          <a:ext cx="0" cy="0"/>
          <a:chOff x="0" y="0"/>
          <a:chExt cx="0" cy="0"/>
        </a:xfrm>
      </p:grpSpPr>
      <p:sp>
        <p:nvSpPr>
          <p:cNvPr id="2" name="Shape 0"/>
          <p:cNvSpPr/>
          <p:nvPr/>
        </p:nvSpPr>
        <p:spPr>
          <a:xfrm>
            <a:off x="9326880" y="3657600"/>
            <a:ext cx="4937760" cy="4937760"/>
          </a:xfrm>
          <a:prstGeom prst="ellipse">
            <a:avLst/>
          </a:prstGeom>
          <a:solidFill>
            <a:srgbClr val="4FD1C5">
              <a:alpha val="9000"/>
            </a:srgbClr>
          </a:solidFill>
          <a:ln/>
        </p:spPr>
      </p:sp>
      <p:sp>
        <p:nvSpPr>
          <p:cNvPr id="3" name="Text 1"/>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CIERRE</a:t>
            </a:r>
            <a:endParaRPr lang="en-US" sz="1200" dirty="0"/>
          </a:p>
        </p:txBody>
      </p:sp>
      <p:sp>
        <p:nvSpPr>
          <p:cNvPr id="4" name="Text 2"/>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Para llevarse</a:t>
            </a:r>
            <a:endParaRPr lang="en-US" sz="3200" dirty="0"/>
          </a:p>
        </p:txBody>
      </p:sp>
      <p:sp>
        <p:nvSpPr>
          <p:cNvPr id="5" name="Shape 3"/>
          <p:cNvSpPr/>
          <p:nvPr/>
        </p:nvSpPr>
        <p:spPr>
          <a:xfrm>
            <a:off x="777240" y="1645920"/>
            <a:ext cx="10637215" cy="868680"/>
          </a:xfrm>
          <a:prstGeom prst="roundRect">
            <a:avLst>
              <a:gd name="adj" fmla="val 10526"/>
            </a:avLst>
          </a:prstGeom>
          <a:solidFill>
            <a:srgbClr val="1A212B"/>
          </a:solidFill>
          <a:ln w="12700">
            <a:solidFill>
              <a:srgbClr val="2E3A48"/>
            </a:solidFill>
            <a:prstDash val="solid"/>
          </a:ln>
        </p:spPr>
      </p:sp>
      <p:sp>
        <p:nvSpPr>
          <p:cNvPr id="6" name="Shape 4"/>
          <p:cNvSpPr/>
          <p:nvPr/>
        </p:nvSpPr>
        <p:spPr>
          <a:xfrm>
            <a:off x="1097280" y="1892808"/>
            <a:ext cx="384048" cy="384048"/>
          </a:xfrm>
          <a:prstGeom prst="ellipse">
            <a:avLst/>
          </a:prstGeom>
          <a:solidFill>
            <a:srgbClr val="E8734A"/>
          </a:solidFill>
          <a:ln w="12700">
            <a:solidFill>
              <a:srgbClr val="E8734A"/>
            </a:solidFill>
            <a:prstDash val="solid"/>
          </a:ln>
        </p:spPr>
      </p:sp>
      <p:sp>
        <p:nvSpPr>
          <p:cNvPr id="7" name="Text 5"/>
          <p:cNvSpPr txBox="1"/>
          <p:nvPr/>
        </p:nvSpPr>
        <p:spPr>
          <a:xfrm>
            <a:off x="1097280" y="1892808"/>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737360" y="1773936"/>
            <a:ext cx="9601200" cy="292608"/>
          </a:xfrm>
          <a:prstGeom prst="rect">
            <a:avLst/>
          </a:prstGeom>
          <a:noFill/>
          <a:ln/>
        </p:spPr>
        <p:txBody>
          <a:bodyPr wrap="square" lIns="0" tIns="0" rIns="0" bIns="0" rtlCol="0" anchor="ctr"/>
          <a:lstStyle/>
          <a:p>
            <a:pPr indent="0" marL="0">
              <a:buNone/>
            </a:pPr>
            <a:r>
              <a:rPr lang="en-US" sz="1550" b="1" dirty="0">
                <a:solidFill>
                  <a:srgbClr val="E9EDF2"/>
                </a:solidFill>
                <a:latin typeface="Arial" pitchFamily="34" charset="0"/>
                <a:ea typeface="Arial" pitchFamily="34" charset="-122"/>
                <a:cs typeface="Arial" pitchFamily="34" charset="-120"/>
              </a:rPr>
              <a:t>El modelo no recuerda; vos reenviás</a:t>
            </a:r>
            <a:endParaRPr lang="en-US" sz="1550" dirty="0"/>
          </a:p>
        </p:txBody>
      </p:sp>
      <p:sp>
        <p:nvSpPr>
          <p:cNvPr id="9" name="Text 7"/>
          <p:cNvSpPr txBox="1"/>
          <p:nvPr/>
        </p:nvSpPr>
        <p:spPr>
          <a:xfrm>
            <a:off x="1737360" y="2084832"/>
            <a:ext cx="9601200" cy="329184"/>
          </a:xfrm>
          <a:prstGeom prst="rect">
            <a:avLst/>
          </a:prstGeom>
          <a:noFill/>
          <a:ln/>
        </p:spPr>
        <p:txBody>
          <a:bodyPr wrap="square" lIns="0" tIns="0" rIns="0" bIns="0" rtlCol="0" anchor="t"/>
          <a:lstStyle/>
          <a:p>
            <a:pPr indent="0" marL="0">
              <a:buNone/>
            </a:pPr>
            <a:r>
              <a:rPr lang="en-US" sz="1250" dirty="0">
                <a:solidFill>
                  <a:srgbClr val="97A3B2"/>
                </a:solidFill>
                <a:latin typeface="Calibri" pitchFamily="34" charset="0"/>
                <a:ea typeface="Calibri" pitchFamily="34" charset="-122"/>
                <a:cs typeface="Calibri" pitchFamily="34" charset="-120"/>
              </a:rPr>
              <a:t>Toda la conversación viaja de nuevo en cada turno. El costo y la latencia dependen del largo, no de la dificultad.</a:t>
            </a:r>
            <a:endParaRPr lang="en-US" sz="1250" dirty="0"/>
          </a:p>
        </p:txBody>
      </p:sp>
      <p:sp>
        <p:nvSpPr>
          <p:cNvPr id="10" name="Shape 8"/>
          <p:cNvSpPr/>
          <p:nvPr/>
        </p:nvSpPr>
        <p:spPr>
          <a:xfrm>
            <a:off x="777240" y="2587752"/>
            <a:ext cx="10637215" cy="868680"/>
          </a:xfrm>
          <a:prstGeom prst="roundRect">
            <a:avLst>
              <a:gd name="adj" fmla="val 10526"/>
            </a:avLst>
          </a:prstGeom>
          <a:solidFill>
            <a:srgbClr val="1A212B"/>
          </a:solidFill>
          <a:ln w="12700">
            <a:solidFill>
              <a:srgbClr val="2E3A48"/>
            </a:solidFill>
            <a:prstDash val="solid"/>
          </a:ln>
        </p:spPr>
      </p:sp>
      <p:sp>
        <p:nvSpPr>
          <p:cNvPr id="11" name="Shape 9"/>
          <p:cNvSpPr/>
          <p:nvPr/>
        </p:nvSpPr>
        <p:spPr>
          <a:xfrm>
            <a:off x="1097280" y="2834640"/>
            <a:ext cx="384048" cy="384048"/>
          </a:xfrm>
          <a:prstGeom prst="ellipse">
            <a:avLst/>
          </a:prstGeom>
          <a:solidFill>
            <a:srgbClr val="E8734A"/>
          </a:solidFill>
          <a:ln w="12700">
            <a:solidFill>
              <a:srgbClr val="E8734A"/>
            </a:solidFill>
            <a:prstDash val="solid"/>
          </a:ln>
        </p:spPr>
      </p:sp>
      <p:sp>
        <p:nvSpPr>
          <p:cNvPr id="12" name="Text 10"/>
          <p:cNvSpPr txBox="1"/>
          <p:nvPr/>
        </p:nvSpPr>
        <p:spPr>
          <a:xfrm>
            <a:off x="1097280" y="2834640"/>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1737360" y="2715768"/>
            <a:ext cx="9601200" cy="292608"/>
          </a:xfrm>
          <a:prstGeom prst="rect">
            <a:avLst/>
          </a:prstGeom>
          <a:noFill/>
          <a:ln/>
        </p:spPr>
        <p:txBody>
          <a:bodyPr wrap="square" lIns="0" tIns="0" rIns="0" bIns="0" rtlCol="0" anchor="ctr"/>
          <a:lstStyle/>
          <a:p>
            <a:pPr indent="0" marL="0">
              <a:buNone/>
            </a:pPr>
            <a:r>
              <a:rPr lang="en-US" sz="1550" b="1" dirty="0">
                <a:solidFill>
                  <a:srgbClr val="E9EDF2"/>
                </a:solidFill>
                <a:latin typeface="Arial" pitchFamily="34" charset="0"/>
                <a:ea typeface="Arial" pitchFamily="34" charset="-122"/>
                <a:cs typeface="Arial" pitchFamily="34" charset="-120"/>
              </a:rPr>
              <a:t>El contexto es un recurso, no un log</a:t>
            </a:r>
            <a:endParaRPr lang="en-US" sz="1550" dirty="0"/>
          </a:p>
        </p:txBody>
      </p:sp>
      <p:sp>
        <p:nvSpPr>
          <p:cNvPr id="14" name="Text 12"/>
          <p:cNvSpPr txBox="1"/>
          <p:nvPr/>
        </p:nvSpPr>
        <p:spPr>
          <a:xfrm>
            <a:off x="1737360" y="3026664"/>
            <a:ext cx="9601200" cy="329184"/>
          </a:xfrm>
          <a:prstGeom prst="rect">
            <a:avLst/>
          </a:prstGeom>
          <a:noFill/>
          <a:ln/>
        </p:spPr>
        <p:txBody>
          <a:bodyPr wrap="square" lIns="0" tIns="0" rIns="0" bIns="0" rtlCol="0" anchor="t"/>
          <a:lstStyle/>
          <a:p>
            <a:pPr indent="0" marL="0">
              <a:buNone/>
            </a:pPr>
            <a:r>
              <a:rPr lang="en-US" sz="1250" dirty="0">
                <a:solidFill>
                  <a:srgbClr val="97A3B2"/>
                </a:solidFill>
                <a:latin typeface="Calibri" pitchFamily="34" charset="0"/>
                <a:ea typeface="Calibri" pitchFamily="34" charset="-122"/>
                <a:cs typeface="Calibri" pitchFamily="34" charset="-120"/>
              </a:rPr>
              <a:t>Se mide con /context y /usage, se administra con /compact, /clear y /btw. Una tarea, una sesión.</a:t>
            </a:r>
            <a:endParaRPr lang="en-US" sz="1250" dirty="0"/>
          </a:p>
        </p:txBody>
      </p:sp>
      <p:sp>
        <p:nvSpPr>
          <p:cNvPr id="15" name="Shape 13"/>
          <p:cNvSpPr/>
          <p:nvPr/>
        </p:nvSpPr>
        <p:spPr>
          <a:xfrm>
            <a:off x="777240" y="3529584"/>
            <a:ext cx="10637215" cy="868680"/>
          </a:xfrm>
          <a:prstGeom prst="roundRect">
            <a:avLst>
              <a:gd name="adj" fmla="val 10526"/>
            </a:avLst>
          </a:prstGeom>
          <a:solidFill>
            <a:srgbClr val="1A212B"/>
          </a:solidFill>
          <a:ln w="12700">
            <a:solidFill>
              <a:srgbClr val="2E3A48"/>
            </a:solidFill>
            <a:prstDash val="solid"/>
          </a:ln>
        </p:spPr>
      </p:sp>
      <p:sp>
        <p:nvSpPr>
          <p:cNvPr id="16" name="Shape 14"/>
          <p:cNvSpPr/>
          <p:nvPr/>
        </p:nvSpPr>
        <p:spPr>
          <a:xfrm>
            <a:off x="1097280" y="3776472"/>
            <a:ext cx="384048" cy="384048"/>
          </a:xfrm>
          <a:prstGeom prst="ellipse">
            <a:avLst/>
          </a:prstGeom>
          <a:solidFill>
            <a:srgbClr val="4FD1C5"/>
          </a:solidFill>
          <a:ln w="12700">
            <a:solidFill>
              <a:srgbClr val="4FD1C5"/>
            </a:solidFill>
            <a:prstDash val="solid"/>
          </a:ln>
        </p:spPr>
      </p:sp>
      <p:sp>
        <p:nvSpPr>
          <p:cNvPr id="17" name="Text 15"/>
          <p:cNvSpPr txBox="1"/>
          <p:nvPr/>
        </p:nvSpPr>
        <p:spPr>
          <a:xfrm>
            <a:off x="1097280" y="377647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737360" y="3657600"/>
            <a:ext cx="9601200" cy="292608"/>
          </a:xfrm>
          <a:prstGeom prst="rect">
            <a:avLst/>
          </a:prstGeom>
          <a:noFill/>
          <a:ln/>
        </p:spPr>
        <p:txBody>
          <a:bodyPr wrap="square" lIns="0" tIns="0" rIns="0" bIns="0" rtlCol="0" anchor="ctr"/>
          <a:lstStyle/>
          <a:p>
            <a:pPr indent="0" marL="0">
              <a:buNone/>
            </a:pPr>
            <a:r>
              <a:rPr lang="en-US" sz="1550" b="1" dirty="0">
                <a:solidFill>
                  <a:srgbClr val="E9EDF2"/>
                </a:solidFill>
                <a:latin typeface="Arial" pitchFamily="34" charset="0"/>
                <a:ea typeface="Arial" pitchFamily="34" charset="-122"/>
                <a:cs typeface="Arial" pitchFamily="34" charset="-120"/>
              </a:rPr>
              <a:t>El modelo es no determinista y así se queda</a:t>
            </a:r>
            <a:endParaRPr lang="en-US" sz="1550" dirty="0"/>
          </a:p>
        </p:txBody>
      </p:sp>
      <p:sp>
        <p:nvSpPr>
          <p:cNvPr id="19" name="Text 17"/>
          <p:cNvSpPr txBox="1"/>
          <p:nvPr/>
        </p:nvSpPr>
        <p:spPr>
          <a:xfrm>
            <a:off x="1737360" y="3968496"/>
            <a:ext cx="9601200" cy="329184"/>
          </a:xfrm>
          <a:prstGeom prst="rect">
            <a:avLst/>
          </a:prstGeom>
          <a:noFill/>
          <a:ln/>
        </p:spPr>
        <p:txBody>
          <a:bodyPr wrap="square" lIns="0" tIns="0" rIns="0" bIns="0" rtlCol="0" anchor="t"/>
          <a:lstStyle/>
          <a:p>
            <a:pPr indent="0" marL="0">
              <a:buNone/>
            </a:pPr>
            <a:r>
              <a:rPr lang="en-US" sz="1250" dirty="0">
                <a:solidFill>
                  <a:srgbClr val="97A3B2"/>
                </a:solidFill>
                <a:latin typeface="Calibri" pitchFamily="34" charset="0"/>
                <a:ea typeface="Calibri" pitchFamily="34" charset="-122"/>
                <a:cs typeface="Calibri" pitchFamily="34" charset="-120"/>
              </a:rPr>
              <a:t>No se domestica con el prompt perfecto. Se lo rodea de bordes deterministas: entrada estable, salida verificable.</a:t>
            </a:r>
            <a:endParaRPr lang="en-US" sz="1250" dirty="0"/>
          </a:p>
        </p:txBody>
      </p:sp>
      <p:sp>
        <p:nvSpPr>
          <p:cNvPr id="20" name="Shape 18"/>
          <p:cNvSpPr/>
          <p:nvPr/>
        </p:nvSpPr>
        <p:spPr>
          <a:xfrm>
            <a:off x="777240" y="4471416"/>
            <a:ext cx="10637215" cy="868680"/>
          </a:xfrm>
          <a:prstGeom prst="roundRect">
            <a:avLst>
              <a:gd name="adj" fmla="val 10526"/>
            </a:avLst>
          </a:prstGeom>
          <a:solidFill>
            <a:srgbClr val="1A212B"/>
          </a:solidFill>
          <a:ln w="12700">
            <a:solidFill>
              <a:srgbClr val="2E3A48"/>
            </a:solidFill>
            <a:prstDash val="solid"/>
          </a:ln>
        </p:spPr>
      </p:sp>
      <p:sp>
        <p:nvSpPr>
          <p:cNvPr id="21" name="Shape 19"/>
          <p:cNvSpPr/>
          <p:nvPr/>
        </p:nvSpPr>
        <p:spPr>
          <a:xfrm>
            <a:off x="1097280" y="4718304"/>
            <a:ext cx="384048" cy="384048"/>
          </a:xfrm>
          <a:prstGeom prst="ellipse">
            <a:avLst/>
          </a:prstGeom>
          <a:solidFill>
            <a:srgbClr val="4FD1C5"/>
          </a:solidFill>
          <a:ln w="12700">
            <a:solidFill>
              <a:srgbClr val="4FD1C5"/>
            </a:solidFill>
            <a:prstDash val="solid"/>
          </a:ln>
        </p:spPr>
      </p:sp>
      <p:sp>
        <p:nvSpPr>
          <p:cNvPr id="22" name="Text 20"/>
          <p:cNvSpPr txBox="1"/>
          <p:nvPr/>
        </p:nvSpPr>
        <p:spPr>
          <a:xfrm>
            <a:off x="1097280" y="4718304"/>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4</a:t>
            </a:r>
            <a:endParaRPr lang="en-US" sz="1400" dirty="0"/>
          </a:p>
        </p:txBody>
      </p:sp>
      <p:sp>
        <p:nvSpPr>
          <p:cNvPr id="23" name="Text 21"/>
          <p:cNvSpPr txBox="1"/>
          <p:nvPr/>
        </p:nvSpPr>
        <p:spPr>
          <a:xfrm>
            <a:off x="1737360" y="4599432"/>
            <a:ext cx="9601200" cy="292608"/>
          </a:xfrm>
          <a:prstGeom prst="rect">
            <a:avLst/>
          </a:prstGeom>
          <a:noFill/>
          <a:ln/>
        </p:spPr>
        <p:txBody>
          <a:bodyPr wrap="square" lIns="0" tIns="0" rIns="0" bIns="0" rtlCol="0" anchor="ctr"/>
          <a:lstStyle/>
          <a:p>
            <a:pPr indent="0" marL="0">
              <a:buNone/>
            </a:pPr>
            <a:r>
              <a:rPr lang="en-US" sz="1550" b="1" dirty="0">
                <a:solidFill>
                  <a:srgbClr val="E9EDF2"/>
                </a:solidFill>
                <a:latin typeface="Arial" pitchFamily="34" charset="0"/>
                <a:ea typeface="Arial" pitchFamily="34" charset="-122"/>
                <a:cs typeface="Arial" pitchFamily="34" charset="-120"/>
              </a:rPr>
              <a:t>TDD define el comportamiento de una unidad</a:t>
            </a:r>
            <a:endParaRPr lang="en-US" sz="1550" dirty="0"/>
          </a:p>
        </p:txBody>
      </p:sp>
      <p:sp>
        <p:nvSpPr>
          <p:cNvPr id="24" name="Text 22"/>
          <p:cNvSpPr txBox="1"/>
          <p:nvPr/>
        </p:nvSpPr>
        <p:spPr>
          <a:xfrm>
            <a:off x="1737360" y="4910328"/>
            <a:ext cx="9601200" cy="329184"/>
          </a:xfrm>
          <a:prstGeom prst="rect">
            <a:avLst/>
          </a:prstGeom>
          <a:noFill/>
          <a:ln/>
        </p:spPr>
        <p:txBody>
          <a:bodyPr wrap="square" lIns="0" tIns="0" rIns="0" bIns="0" rtlCol="0" anchor="t"/>
          <a:lstStyle/>
          <a:p>
            <a:pPr indent="0" marL="0">
              <a:buNone/>
            </a:pPr>
            <a:r>
              <a:rPr lang="en-US" sz="1250" dirty="0">
                <a:solidFill>
                  <a:srgbClr val="97A3B2"/>
                </a:solidFill>
                <a:latin typeface="Calibri" pitchFamily="34" charset="0"/>
                <a:ea typeface="Calibri" pitchFamily="34" charset="-122"/>
                <a:cs typeface="Calibri" pitchFamily="34" charset="-120"/>
              </a:rPr>
              <a:t>El test como especificación ejecutable. Pone el borde determinista en la salida.</a:t>
            </a:r>
            <a:endParaRPr lang="en-US" sz="1250" dirty="0"/>
          </a:p>
        </p:txBody>
      </p:sp>
      <p:sp>
        <p:nvSpPr>
          <p:cNvPr id="25" name="Shape 23"/>
          <p:cNvSpPr/>
          <p:nvPr/>
        </p:nvSpPr>
        <p:spPr>
          <a:xfrm>
            <a:off x="777240" y="5413248"/>
            <a:ext cx="10637215" cy="868680"/>
          </a:xfrm>
          <a:prstGeom prst="roundRect">
            <a:avLst>
              <a:gd name="adj" fmla="val 10526"/>
            </a:avLst>
          </a:prstGeom>
          <a:solidFill>
            <a:srgbClr val="1A212B"/>
          </a:solidFill>
          <a:ln w="12700">
            <a:solidFill>
              <a:srgbClr val="2E3A48"/>
            </a:solidFill>
            <a:prstDash val="solid"/>
          </a:ln>
        </p:spPr>
      </p:sp>
      <p:sp>
        <p:nvSpPr>
          <p:cNvPr id="26" name="Shape 24"/>
          <p:cNvSpPr/>
          <p:nvPr/>
        </p:nvSpPr>
        <p:spPr>
          <a:xfrm>
            <a:off x="1097280" y="5660136"/>
            <a:ext cx="384048" cy="384048"/>
          </a:xfrm>
          <a:prstGeom prst="ellipse">
            <a:avLst/>
          </a:prstGeom>
          <a:solidFill>
            <a:srgbClr val="4FD1C5"/>
          </a:solidFill>
          <a:ln w="12700">
            <a:solidFill>
              <a:srgbClr val="4FD1C5"/>
            </a:solidFill>
            <a:prstDash val="solid"/>
          </a:ln>
        </p:spPr>
      </p:sp>
      <p:sp>
        <p:nvSpPr>
          <p:cNvPr id="27" name="Text 25"/>
          <p:cNvSpPr txBox="1"/>
          <p:nvPr/>
        </p:nvSpPr>
        <p:spPr>
          <a:xfrm>
            <a:off x="1097280" y="5660136"/>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5</a:t>
            </a:r>
            <a:endParaRPr lang="en-US" sz="1400" dirty="0"/>
          </a:p>
        </p:txBody>
      </p:sp>
      <p:sp>
        <p:nvSpPr>
          <p:cNvPr id="28" name="Text 26"/>
          <p:cNvSpPr txBox="1"/>
          <p:nvPr/>
        </p:nvSpPr>
        <p:spPr>
          <a:xfrm>
            <a:off x="1737360" y="5541264"/>
            <a:ext cx="9601200" cy="292608"/>
          </a:xfrm>
          <a:prstGeom prst="rect">
            <a:avLst/>
          </a:prstGeom>
          <a:noFill/>
          <a:ln/>
        </p:spPr>
        <p:txBody>
          <a:bodyPr wrap="square" lIns="0" tIns="0" rIns="0" bIns="0" rtlCol="0" anchor="ctr"/>
          <a:lstStyle/>
          <a:p>
            <a:pPr indent="0" marL="0">
              <a:buNone/>
            </a:pPr>
            <a:r>
              <a:rPr lang="en-US" sz="1550" b="1" dirty="0">
                <a:solidFill>
                  <a:srgbClr val="E9EDF2"/>
                </a:solidFill>
                <a:latin typeface="Arial" pitchFamily="34" charset="0"/>
                <a:ea typeface="Arial" pitchFamily="34" charset="-122"/>
                <a:cs typeface="Arial" pitchFamily="34" charset="-120"/>
              </a:rPr>
              <a:t>SDD es la principal palanca contra el no determinismo</a:t>
            </a:r>
            <a:endParaRPr lang="en-US" sz="1550" dirty="0"/>
          </a:p>
        </p:txBody>
      </p:sp>
      <p:sp>
        <p:nvSpPr>
          <p:cNvPr id="29" name="Text 27"/>
          <p:cNvSpPr txBox="1"/>
          <p:nvPr/>
        </p:nvSpPr>
        <p:spPr>
          <a:xfrm>
            <a:off x="1737360" y="5852160"/>
            <a:ext cx="9601200" cy="329184"/>
          </a:xfrm>
          <a:prstGeom prst="rect">
            <a:avLst/>
          </a:prstGeom>
          <a:noFill/>
          <a:ln/>
        </p:spPr>
        <p:txBody>
          <a:bodyPr wrap="square" lIns="0" tIns="0" rIns="0" bIns="0" rtlCol="0" anchor="t"/>
          <a:lstStyle/>
          <a:p>
            <a:pPr indent="0" marL="0">
              <a:buNone/>
            </a:pPr>
            <a:r>
              <a:rPr lang="en-US" sz="1250" dirty="0">
                <a:solidFill>
                  <a:srgbClr val="97A3B2"/>
                </a:solidFill>
                <a:latin typeface="Calibri" pitchFamily="34" charset="0"/>
                <a:ea typeface="Calibri" pitchFamily="34" charset="-122"/>
                <a:cs typeface="Calibri" pitchFamily="34" charset="-120"/>
              </a:rPr>
              <a:t>Fija la entrada del agente. Vale para lo grande, estorba en lo chico.</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A22"/>
        </a:solidFill>
      </p:bgPr>
    </p:bg>
    <p:spTree>
      <p:nvGrpSpPr>
        <p:cNvPr id="1" name=""/>
        <p:cNvGrpSpPr/>
        <p:nvPr/>
      </p:nvGrpSpPr>
      <p:grpSpPr>
        <a:xfrm>
          <a:off x="0" y="0"/>
          <a:ext cx="0" cy="0"/>
          <a:chOff x="0" y="0"/>
          <a:chExt cx="0" cy="0"/>
        </a:xfrm>
      </p:grpSpPr>
      <p:sp>
        <p:nvSpPr>
          <p:cNvPr id="2" name="Shape 0"/>
          <p:cNvSpPr/>
          <p:nvPr/>
        </p:nvSpPr>
        <p:spPr>
          <a:xfrm>
            <a:off x="-2011680" y="4206240"/>
            <a:ext cx="5669280" cy="5669280"/>
          </a:xfrm>
          <a:prstGeom prst="ellipse">
            <a:avLst/>
          </a:prstGeom>
          <a:solidFill>
            <a:srgbClr val="E8734A">
              <a:alpha val="9000"/>
            </a:srgbClr>
          </a:solidFill>
          <a:ln/>
        </p:spPr>
      </p:sp>
      <p:sp>
        <p:nvSpPr>
          <p:cNvPr id="3" name="Text 1"/>
          <p:cNvSpPr txBox="1"/>
          <p:nvPr/>
        </p:nvSpPr>
        <p:spPr>
          <a:xfrm>
            <a:off x="777240" y="384048"/>
            <a:ext cx="10637215" cy="256032"/>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CIERRE</a:t>
            </a:r>
            <a:endParaRPr lang="en-US" sz="1200" dirty="0"/>
          </a:p>
        </p:txBody>
      </p:sp>
      <p:sp>
        <p:nvSpPr>
          <p:cNvPr id="4" name="Text 2"/>
          <p:cNvSpPr txBox="1"/>
          <p:nvPr/>
        </p:nvSpPr>
        <p:spPr>
          <a:xfrm>
            <a:off x="777240" y="658368"/>
            <a:ext cx="10637215" cy="685800"/>
          </a:xfrm>
          <a:prstGeom prst="rect">
            <a:avLst/>
          </a:prstGeom>
          <a:noFill/>
          <a:ln/>
        </p:spPr>
        <p:txBody>
          <a:bodyPr wrap="square" lIns="0" tIns="0" rIns="0" bIns="0" rtlCol="0" anchor="ctr"/>
          <a:lstStyle/>
          <a:p>
            <a:pPr indent="0" marL="0">
              <a:buNone/>
            </a:pPr>
            <a:r>
              <a:rPr lang="en-US" sz="3200" b="1" dirty="0">
                <a:solidFill>
                  <a:srgbClr val="E9EDF2"/>
                </a:solidFill>
                <a:latin typeface="Arial" pitchFamily="34" charset="0"/>
                <a:ea typeface="Arial" pitchFamily="34" charset="-122"/>
                <a:cs typeface="Arial" pitchFamily="34" charset="-120"/>
              </a:rPr>
              <a:t>Preguntas y referencias</a:t>
            </a:r>
            <a:endParaRPr lang="en-US" sz="3200" dirty="0"/>
          </a:p>
        </p:txBody>
      </p:sp>
      <p:sp>
        <p:nvSpPr>
          <p:cNvPr id="5" name="Shape 3"/>
          <p:cNvSpPr/>
          <p:nvPr/>
        </p:nvSpPr>
        <p:spPr>
          <a:xfrm>
            <a:off x="777240" y="1737360"/>
            <a:ext cx="3703320" cy="4434840"/>
          </a:xfrm>
          <a:prstGeom prst="roundRect">
            <a:avLst>
              <a:gd name="adj" fmla="val 2469"/>
            </a:avLst>
          </a:prstGeom>
          <a:solidFill>
            <a:srgbClr val="1A212B"/>
          </a:solidFill>
          <a:ln w="12700">
            <a:solidFill>
              <a:srgbClr val="2E3A48"/>
            </a:solidFill>
            <a:prstDash val="solid"/>
          </a:ln>
        </p:spPr>
      </p:sp>
      <p:sp>
        <p:nvSpPr>
          <p:cNvPr id="6" name="Text 4"/>
          <p:cNvSpPr txBox="1"/>
          <p:nvPr/>
        </p:nvSpPr>
        <p:spPr>
          <a:xfrm>
            <a:off x="1143000" y="2057400"/>
            <a:ext cx="2971800" cy="548640"/>
          </a:xfrm>
          <a:prstGeom prst="rect">
            <a:avLst/>
          </a:prstGeom>
          <a:noFill/>
          <a:ln/>
        </p:spPr>
        <p:txBody>
          <a:bodyPr wrap="square" lIns="0" tIns="0" rIns="0" bIns="0" rtlCol="0" anchor="ctr"/>
          <a:lstStyle/>
          <a:p>
            <a:pPr indent="0" marL="0">
              <a:buNone/>
            </a:pPr>
            <a:r>
              <a:rPr lang="en-US" sz="3000" b="1" dirty="0">
                <a:solidFill>
                  <a:srgbClr val="E8734A"/>
                </a:solidFill>
                <a:latin typeface="Arial" pitchFamily="34" charset="0"/>
                <a:ea typeface="Arial" pitchFamily="34" charset="-122"/>
                <a:cs typeface="Arial" pitchFamily="34" charset="-120"/>
              </a:rPr>
              <a:t>¿Preguntas?</a:t>
            </a:r>
            <a:endParaRPr lang="en-US" sz="3000" dirty="0"/>
          </a:p>
        </p:txBody>
      </p:sp>
      <p:sp>
        <p:nvSpPr>
          <p:cNvPr id="7" name="Text 5"/>
          <p:cNvSpPr txBox="1"/>
          <p:nvPr/>
        </p:nvSpPr>
        <p:spPr>
          <a:xfrm>
            <a:off x="1143000" y="2743200"/>
            <a:ext cx="2971800" cy="274320"/>
          </a:xfrm>
          <a:prstGeom prst="rect">
            <a:avLst/>
          </a:prstGeom>
          <a:noFill/>
          <a:ln/>
        </p:spPr>
        <p:txBody>
          <a:bodyPr wrap="square" lIns="0" tIns="0" rIns="0" bIns="0" rtlCol="0" anchor="ctr"/>
          <a:lstStyle/>
          <a:p>
            <a:pPr indent="0" marL="0">
              <a:buNone/>
            </a:pPr>
            <a:r>
              <a:rPr lang="en-US" sz="1300" b="1" dirty="0">
                <a:solidFill>
                  <a:srgbClr val="E9EDF2"/>
                </a:solidFill>
                <a:latin typeface="Calibri" pitchFamily="34" charset="0"/>
                <a:ea typeface="Calibri" pitchFamily="34" charset="-122"/>
                <a:cs typeface="Calibri" pitchFamily="34" charset="-120"/>
              </a:rPr>
              <a:t>Para arrancar la conversación:</a:t>
            </a:r>
            <a:endParaRPr lang="en-US" sz="1300" dirty="0"/>
          </a:p>
        </p:txBody>
      </p:sp>
      <p:sp>
        <p:nvSpPr>
          <p:cNvPr id="8" name="Shape 6"/>
          <p:cNvSpPr/>
          <p:nvPr/>
        </p:nvSpPr>
        <p:spPr>
          <a:xfrm>
            <a:off x="1161288" y="3182112"/>
            <a:ext cx="146304" cy="146304"/>
          </a:xfrm>
          <a:prstGeom prst="ellipse">
            <a:avLst/>
          </a:prstGeom>
          <a:solidFill>
            <a:srgbClr val="4FD1C5"/>
          </a:solidFill>
          <a:ln w="12700">
            <a:solidFill>
              <a:srgbClr val="4FD1C5"/>
            </a:solidFill>
            <a:prstDash val="solid"/>
          </a:ln>
        </p:spPr>
      </p:sp>
      <p:sp>
        <p:nvSpPr>
          <p:cNvPr id="9" name="Text 7"/>
          <p:cNvSpPr txBox="1"/>
          <p:nvPr/>
        </p:nvSpPr>
        <p:spPr>
          <a:xfrm>
            <a:off x="1435608" y="3127248"/>
            <a:ext cx="2697480" cy="502920"/>
          </a:xfrm>
          <a:prstGeom prst="rect">
            <a:avLst/>
          </a:prstGeom>
          <a:noFill/>
          <a:ln/>
        </p:spPr>
        <p:txBody>
          <a:bodyPr wrap="square" lIns="0" tIns="0" rIns="0" bIns="0" rtlCol="0" anchor="t"/>
          <a:lstStyle/>
          <a:p>
            <a:pPr indent="0" marL="0">
              <a:lnSpc>
                <a:spcPts val="1600"/>
              </a:lnSpc>
              <a:buNone/>
            </a:pPr>
            <a:r>
              <a:rPr lang="en-US" sz="1250" dirty="0">
                <a:solidFill>
                  <a:srgbClr val="97A3B2"/>
                </a:solidFill>
                <a:latin typeface="Calibri" pitchFamily="34" charset="0"/>
                <a:ea typeface="Calibri" pitchFamily="34" charset="-122"/>
                <a:cs typeface="Calibri" pitchFamily="34" charset="-120"/>
              </a:rPr>
              <a:t>¿Dónde probamos SDD primero?</a:t>
            </a:r>
            <a:endParaRPr lang="en-US" sz="1250" dirty="0"/>
          </a:p>
        </p:txBody>
      </p:sp>
      <p:sp>
        <p:nvSpPr>
          <p:cNvPr id="10" name="Shape 8"/>
          <p:cNvSpPr/>
          <p:nvPr/>
        </p:nvSpPr>
        <p:spPr>
          <a:xfrm>
            <a:off x="1161288" y="3867912"/>
            <a:ext cx="146304" cy="146304"/>
          </a:xfrm>
          <a:prstGeom prst="ellipse">
            <a:avLst/>
          </a:prstGeom>
          <a:solidFill>
            <a:srgbClr val="4FD1C5"/>
          </a:solidFill>
          <a:ln w="12700">
            <a:solidFill>
              <a:srgbClr val="4FD1C5"/>
            </a:solidFill>
            <a:prstDash val="solid"/>
          </a:ln>
        </p:spPr>
      </p:sp>
      <p:sp>
        <p:nvSpPr>
          <p:cNvPr id="11" name="Text 9"/>
          <p:cNvSpPr txBox="1"/>
          <p:nvPr/>
        </p:nvSpPr>
        <p:spPr>
          <a:xfrm>
            <a:off x="1435608" y="3813048"/>
            <a:ext cx="2697480" cy="502920"/>
          </a:xfrm>
          <a:prstGeom prst="rect">
            <a:avLst/>
          </a:prstGeom>
          <a:noFill/>
          <a:ln/>
        </p:spPr>
        <p:txBody>
          <a:bodyPr wrap="square" lIns="0" tIns="0" rIns="0" bIns="0" rtlCol="0" anchor="t"/>
          <a:lstStyle/>
          <a:p>
            <a:pPr indent="0" marL="0">
              <a:lnSpc>
                <a:spcPts val="1600"/>
              </a:lnSpc>
              <a:buNone/>
            </a:pPr>
            <a:r>
              <a:rPr lang="en-US" sz="1250" dirty="0">
                <a:solidFill>
                  <a:srgbClr val="97A3B2"/>
                </a:solidFill>
                <a:latin typeface="Calibri" pitchFamily="34" charset="0"/>
                <a:ea typeface="Calibri" pitchFamily="34" charset="-122"/>
                <a:cs typeface="Calibri" pitchFamily="34" charset="-120"/>
              </a:rPr>
              <a:t>¿Qué dejamos en el CLAUDE.md y qué pasa a ser una skill?</a:t>
            </a:r>
            <a:endParaRPr lang="en-US" sz="1250" dirty="0"/>
          </a:p>
        </p:txBody>
      </p:sp>
      <p:sp>
        <p:nvSpPr>
          <p:cNvPr id="12" name="Shape 10"/>
          <p:cNvSpPr/>
          <p:nvPr/>
        </p:nvSpPr>
        <p:spPr>
          <a:xfrm>
            <a:off x="1161288" y="4553712"/>
            <a:ext cx="146304" cy="146304"/>
          </a:xfrm>
          <a:prstGeom prst="ellipse">
            <a:avLst/>
          </a:prstGeom>
          <a:solidFill>
            <a:srgbClr val="4FD1C5"/>
          </a:solidFill>
          <a:ln w="12700">
            <a:solidFill>
              <a:srgbClr val="4FD1C5"/>
            </a:solidFill>
            <a:prstDash val="solid"/>
          </a:ln>
        </p:spPr>
      </p:sp>
      <p:sp>
        <p:nvSpPr>
          <p:cNvPr id="13" name="Text 11"/>
          <p:cNvSpPr txBox="1"/>
          <p:nvPr/>
        </p:nvSpPr>
        <p:spPr>
          <a:xfrm>
            <a:off x="1435608" y="4498848"/>
            <a:ext cx="2697480" cy="502920"/>
          </a:xfrm>
          <a:prstGeom prst="rect">
            <a:avLst/>
          </a:prstGeom>
          <a:noFill/>
          <a:ln/>
        </p:spPr>
        <p:txBody>
          <a:bodyPr wrap="square" lIns="0" tIns="0" rIns="0" bIns="0" rtlCol="0" anchor="t"/>
          <a:lstStyle/>
          <a:p>
            <a:pPr indent="0" marL="0">
              <a:lnSpc>
                <a:spcPts val="1600"/>
              </a:lnSpc>
              <a:buNone/>
            </a:pPr>
            <a:r>
              <a:rPr lang="en-US" sz="1250" dirty="0">
                <a:solidFill>
                  <a:srgbClr val="97A3B2"/>
                </a:solidFill>
                <a:latin typeface="Calibri" pitchFamily="34" charset="0"/>
                <a:ea typeface="Calibri" pitchFamily="34" charset="-122"/>
                <a:cs typeface="Calibri" pitchFamily="34" charset="-120"/>
              </a:rPr>
              <a:t>¿Cuál es la primera skill del equipo?</a:t>
            </a:r>
            <a:endParaRPr lang="en-US" sz="1250" dirty="0"/>
          </a:p>
        </p:txBody>
      </p:sp>
      <p:sp>
        <p:nvSpPr>
          <p:cNvPr id="14" name="Shape 12"/>
          <p:cNvSpPr/>
          <p:nvPr/>
        </p:nvSpPr>
        <p:spPr>
          <a:xfrm>
            <a:off x="1161288" y="5239512"/>
            <a:ext cx="146304" cy="146304"/>
          </a:xfrm>
          <a:prstGeom prst="ellipse">
            <a:avLst/>
          </a:prstGeom>
          <a:solidFill>
            <a:srgbClr val="4FD1C5"/>
          </a:solidFill>
          <a:ln w="12700">
            <a:solidFill>
              <a:srgbClr val="4FD1C5"/>
            </a:solidFill>
            <a:prstDash val="solid"/>
          </a:ln>
        </p:spPr>
      </p:sp>
      <p:sp>
        <p:nvSpPr>
          <p:cNvPr id="15" name="Text 13"/>
          <p:cNvSpPr txBox="1"/>
          <p:nvPr/>
        </p:nvSpPr>
        <p:spPr>
          <a:xfrm>
            <a:off x="1435608" y="5184648"/>
            <a:ext cx="2697480" cy="502920"/>
          </a:xfrm>
          <a:prstGeom prst="rect">
            <a:avLst/>
          </a:prstGeom>
          <a:noFill/>
          <a:ln/>
        </p:spPr>
        <p:txBody>
          <a:bodyPr wrap="square" lIns="0" tIns="0" rIns="0" bIns="0" rtlCol="0" anchor="t"/>
          <a:lstStyle/>
          <a:p>
            <a:pPr indent="0" marL="0">
              <a:lnSpc>
                <a:spcPts val="1600"/>
              </a:lnSpc>
              <a:buNone/>
            </a:pPr>
            <a:r>
              <a:rPr lang="en-US" sz="1250" dirty="0">
                <a:solidFill>
                  <a:srgbClr val="97A3B2"/>
                </a:solidFill>
                <a:latin typeface="Calibri" pitchFamily="34" charset="0"/>
                <a:ea typeface="Calibri" pitchFamily="34" charset="-122"/>
                <a:cs typeface="Calibri" pitchFamily="34" charset="-120"/>
              </a:rPr>
              <a:t>¿Versionamos las specs en el repo?</a:t>
            </a:r>
            <a:endParaRPr lang="en-US" sz="1250" dirty="0"/>
          </a:p>
        </p:txBody>
      </p:sp>
      <p:sp>
        <p:nvSpPr>
          <p:cNvPr id="16" name="Shape 14"/>
          <p:cNvSpPr/>
          <p:nvPr/>
        </p:nvSpPr>
        <p:spPr>
          <a:xfrm>
            <a:off x="4800600" y="1737360"/>
            <a:ext cx="6613855" cy="4434840"/>
          </a:xfrm>
          <a:prstGeom prst="roundRect">
            <a:avLst>
              <a:gd name="adj" fmla="val 2062"/>
            </a:avLst>
          </a:prstGeom>
          <a:solidFill>
            <a:srgbClr val="1A212B"/>
          </a:solidFill>
          <a:ln w="12700">
            <a:solidFill>
              <a:srgbClr val="2E3A48"/>
            </a:solidFill>
            <a:prstDash val="solid"/>
          </a:ln>
        </p:spPr>
      </p:sp>
      <p:sp>
        <p:nvSpPr>
          <p:cNvPr id="17" name="Text 15"/>
          <p:cNvSpPr txBox="1"/>
          <p:nvPr/>
        </p:nvSpPr>
        <p:spPr>
          <a:xfrm>
            <a:off x="5166360" y="1993392"/>
            <a:ext cx="5882335" cy="274320"/>
          </a:xfrm>
          <a:prstGeom prst="rect">
            <a:avLst/>
          </a:prstGeom>
          <a:noFill/>
          <a:ln/>
        </p:spPr>
        <p:txBody>
          <a:bodyPr wrap="square" lIns="0" tIns="0" rIns="0" bIns="0" rtlCol="0" anchor="ctr"/>
          <a:lstStyle/>
          <a:p>
            <a:pPr indent="0" marL="0">
              <a:buNone/>
            </a:pPr>
            <a:r>
              <a:rPr lang="en-US" sz="1200" b="1" spc="200" kern="0" dirty="0">
                <a:solidFill>
                  <a:srgbClr val="4FD1C5"/>
                </a:solidFill>
                <a:latin typeface="Calibri" pitchFamily="34" charset="0"/>
                <a:ea typeface="Calibri" pitchFamily="34" charset="-122"/>
                <a:cs typeface="Calibri" pitchFamily="34" charset="-120"/>
              </a:rPr>
              <a:t>REFERENCIAS</a:t>
            </a:r>
            <a:endParaRPr lang="en-US" sz="1200" dirty="0"/>
          </a:p>
        </p:txBody>
      </p:sp>
      <p:sp>
        <p:nvSpPr>
          <p:cNvPr id="18" name="Shape 16"/>
          <p:cNvSpPr/>
          <p:nvPr/>
        </p:nvSpPr>
        <p:spPr>
          <a:xfrm>
            <a:off x="5166360" y="2368296"/>
            <a:ext cx="384048" cy="384048"/>
          </a:xfrm>
          <a:prstGeom prst="ellipse">
            <a:avLst/>
          </a:prstGeom>
          <a:solidFill>
            <a:srgbClr val="E8734A"/>
          </a:solidFill>
          <a:ln w="12700">
            <a:solidFill>
              <a:srgbClr val="E8734A"/>
            </a:solidFill>
            <a:prstDash val="solid"/>
          </a:ln>
        </p:spPr>
      </p:sp>
      <p:sp>
        <p:nvSpPr>
          <p:cNvPr id="19" name="Text 17"/>
          <p:cNvSpPr txBox="1"/>
          <p:nvPr/>
        </p:nvSpPr>
        <p:spPr>
          <a:xfrm>
            <a:off x="5166360" y="2368296"/>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1</a:t>
            </a:r>
            <a:endParaRPr lang="en-US" sz="1400" dirty="0"/>
          </a:p>
        </p:txBody>
      </p:sp>
      <p:sp>
        <p:nvSpPr>
          <p:cNvPr id="20" name="Text 18"/>
          <p:cNvSpPr txBox="1"/>
          <p:nvPr/>
        </p:nvSpPr>
        <p:spPr>
          <a:xfrm>
            <a:off x="5715000" y="2331720"/>
            <a:ext cx="5333695" cy="274320"/>
          </a:xfrm>
          <a:prstGeom prst="rect">
            <a:avLst/>
          </a:prstGeom>
          <a:noFill/>
          <a:ln/>
        </p:spPr>
        <p:txBody>
          <a:bodyPr wrap="square" lIns="0" tIns="0" rIns="0" bIns="0" rtlCol="0" anchor="t"/>
          <a:lstStyle/>
          <a:p>
            <a:pPr indent="0" marL="0">
              <a:buNone/>
            </a:pPr>
            <a:r>
              <a:rPr lang="en-US" sz="1350" b="1" dirty="0">
                <a:solidFill>
                  <a:srgbClr val="E9EDF2"/>
                </a:solidFill>
                <a:latin typeface="Arial" pitchFamily="34" charset="0"/>
                <a:ea typeface="Arial" pitchFamily="34" charset="-122"/>
                <a:cs typeface="Arial" pitchFamily="34" charset="-120"/>
              </a:rPr>
              <a:t>AI Engineering</a:t>
            </a:r>
            <a:endParaRPr lang="en-US" sz="1350" dirty="0"/>
          </a:p>
        </p:txBody>
      </p:sp>
      <p:sp>
        <p:nvSpPr>
          <p:cNvPr id="21" name="Text 19"/>
          <p:cNvSpPr txBox="1"/>
          <p:nvPr/>
        </p:nvSpPr>
        <p:spPr>
          <a:xfrm>
            <a:off x="5715000" y="2606040"/>
            <a:ext cx="5333695" cy="237744"/>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Chip Huyen · O’Reilly</a:t>
            </a:r>
            <a:endParaRPr lang="en-US" sz="1200" dirty="0"/>
          </a:p>
        </p:txBody>
      </p:sp>
      <p:sp>
        <p:nvSpPr>
          <p:cNvPr id="22" name="Text 20">
            <a:hlinkClick r:id="rId1" tooltip=""/>
          </p:cNvPr>
          <p:cNvSpPr txBox="1"/>
          <p:nvPr/>
        </p:nvSpPr>
        <p:spPr>
          <a:xfrm>
            <a:off x="5715000" y="2843784"/>
            <a:ext cx="5333695" cy="237744"/>
          </a:xfrm>
          <a:prstGeom prst="rect">
            <a:avLst/>
          </a:prstGeom>
          <a:noFill/>
          <a:ln/>
        </p:spPr>
        <p:txBody>
          <a:bodyPr wrap="square" lIns="0" tIns="0" rIns="0" bIns="0" rtlCol="0" anchor="t"/>
          <a:lstStyle/>
          <a:p>
            <a:pPr indent="0" marL="0">
              <a:buNone/>
            </a:pPr>
            <a:r>
              <a:rPr lang="en-US" sz="950" u="sng" dirty="0">
                <a:solidFill>
                  <a:srgbClr val="4FD1C5"/>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oreilly.com/library/view/ai-engineering/9781098166298/</a:t>
            </a:r>
            <a:endParaRPr lang="en-US" sz="950" dirty="0"/>
          </a:p>
        </p:txBody>
      </p:sp>
      <p:sp>
        <p:nvSpPr>
          <p:cNvPr id="23" name="Shape 21"/>
          <p:cNvSpPr/>
          <p:nvPr/>
        </p:nvSpPr>
        <p:spPr>
          <a:xfrm>
            <a:off x="5166360" y="3209544"/>
            <a:ext cx="384048" cy="384048"/>
          </a:xfrm>
          <a:prstGeom prst="ellipse">
            <a:avLst/>
          </a:prstGeom>
          <a:solidFill>
            <a:srgbClr val="4FD1C5"/>
          </a:solidFill>
          <a:ln w="12700">
            <a:solidFill>
              <a:srgbClr val="4FD1C5"/>
            </a:solidFill>
            <a:prstDash val="solid"/>
          </a:ln>
        </p:spPr>
      </p:sp>
      <p:sp>
        <p:nvSpPr>
          <p:cNvPr id="24" name="Text 22"/>
          <p:cNvSpPr txBox="1"/>
          <p:nvPr/>
        </p:nvSpPr>
        <p:spPr>
          <a:xfrm>
            <a:off x="5166360" y="3209544"/>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2</a:t>
            </a:r>
            <a:endParaRPr lang="en-US" sz="1400" dirty="0"/>
          </a:p>
        </p:txBody>
      </p:sp>
      <p:sp>
        <p:nvSpPr>
          <p:cNvPr id="25" name="Text 23"/>
          <p:cNvSpPr txBox="1"/>
          <p:nvPr/>
        </p:nvSpPr>
        <p:spPr>
          <a:xfrm>
            <a:off x="5715000" y="3172968"/>
            <a:ext cx="5333695" cy="274320"/>
          </a:xfrm>
          <a:prstGeom prst="rect">
            <a:avLst/>
          </a:prstGeom>
          <a:noFill/>
          <a:ln/>
        </p:spPr>
        <p:txBody>
          <a:bodyPr wrap="square" lIns="0" tIns="0" rIns="0" bIns="0" rtlCol="0" anchor="t"/>
          <a:lstStyle/>
          <a:p>
            <a:pPr indent="0" marL="0">
              <a:buNone/>
            </a:pPr>
            <a:r>
              <a:rPr lang="en-US" sz="1350" b="1" dirty="0">
                <a:solidFill>
                  <a:srgbClr val="E9EDF2"/>
                </a:solidFill>
                <a:latin typeface="Arial" pitchFamily="34" charset="0"/>
                <a:ea typeface="Arial" pitchFamily="34" charset="-122"/>
                <a:cs typeface="Arial" pitchFamily="34" charset="-120"/>
              </a:rPr>
              <a:t>Context Rot</a:t>
            </a:r>
            <a:endParaRPr lang="en-US" sz="1350" dirty="0"/>
          </a:p>
        </p:txBody>
      </p:sp>
      <p:sp>
        <p:nvSpPr>
          <p:cNvPr id="26" name="Text 24"/>
          <p:cNvSpPr txBox="1"/>
          <p:nvPr/>
        </p:nvSpPr>
        <p:spPr>
          <a:xfrm>
            <a:off x="5715000" y="3447288"/>
            <a:ext cx="5333695" cy="237744"/>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Chroma · informe técnico, julio 2025</a:t>
            </a:r>
            <a:endParaRPr lang="en-US" sz="1200" dirty="0"/>
          </a:p>
        </p:txBody>
      </p:sp>
      <p:sp>
        <p:nvSpPr>
          <p:cNvPr id="27" name="Text 25">
            <a:hlinkClick r:id="rId2" tooltip=""/>
          </p:cNvPr>
          <p:cNvSpPr txBox="1"/>
          <p:nvPr/>
        </p:nvSpPr>
        <p:spPr>
          <a:xfrm>
            <a:off x="5715000" y="3685032"/>
            <a:ext cx="5333695" cy="237744"/>
          </a:xfrm>
          <a:prstGeom prst="rect">
            <a:avLst/>
          </a:prstGeom>
          <a:noFill/>
          <a:ln/>
        </p:spPr>
        <p:txBody>
          <a:bodyPr wrap="square" lIns="0" tIns="0" rIns="0" bIns="0" rtlCol="0" anchor="t"/>
          <a:lstStyle/>
          <a:p>
            <a:pPr indent="0" marL="0">
              <a:buNone/>
            </a:pPr>
            <a:r>
              <a:rPr lang="en-US" sz="950" u="sng" dirty="0">
                <a:solidFill>
                  <a:srgbClr val="4FD1C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trychroma.com/research/context-rot</a:t>
            </a:r>
            <a:endParaRPr lang="en-US" sz="950" dirty="0"/>
          </a:p>
        </p:txBody>
      </p:sp>
      <p:sp>
        <p:nvSpPr>
          <p:cNvPr id="28" name="Shape 26"/>
          <p:cNvSpPr/>
          <p:nvPr/>
        </p:nvSpPr>
        <p:spPr>
          <a:xfrm>
            <a:off x="5166360" y="4050792"/>
            <a:ext cx="384048" cy="384048"/>
          </a:xfrm>
          <a:prstGeom prst="ellipse">
            <a:avLst/>
          </a:prstGeom>
          <a:solidFill>
            <a:srgbClr val="4FD1C5"/>
          </a:solidFill>
          <a:ln w="12700">
            <a:solidFill>
              <a:srgbClr val="4FD1C5"/>
            </a:solidFill>
            <a:prstDash val="solid"/>
          </a:ln>
        </p:spPr>
      </p:sp>
      <p:sp>
        <p:nvSpPr>
          <p:cNvPr id="29" name="Text 27"/>
          <p:cNvSpPr txBox="1"/>
          <p:nvPr/>
        </p:nvSpPr>
        <p:spPr>
          <a:xfrm>
            <a:off x="5166360" y="4050792"/>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3</a:t>
            </a:r>
            <a:endParaRPr lang="en-US" sz="1400" dirty="0"/>
          </a:p>
        </p:txBody>
      </p:sp>
      <p:sp>
        <p:nvSpPr>
          <p:cNvPr id="30" name="Text 28"/>
          <p:cNvSpPr txBox="1"/>
          <p:nvPr/>
        </p:nvSpPr>
        <p:spPr>
          <a:xfrm>
            <a:off x="5715000" y="4014216"/>
            <a:ext cx="5333695" cy="274320"/>
          </a:xfrm>
          <a:prstGeom prst="rect">
            <a:avLst/>
          </a:prstGeom>
          <a:noFill/>
          <a:ln/>
        </p:spPr>
        <p:txBody>
          <a:bodyPr wrap="square" lIns="0" tIns="0" rIns="0" bIns="0" rtlCol="0" anchor="t"/>
          <a:lstStyle/>
          <a:p>
            <a:pPr indent="0" marL="0">
              <a:buNone/>
            </a:pPr>
            <a:r>
              <a:rPr lang="en-US" sz="1350" b="1" dirty="0">
                <a:solidFill>
                  <a:srgbClr val="E9EDF2"/>
                </a:solidFill>
                <a:latin typeface="Arial" pitchFamily="34" charset="0"/>
                <a:ea typeface="Arial" pitchFamily="34" charset="-122"/>
                <a:cs typeface="Arial" pitchFamily="34" charset="-120"/>
              </a:rPr>
              <a:t>Effective context engineering for AI agents</a:t>
            </a:r>
            <a:endParaRPr lang="en-US" sz="1350" dirty="0"/>
          </a:p>
        </p:txBody>
      </p:sp>
      <p:sp>
        <p:nvSpPr>
          <p:cNvPr id="31" name="Text 29"/>
          <p:cNvSpPr txBox="1"/>
          <p:nvPr/>
        </p:nvSpPr>
        <p:spPr>
          <a:xfrm>
            <a:off x="5715000" y="4288536"/>
            <a:ext cx="5333695" cy="237744"/>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Anthropic Engineering</a:t>
            </a:r>
            <a:endParaRPr lang="en-US" sz="1200" dirty="0"/>
          </a:p>
        </p:txBody>
      </p:sp>
      <p:sp>
        <p:nvSpPr>
          <p:cNvPr id="32" name="Text 30">
            <a:hlinkClick r:id="rId3" tooltip=""/>
          </p:cNvPr>
          <p:cNvSpPr txBox="1"/>
          <p:nvPr/>
        </p:nvSpPr>
        <p:spPr>
          <a:xfrm>
            <a:off x="5715000" y="4526280"/>
            <a:ext cx="5333695" cy="237744"/>
          </a:xfrm>
          <a:prstGeom prst="rect">
            <a:avLst/>
          </a:prstGeom>
          <a:noFill/>
          <a:ln/>
        </p:spPr>
        <p:txBody>
          <a:bodyPr wrap="square" lIns="0" tIns="0" rIns="0" bIns="0" rtlCol="0" anchor="t"/>
          <a:lstStyle/>
          <a:p>
            <a:pPr indent="0" marL="0">
              <a:buNone/>
            </a:pPr>
            <a:r>
              <a:rPr lang="en-US" sz="950" u="sng" dirty="0">
                <a:solidFill>
                  <a:srgbClr val="4FD1C5"/>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anthropic.com/engineering/effective-context-engineering-for-ai-agents</a:t>
            </a:r>
            <a:endParaRPr lang="en-US" sz="950" dirty="0"/>
          </a:p>
        </p:txBody>
      </p:sp>
      <p:sp>
        <p:nvSpPr>
          <p:cNvPr id="33" name="Shape 31"/>
          <p:cNvSpPr/>
          <p:nvPr/>
        </p:nvSpPr>
        <p:spPr>
          <a:xfrm>
            <a:off x="5166360" y="4892040"/>
            <a:ext cx="384048" cy="384048"/>
          </a:xfrm>
          <a:prstGeom prst="ellipse">
            <a:avLst/>
          </a:prstGeom>
          <a:solidFill>
            <a:srgbClr val="4FD1C5"/>
          </a:solidFill>
          <a:ln w="12700">
            <a:solidFill>
              <a:srgbClr val="4FD1C5"/>
            </a:solidFill>
            <a:prstDash val="solid"/>
          </a:ln>
        </p:spPr>
      </p:sp>
      <p:sp>
        <p:nvSpPr>
          <p:cNvPr id="34" name="Text 32"/>
          <p:cNvSpPr txBox="1"/>
          <p:nvPr/>
        </p:nvSpPr>
        <p:spPr>
          <a:xfrm>
            <a:off x="5166360" y="4892040"/>
            <a:ext cx="384048" cy="384048"/>
          </a:xfrm>
          <a:prstGeom prst="rect">
            <a:avLst/>
          </a:prstGeom>
          <a:noFill/>
          <a:ln/>
        </p:spPr>
        <p:txBody>
          <a:bodyPr wrap="square" lIns="0" tIns="0" rIns="0" bIns="0" rtlCol="0" anchor="ctr"/>
          <a:lstStyle/>
          <a:p>
            <a:pPr algn="ctr" indent="0" marL="0">
              <a:buNone/>
            </a:pPr>
            <a:r>
              <a:rPr lang="en-US" sz="1400" b="1" dirty="0">
                <a:solidFill>
                  <a:srgbClr val="10151C"/>
                </a:solidFill>
                <a:latin typeface="Arial" pitchFamily="34" charset="0"/>
                <a:ea typeface="Arial" pitchFamily="34" charset="-122"/>
                <a:cs typeface="Arial" pitchFamily="34" charset="-120"/>
              </a:rPr>
              <a:t>4</a:t>
            </a:r>
            <a:endParaRPr lang="en-US" sz="1400" dirty="0"/>
          </a:p>
        </p:txBody>
      </p:sp>
      <p:sp>
        <p:nvSpPr>
          <p:cNvPr id="35" name="Text 33"/>
          <p:cNvSpPr txBox="1"/>
          <p:nvPr/>
        </p:nvSpPr>
        <p:spPr>
          <a:xfrm>
            <a:off x="5715000" y="4855464"/>
            <a:ext cx="5333695" cy="274320"/>
          </a:xfrm>
          <a:prstGeom prst="rect">
            <a:avLst/>
          </a:prstGeom>
          <a:noFill/>
          <a:ln/>
        </p:spPr>
        <p:txBody>
          <a:bodyPr wrap="square" lIns="0" tIns="0" rIns="0" bIns="0" rtlCol="0" anchor="t"/>
          <a:lstStyle/>
          <a:p>
            <a:pPr indent="0" marL="0">
              <a:buNone/>
            </a:pPr>
            <a:r>
              <a:rPr lang="en-US" sz="1350" b="1" dirty="0">
                <a:solidFill>
                  <a:srgbClr val="E9EDF2"/>
                </a:solidFill>
                <a:latin typeface="Arial" pitchFamily="34" charset="0"/>
                <a:ea typeface="Arial" pitchFamily="34" charset="-122"/>
                <a:cs typeface="Arial" pitchFamily="34" charset="-120"/>
              </a:rPr>
              <a:t>Documentación de Claude Code</a:t>
            </a:r>
            <a:endParaRPr lang="en-US" sz="1350" dirty="0"/>
          </a:p>
        </p:txBody>
      </p:sp>
      <p:sp>
        <p:nvSpPr>
          <p:cNvPr id="36" name="Text 34"/>
          <p:cNvSpPr txBox="1"/>
          <p:nvPr/>
        </p:nvSpPr>
        <p:spPr>
          <a:xfrm>
            <a:off x="5715000" y="5129784"/>
            <a:ext cx="5333695" cy="237744"/>
          </a:xfrm>
          <a:prstGeom prst="rect">
            <a:avLst/>
          </a:prstGeom>
          <a:noFill/>
          <a:ln/>
        </p:spPr>
        <p:txBody>
          <a:bodyPr wrap="square" lIns="0" tIns="0" rIns="0" bIns="0" rtlCol="0" anchor="t"/>
          <a:lstStyle/>
          <a:p>
            <a:pPr indent="0" marL="0">
              <a:buNone/>
            </a:pPr>
            <a:r>
              <a:rPr lang="en-US" sz="1200" dirty="0">
                <a:solidFill>
                  <a:srgbClr val="97A3B2"/>
                </a:solidFill>
                <a:latin typeface="Calibri" pitchFamily="34" charset="0"/>
                <a:ea typeface="Calibri" pitchFamily="34" charset="-122"/>
                <a:cs typeface="Calibri" pitchFamily="34" charset="-120"/>
              </a:rPr>
              <a:t>Comandos, buenas prácticas y Agent Skills</a:t>
            </a:r>
            <a:endParaRPr lang="en-US" sz="1200" dirty="0"/>
          </a:p>
        </p:txBody>
      </p:sp>
      <p:sp>
        <p:nvSpPr>
          <p:cNvPr id="37" name="Text 35">
            <a:hlinkClick r:id="rId4" tooltip=""/>
          </p:cNvPr>
          <p:cNvSpPr txBox="1"/>
          <p:nvPr/>
        </p:nvSpPr>
        <p:spPr>
          <a:xfrm>
            <a:off x="5715000" y="5367528"/>
            <a:ext cx="5333695" cy="237744"/>
          </a:xfrm>
          <a:prstGeom prst="rect">
            <a:avLst/>
          </a:prstGeom>
          <a:noFill/>
          <a:ln/>
        </p:spPr>
        <p:txBody>
          <a:bodyPr wrap="square" lIns="0" tIns="0" rIns="0" bIns="0" rtlCol="0" anchor="t"/>
          <a:lstStyle/>
          <a:p>
            <a:pPr indent="0" marL="0">
              <a:buNone/>
            </a:pPr>
            <a:r>
              <a:rPr lang="en-US" sz="950" u="sng" dirty="0">
                <a:solidFill>
                  <a:srgbClr val="4FD1C5"/>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code.claude.com/docs</a:t>
            </a:r>
            <a:endParaRPr lang="en-US" sz="950" dirty="0"/>
          </a:p>
        </p:txBody>
      </p:sp>
      <p:sp>
        <p:nvSpPr>
          <p:cNvPr id="38" name="Shape 36"/>
          <p:cNvSpPr/>
          <p:nvPr/>
        </p:nvSpPr>
        <p:spPr>
          <a:xfrm>
            <a:off x="5166360" y="5705856"/>
            <a:ext cx="5882335" cy="420624"/>
          </a:xfrm>
          <a:prstGeom prst="roundRect">
            <a:avLst>
              <a:gd name="adj" fmla="val 17391"/>
            </a:avLst>
          </a:prstGeom>
          <a:solidFill>
            <a:srgbClr val="222B37"/>
          </a:solidFill>
          <a:ln w="12700">
            <a:solidFill>
              <a:srgbClr val="2E3A48"/>
            </a:solidFill>
            <a:prstDash val="solid"/>
          </a:ln>
        </p:spPr>
      </p:sp>
      <p:sp>
        <p:nvSpPr>
          <p:cNvPr id="39" name="Text 37"/>
          <p:cNvSpPr txBox="1"/>
          <p:nvPr/>
        </p:nvSpPr>
        <p:spPr>
          <a:xfrm>
            <a:off x="5349240" y="5705856"/>
            <a:ext cx="5516575" cy="420624"/>
          </a:xfrm>
          <a:prstGeom prst="rect">
            <a:avLst/>
          </a:prstGeom>
          <a:noFill/>
          <a:ln/>
        </p:spPr>
        <p:txBody>
          <a:bodyPr wrap="square" lIns="0" tIns="0" rIns="0" bIns="0" rtlCol="0" anchor="ctr"/>
          <a:lstStyle/>
          <a:p>
            <a:pPr indent="0" marL="0">
              <a:buNone/>
            </a:pPr>
            <a:r>
              <a:rPr lang="en-US" sz="1150" dirty="0">
                <a:solidFill>
                  <a:srgbClr val="97A3B2"/>
                </a:solidFill>
                <a:latin typeface="Calibri" pitchFamily="34" charset="0"/>
                <a:ea typeface="Calibri" pitchFamily="34" charset="-122"/>
                <a:cs typeface="Calibri" pitchFamily="34" charset="-120"/>
              </a:rPr>
              <a:t>Lectura recomendada: Test-Driven Development: By Example — Kent Beck.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2026-09-04T17:00:45Z</dcterms:created>
  <dcterms:modified xsi:type="dcterms:W3CDTF">2026-09-04T17:00:45Z</dcterms:modified>
</cp:coreProperties>
</file>