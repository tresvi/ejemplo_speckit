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5610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de la charla: entender qué resuelve SDD, cómo funciona el flujo de Spec Kit y cuándo conviene adoptarlo. No es una demo: es el mapa mental para decidir si lo usamos.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Anclar la charla acá: el cuello de botella dejó de ser la generación de código. Es la especificación y la trazabilidad. Preguntar al equipo si reconocen los tres síntomas.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Aclarar que Spec Kit no reemplaza al agente: lo envuelve. Seguimos usando Claude Code o Copilot; lo que cambia es qué le damos de entrada y qué queda registrado.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encadenamiento es en sí mismo un control: cada fase necesita el artefacto de la anterior, así que no se puede saltear un paso sin quedarse sin input. También existe /taskstoissues para volcar tareas a GitHub Issues.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frecuente: creer que hay que correr constitution en cada feature. No. Se vuelve a ella solo cuando pescamos al agente haciendo algo que no queremos, o cuando una feature expone un principio que no habíamos fijado.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arranque de cero. El paso 0 es irrepetible: la constitución se crea una sola vez y después solo se enmienda. Todo lo de abajo se repite tantas veces como features tenga el proyecto. Los gates en ámbar van dentro de la vuelta, no son fases aparte.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con el circuito 1 es el punto de entrada: la constitución ya existe y solo se toca si esta feature expone un principio que no estaba fijado. Si se enmienda, correr converge sobre lo ya construido, porque la enmienda no reescribe las specs viejas. Con features en paralelo, los conflictos aparecen entre supuestos de dos specs, no en el código: mergear seguido.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caminos están en el quickstart oficial. El orden importa: clarify y checklist van ANTES de plan, porque reducen ambigüedad y validan calidad de requisitos antes de planificar. Analyze va después de tasks y antes de implement, para chequear consistencia entre spec, plan y tareas. Elegir camino por feature, no por proyecto.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constitución entra en contexto en cada comando. Con quince reglas el agente las pondera todas igual y los principios que de verdad importan pierden filo. Arrancar corta (cinco principios) y crecer por violaciones reales.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que más malentendidos genera. Un agente puede decidir que cumple algo que no cumple y seguir. El modelo de extensibilidad (extensions, presets, workflows) es el punto de enganche para enforcement real; hay extensiones de comunidad tipo CI Guard y Architecture Guard.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 honestos acá gana credibilidad. Si presentamos SDD como bueno para todo, el primer fix chico que pase por el flujo completo va a hacer que el equipo lo abandone.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pidiendo una decisión concreta: quién toma la feature piloto y cuándo revisamos los resultados. Sin eso la charla no cambia nada.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la slide proyectada durante las preguntas. Si alguien quiere arrancar solo, el quickstart es el único link que necesita: tiene la instalación y los dos caminos.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B"/>
        </a:solidFill>
        <a:effectLst/>
      </p:bgPr>
    </p:bg>
    <p:spTree>
      <p:nvGrpSpPr>
        <p:cNvPr id="1" name=""/>
        <p:cNvGrpSpPr/>
        <p:nvPr/>
      </p:nvGrpSpPr>
      <p:grpSpPr>
        <a:xfrm>
          <a:off x="0" y="0"/>
          <a:ext cx="0" cy="0"/>
          <a:chOff x="0" y="0"/>
          <a:chExt cx="0" cy="0"/>
        </a:xfrm>
      </p:grpSpPr>
      <p:sp>
        <p:nvSpPr>
          <p:cNvPr id="2" name="Text 0"/>
          <p:cNvSpPr txBox="1"/>
          <p:nvPr/>
        </p:nvSpPr>
        <p:spPr>
          <a:xfrm>
            <a:off x="822960" y="1600200"/>
            <a:ext cx="10515600" cy="274320"/>
          </a:xfrm>
          <a:prstGeom prst="rect">
            <a:avLst/>
          </a:prstGeom>
          <a:noFill/>
          <a:ln/>
        </p:spPr>
        <p:txBody>
          <a:bodyPr wrap="square" lIns="0" tIns="0" rIns="0" bIns="0" rtlCol="0" anchor="ctr"/>
          <a:lstStyle/>
          <a:p>
            <a:pPr marL="0" indent="0">
              <a:buNone/>
            </a:pPr>
            <a:r>
              <a:rPr lang="en-US" sz="1200" b="1" kern="0" spc="300" dirty="0">
                <a:solidFill>
                  <a:srgbClr val="00A896"/>
                </a:solidFill>
                <a:latin typeface="Calibri" pitchFamily="34" charset="0"/>
                <a:ea typeface="Calibri" pitchFamily="34" charset="-122"/>
                <a:cs typeface="Calibri" pitchFamily="34" charset="-120"/>
              </a:rPr>
              <a:t>GUÍA PARA EQUIPOS DE DESARROLLO</a:t>
            </a:r>
            <a:endParaRPr lang="en-US" sz="1200" dirty="0"/>
          </a:p>
        </p:txBody>
      </p:sp>
      <p:sp>
        <p:nvSpPr>
          <p:cNvPr id="3" name="Text 1"/>
          <p:cNvSpPr txBox="1"/>
          <p:nvPr/>
        </p:nvSpPr>
        <p:spPr>
          <a:xfrm>
            <a:off x="822960" y="1965960"/>
            <a:ext cx="10515600" cy="1554480"/>
          </a:xfrm>
          <a:prstGeom prst="rect">
            <a:avLst/>
          </a:prstGeom>
          <a:noFill/>
          <a:ln/>
        </p:spPr>
        <p:txBody>
          <a:bodyPr wrap="square" lIns="0" tIns="0" rIns="0" bIns="0" rtlCol="0" anchor="t"/>
          <a:lstStyle/>
          <a:p>
            <a:pPr marL="0" indent="0">
              <a:lnSpc>
                <a:spcPts val="5000"/>
              </a:lnSpc>
              <a:buNone/>
            </a:pPr>
            <a:r>
              <a:rPr lang="en-US" sz="4400" b="1" dirty="0">
                <a:solidFill>
                  <a:srgbClr val="FFFFFF"/>
                </a:solidFill>
                <a:latin typeface="Calibri" pitchFamily="34" charset="0"/>
                <a:ea typeface="Calibri" pitchFamily="34" charset="-122"/>
                <a:cs typeface="Calibri" pitchFamily="34" charset="-120"/>
              </a:rPr>
              <a:t>Spec-Driven Development</a:t>
            </a:r>
            <a:endParaRPr lang="en-US" sz="4400" dirty="0"/>
          </a:p>
          <a:p>
            <a:pPr marL="0" indent="0">
              <a:lnSpc>
                <a:spcPts val="5000"/>
              </a:lnSpc>
              <a:buNone/>
            </a:pPr>
            <a:r>
              <a:rPr lang="en-US" sz="4400" b="1" dirty="0">
                <a:solidFill>
                  <a:srgbClr val="FFFFFF"/>
                </a:solidFill>
                <a:latin typeface="Calibri" pitchFamily="34" charset="0"/>
                <a:ea typeface="Calibri" pitchFamily="34" charset="-122"/>
                <a:cs typeface="Calibri" pitchFamily="34" charset="-120"/>
              </a:rPr>
              <a:t>con Spec Kit</a:t>
            </a:r>
            <a:endParaRPr lang="en-US" sz="4400" dirty="0"/>
          </a:p>
        </p:txBody>
      </p:sp>
      <p:sp>
        <p:nvSpPr>
          <p:cNvPr id="4" name="Text 2"/>
          <p:cNvSpPr txBox="1"/>
          <p:nvPr/>
        </p:nvSpPr>
        <p:spPr>
          <a:xfrm>
            <a:off x="822960" y="3611880"/>
            <a:ext cx="10515600" cy="365760"/>
          </a:xfrm>
          <a:prstGeom prst="rect">
            <a:avLst/>
          </a:prstGeom>
          <a:noFill/>
          <a:ln/>
        </p:spPr>
        <p:txBody>
          <a:bodyPr wrap="square" lIns="0" tIns="0" rIns="0" bIns="0" rtlCol="0" anchor="ctr"/>
          <a:lstStyle/>
          <a:p>
            <a:pPr marL="0" indent="0">
              <a:buNone/>
            </a:pPr>
            <a:r>
              <a:rPr lang="en-US" sz="1900" dirty="0">
                <a:solidFill>
                  <a:srgbClr val="A9BFC4"/>
                </a:solidFill>
                <a:latin typeface="Calibri" pitchFamily="34" charset="0"/>
                <a:ea typeface="Calibri" pitchFamily="34" charset="-122"/>
                <a:cs typeface="Calibri" pitchFamily="34" charset="-120"/>
              </a:rPr>
              <a:t>De prompts sueltos a especificaciones ejecutables</a:t>
            </a:r>
            <a:endParaRPr lang="en-US" sz="1900" dirty="0"/>
          </a:p>
        </p:txBody>
      </p:sp>
      <p:sp>
        <p:nvSpPr>
          <p:cNvPr id="5" name="Shape 3"/>
          <p:cNvSpPr/>
          <p:nvPr/>
        </p:nvSpPr>
        <p:spPr>
          <a:xfrm>
            <a:off x="822960" y="4983480"/>
            <a:ext cx="1691640" cy="420624"/>
          </a:xfrm>
          <a:prstGeom prst="roundRect">
            <a:avLst>
              <a:gd name="adj" fmla="val 10870"/>
            </a:avLst>
          </a:prstGeom>
          <a:solidFill>
            <a:srgbClr val="1F333D"/>
          </a:solidFill>
          <a:ln/>
        </p:spPr>
        <p:txBody>
          <a:bodyPr/>
          <a:lstStyle/>
          <a:p>
            <a:endParaRPr lang="es-AR"/>
          </a:p>
        </p:txBody>
      </p:sp>
      <p:sp>
        <p:nvSpPr>
          <p:cNvPr id="6" name="Text 4"/>
          <p:cNvSpPr txBox="1"/>
          <p:nvPr/>
        </p:nvSpPr>
        <p:spPr>
          <a:xfrm>
            <a:off x="822960" y="4983480"/>
            <a:ext cx="1691640" cy="420624"/>
          </a:xfrm>
          <a:prstGeom prst="rect">
            <a:avLst/>
          </a:prstGeom>
          <a:noFill/>
          <a:ln/>
        </p:spPr>
        <p:txBody>
          <a:bodyPr wrap="square" lIns="0" tIns="0" rIns="0" bIns="0" rtlCol="0" anchor="ctr"/>
          <a:lstStyle/>
          <a:p>
            <a:pPr marL="0" indent="0" algn="ctr">
              <a:buNone/>
            </a:pPr>
            <a:r>
              <a:rPr lang="en-US" sz="900" dirty="0">
                <a:solidFill>
                  <a:srgbClr val="E08A3C"/>
                </a:solidFill>
                <a:latin typeface="Courier New" pitchFamily="34" charset="0"/>
                <a:ea typeface="Courier New" pitchFamily="34" charset="-122"/>
                <a:cs typeface="Courier New" pitchFamily="34" charset="-120"/>
              </a:rPr>
              <a:t>/speckit-constitution</a:t>
            </a:r>
            <a:endParaRPr lang="en-US" sz="900" dirty="0"/>
          </a:p>
        </p:txBody>
      </p:sp>
      <p:sp>
        <p:nvSpPr>
          <p:cNvPr id="7" name="Shape 5"/>
          <p:cNvSpPr/>
          <p:nvPr/>
        </p:nvSpPr>
        <p:spPr>
          <a:xfrm>
            <a:off x="2697480" y="4983480"/>
            <a:ext cx="1691640" cy="420624"/>
          </a:xfrm>
          <a:prstGeom prst="roundRect">
            <a:avLst>
              <a:gd name="adj" fmla="val 10870"/>
            </a:avLst>
          </a:prstGeom>
          <a:solidFill>
            <a:srgbClr val="1F333D"/>
          </a:solidFill>
          <a:ln/>
        </p:spPr>
        <p:txBody>
          <a:bodyPr/>
          <a:lstStyle/>
          <a:p>
            <a:endParaRPr lang="es-AR"/>
          </a:p>
        </p:txBody>
      </p:sp>
      <p:sp>
        <p:nvSpPr>
          <p:cNvPr id="8" name="Text 6"/>
          <p:cNvSpPr txBox="1"/>
          <p:nvPr/>
        </p:nvSpPr>
        <p:spPr>
          <a:xfrm>
            <a:off x="2697480" y="4983480"/>
            <a:ext cx="1691640" cy="420624"/>
          </a:xfrm>
          <a:prstGeom prst="rect">
            <a:avLst/>
          </a:prstGeom>
          <a:noFill/>
          <a:ln/>
        </p:spPr>
        <p:txBody>
          <a:bodyPr wrap="square" lIns="0" tIns="0" rIns="0" bIns="0" rtlCol="0" anchor="ctr"/>
          <a:lstStyle/>
          <a:p>
            <a:pPr marL="0" indent="0" algn="ctr">
              <a:buNone/>
            </a:pPr>
            <a:r>
              <a:rPr lang="en-US" sz="900" dirty="0">
                <a:solidFill>
                  <a:srgbClr val="00A896"/>
                </a:solidFill>
                <a:latin typeface="Courier New" pitchFamily="34" charset="0"/>
                <a:ea typeface="Courier New" pitchFamily="34" charset="-122"/>
                <a:cs typeface="Courier New" pitchFamily="34" charset="-120"/>
              </a:rPr>
              <a:t>/speckit-specify</a:t>
            </a:r>
            <a:endParaRPr lang="en-US" sz="900" dirty="0"/>
          </a:p>
        </p:txBody>
      </p:sp>
      <p:sp>
        <p:nvSpPr>
          <p:cNvPr id="9" name="Shape 7"/>
          <p:cNvSpPr/>
          <p:nvPr/>
        </p:nvSpPr>
        <p:spPr>
          <a:xfrm>
            <a:off x="4572000" y="4983480"/>
            <a:ext cx="1691640" cy="420624"/>
          </a:xfrm>
          <a:prstGeom prst="roundRect">
            <a:avLst>
              <a:gd name="adj" fmla="val 10870"/>
            </a:avLst>
          </a:prstGeom>
          <a:solidFill>
            <a:srgbClr val="1F333D"/>
          </a:solidFill>
          <a:ln/>
        </p:spPr>
        <p:txBody>
          <a:bodyPr/>
          <a:lstStyle/>
          <a:p>
            <a:endParaRPr lang="es-AR"/>
          </a:p>
        </p:txBody>
      </p:sp>
      <p:sp>
        <p:nvSpPr>
          <p:cNvPr id="10" name="Text 8"/>
          <p:cNvSpPr txBox="1"/>
          <p:nvPr/>
        </p:nvSpPr>
        <p:spPr>
          <a:xfrm>
            <a:off x="4572000" y="4983480"/>
            <a:ext cx="1691640" cy="420624"/>
          </a:xfrm>
          <a:prstGeom prst="rect">
            <a:avLst/>
          </a:prstGeom>
          <a:noFill/>
          <a:ln/>
        </p:spPr>
        <p:txBody>
          <a:bodyPr wrap="square" lIns="0" tIns="0" rIns="0" bIns="0" rtlCol="0" anchor="ctr"/>
          <a:lstStyle/>
          <a:p>
            <a:pPr marL="0" indent="0" algn="ctr">
              <a:buNone/>
            </a:pPr>
            <a:r>
              <a:rPr lang="en-US" sz="900" dirty="0">
                <a:solidFill>
                  <a:srgbClr val="00A896"/>
                </a:solidFill>
                <a:latin typeface="Courier New" pitchFamily="34" charset="0"/>
                <a:ea typeface="Courier New" pitchFamily="34" charset="-122"/>
                <a:cs typeface="Courier New" pitchFamily="34" charset="-120"/>
              </a:rPr>
              <a:t>/speckit-plan</a:t>
            </a:r>
            <a:endParaRPr lang="en-US" sz="900" dirty="0"/>
          </a:p>
        </p:txBody>
      </p:sp>
      <p:sp>
        <p:nvSpPr>
          <p:cNvPr id="11" name="Shape 9"/>
          <p:cNvSpPr/>
          <p:nvPr/>
        </p:nvSpPr>
        <p:spPr>
          <a:xfrm>
            <a:off x="6446520" y="4983480"/>
            <a:ext cx="1691640" cy="420624"/>
          </a:xfrm>
          <a:prstGeom prst="roundRect">
            <a:avLst>
              <a:gd name="adj" fmla="val 10870"/>
            </a:avLst>
          </a:prstGeom>
          <a:solidFill>
            <a:srgbClr val="1F333D"/>
          </a:solidFill>
          <a:ln/>
        </p:spPr>
        <p:txBody>
          <a:bodyPr/>
          <a:lstStyle/>
          <a:p>
            <a:endParaRPr lang="es-AR"/>
          </a:p>
        </p:txBody>
      </p:sp>
      <p:sp>
        <p:nvSpPr>
          <p:cNvPr id="12" name="Text 10"/>
          <p:cNvSpPr txBox="1"/>
          <p:nvPr/>
        </p:nvSpPr>
        <p:spPr>
          <a:xfrm>
            <a:off x="6446520" y="4983480"/>
            <a:ext cx="1691640" cy="420624"/>
          </a:xfrm>
          <a:prstGeom prst="rect">
            <a:avLst/>
          </a:prstGeom>
          <a:noFill/>
          <a:ln/>
        </p:spPr>
        <p:txBody>
          <a:bodyPr wrap="square" lIns="0" tIns="0" rIns="0" bIns="0" rtlCol="0" anchor="ctr"/>
          <a:lstStyle/>
          <a:p>
            <a:pPr marL="0" indent="0" algn="ctr">
              <a:buNone/>
            </a:pPr>
            <a:r>
              <a:rPr lang="en-US" sz="900" dirty="0">
                <a:solidFill>
                  <a:srgbClr val="00A896"/>
                </a:solidFill>
                <a:latin typeface="Courier New" pitchFamily="34" charset="0"/>
                <a:ea typeface="Courier New" pitchFamily="34" charset="-122"/>
                <a:cs typeface="Courier New" pitchFamily="34" charset="-120"/>
              </a:rPr>
              <a:t>/speckit-tasks</a:t>
            </a:r>
            <a:endParaRPr lang="en-US" sz="900" dirty="0"/>
          </a:p>
        </p:txBody>
      </p:sp>
      <p:sp>
        <p:nvSpPr>
          <p:cNvPr id="13" name="Shape 11"/>
          <p:cNvSpPr/>
          <p:nvPr/>
        </p:nvSpPr>
        <p:spPr>
          <a:xfrm>
            <a:off x="8321040" y="4983480"/>
            <a:ext cx="1691640" cy="420624"/>
          </a:xfrm>
          <a:prstGeom prst="roundRect">
            <a:avLst>
              <a:gd name="adj" fmla="val 10870"/>
            </a:avLst>
          </a:prstGeom>
          <a:solidFill>
            <a:srgbClr val="1F333D"/>
          </a:solidFill>
          <a:ln/>
        </p:spPr>
        <p:txBody>
          <a:bodyPr/>
          <a:lstStyle/>
          <a:p>
            <a:endParaRPr lang="es-AR"/>
          </a:p>
        </p:txBody>
      </p:sp>
      <p:sp>
        <p:nvSpPr>
          <p:cNvPr id="14" name="Text 12"/>
          <p:cNvSpPr txBox="1"/>
          <p:nvPr/>
        </p:nvSpPr>
        <p:spPr>
          <a:xfrm>
            <a:off x="8321040" y="4983480"/>
            <a:ext cx="1691640" cy="420624"/>
          </a:xfrm>
          <a:prstGeom prst="rect">
            <a:avLst/>
          </a:prstGeom>
          <a:noFill/>
          <a:ln/>
        </p:spPr>
        <p:txBody>
          <a:bodyPr wrap="square" lIns="0" tIns="0" rIns="0" bIns="0" rtlCol="0" anchor="ctr"/>
          <a:lstStyle/>
          <a:p>
            <a:pPr marL="0" indent="0" algn="ctr">
              <a:buNone/>
            </a:pPr>
            <a:r>
              <a:rPr lang="en-US" sz="900" dirty="0">
                <a:solidFill>
                  <a:srgbClr val="00A896"/>
                </a:solidFill>
                <a:latin typeface="Courier New" pitchFamily="34" charset="0"/>
                <a:ea typeface="Courier New" pitchFamily="34" charset="-122"/>
                <a:cs typeface="Courier New" pitchFamily="34" charset="-120"/>
              </a:rPr>
              <a:t>/speckit-implement</a:t>
            </a:r>
            <a:endParaRPr lang="en-US" sz="900" dirty="0"/>
          </a:p>
        </p:txBody>
      </p:sp>
      <p:sp>
        <p:nvSpPr>
          <p:cNvPr id="15" name="Shape 13"/>
          <p:cNvSpPr/>
          <p:nvPr/>
        </p:nvSpPr>
        <p:spPr>
          <a:xfrm>
            <a:off x="10195560" y="4983480"/>
            <a:ext cx="1691640" cy="420624"/>
          </a:xfrm>
          <a:prstGeom prst="roundRect">
            <a:avLst>
              <a:gd name="adj" fmla="val 10870"/>
            </a:avLst>
          </a:prstGeom>
          <a:solidFill>
            <a:srgbClr val="1F333D"/>
          </a:solidFill>
          <a:ln/>
        </p:spPr>
        <p:txBody>
          <a:bodyPr/>
          <a:lstStyle/>
          <a:p>
            <a:endParaRPr lang="es-AR"/>
          </a:p>
        </p:txBody>
      </p:sp>
      <p:sp>
        <p:nvSpPr>
          <p:cNvPr id="16" name="Text 14"/>
          <p:cNvSpPr txBox="1"/>
          <p:nvPr/>
        </p:nvSpPr>
        <p:spPr>
          <a:xfrm>
            <a:off x="10195560" y="4983480"/>
            <a:ext cx="1691640" cy="420624"/>
          </a:xfrm>
          <a:prstGeom prst="rect">
            <a:avLst/>
          </a:prstGeom>
          <a:noFill/>
          <a:ln/>
        </p:spPr>
        <p:txBody>
          <a:bodyPr wrap="square" lIns="0" tIns="0" rIns="0" bIns="0" rtlCol="0" anchor="ctr"/>
          <a:lstStyle/>
          <a:p>
            <a:pPr marL="0" indent="0" algn="ctr">
              <a:buNone/>
            </a:pPr>
            <a:r>
              <a:rPr lang="en-US" sz="900" dirty="0">
                <a:solidFill>
                  <a:srgbClr val="00A896"/>
                </a:solidFill>
                <a:latin typeface="Courier New" pitchFamily="34" charset="0"/>
                <a:ea typeface="Courier New" pitchFamily="34" charset="-122"/>
                <a:cs typeface="Courier New" pitchFamily="34" charset="-120"/>
              </a:rPr>
              <a:t>/speckit-converge</a:t>
            </a:r>
            <a:endParaRPr lang="en-US" sz="900" dirty="0"/>
          </a:p>
        </p:txBody>
      </p:sp>
      <p:sp>
        <p:nvSpPr>
          <p:cNvPr id="17" name="Text 15"/>
          <p:cNvSpPr txBox="1"/>
          <p:nvPr/>
        </p:nvSpPr>
        <p:spPr>
          <a:xfrm>
            <a:off x="822960" y="5989320"/>
            <a:ext cx="5486400" cy="274320"/>
          </a:xfrm>
          <a:prstGeom prst="rect">
            <a:avLst/>
          </a:prstGeom>
          <a:noFill/>
          <a:ln/>
        </p:spPr>
        <p:txBody>
          <a:bodyPr wrap="square" lIns="0" tIns="0" rIns="0" bIns="0" rtlCol="0" anchor="ctr"/>
          <a:lstStyle/>
          <a:p>
            <a:pPr marL="0" indent="0">
              <a:buNone/>
            </a:pPr>
            <a:r>
              <a:rPr lang="en-US" sz="1100" dirty="0">
                <a:solidFill>
                  <a:srgbClr val="6B7C87"/>
                </a:solidFill>
                <a:latin typeface="Calibri" pitchFamily="34" charset="0"/>
                <a:ea typeface="Calibri" pitchFamily="34" charset="-122"/>
                <a:cs typeface="Calibri" pitchFamily="34" charset="-120"/>
              </a:rPr>
              <a:t>Septiembre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EL PUNTO DE PARTIDA</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1F2D36"/>
                </a:solidFill>
                <a:latin typeface="Calibri" pitchFamily="34" charset="0"/>
                <a:ea typeface="Calibri" pitchFamily="34" charset="-122"/>
                <a:cs typeface="Calibri" pitchFamily="34" charset="-120"/>
              </a:rPr>
              <a:t>El problema no es que la IA escriba mal el código</a:t>
            </a:r>
            <a:endParaRPr lang="en-US" sz="3400" dirty="0"/>
          </a:p>
        </p:txBody>
      </p:sp>
      <p:sp>
        <p:nvSpPr>
          <p:cNvPr id="4" name="Shape 2"/>
          <p:cNvSpPr/>
          <p:nvPr/>
        </p:nvSpPr>
        <p:spPr>
          <a:xfrm>
            <a:off x="548640" y="1645920"/>
            <a:ext cx="6035040" cy="1371600"/>
          </a:xfrm>
          <a:prstGeom prst="roundRect">
            <a:avLst>
              <a:gd name="adj" fmla="val 4000"/>
            </a:avLst>
          </a:prstGeom>
          <a:solidFill>
            <a:srgbClr val="F2F4F5"/>
          </a:solidFill>
          <a:ln/>
        </p:spPr>
        <p:txBody>
          <a:bodyPr/>
          <a:lstStyle/>
          <a:p>
            <a:endParaRPr lang="es-AR"/>
          </a:p>
        </p:txBody>
      </p:sp>
      <p:sp>
        <p:nvSpPr>
          <p:cNvPr id="5" name="Shape 3"/>
          <p:cNvSpPr/>
          <p:nvPr/>
        </p:nvSpPr>
        <p:spPr>
          <a:xfrm>
            <a:off x="841248" y="2057400"/>
            <a:ext cx="402336" cy="402336"/>
          </a:xfrm>
          <a:prstGeom prst="ellipse">
            <a:avLst/>
          </a:prstGeom>
          <a:solidFill>
            <a:srgbClr val="00A896"/>
          </a:solidFill>
          <a:ln/>
        </p:spPr>
        <p:txBody>
          <a:bodyPr/>
          <a:lstStyle/>
          <a:p>
            <a:endParaRPr lang="es-AR"/>
          </a:p>
        </p:txBody>
      </p:sp>
      <p:sp>
        <p:nvSpPr>
          <p:cNvPr id="6" name="Text 4"/>
          <p:cNvSpPr txBox="1"/>
          <p:nvPr/>
        </p:nvSpPr>
        <p:spPr>
          <a:xfrm>
            <a:off x="841248" y="205740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17320" y="1938528"/>
            <a:ext cx="4937760" cy="310896"/>
          </a:xfrm>
          <a:prstGeom prst="rect">
            <a:avLst/>
          </a:prstGeom>
          <a:noFill/>
          <a:ln/>
        </p:spPr>
        <p:txBody>
          <a:bodyPr wrap="square" lIns="0" tIns="0" rIns="0" bIns="0" rtlCol="0" anchor="ctr"/>
          <a:lstStyle/>
          <a:p>
            <a:pPr marL="0" indent="0">
              <a:buNone/>
            </a:pPr>
            <a:r>
              <a:rPr lang="en-US" sz="1600" b="1" dirty="0">
                <a:solidFill>
                  <a:srgbClr val="1F2D36"/>
                </a:solidFill>
                <a:latin typeface="Calibri" pitchFamily="34" charset="0"/>
                <a:ea typeface="Calibri" pitchFamily="34" charset="-122"/>
                <a:cs typeface="Calibri" pitchFamily="34" charset="-120"/>
              </a:rPr>
              <a:t>Contexto que se reconstruye</a:t>
            </a:r>
            <a:endParaRPr lang="en-US" sz="1600" dirty="0"/>
          </a:p>
        </p:txBody>
      </p:sp>
      <p:sp>
        <p:nvSpPr>
          <p:cNvPr id="8" name="Text 6"/>
          <p:cNvSpPr txBox="1"/>
          <p:nvPr/>
        </p:nvSpPr>
        <p:spPr>
          <a:xfrm>
            <a:off x="1417320" y="2286000"/>
            <a:ext cx="4983480" cy="548640"/>
          </a:xfrm>
          <a:prstGeom prst="rect">
            <a:avLst/>
          </a:prstGeom>
          <a:noFill/>
          <a:ln/>
        </p:spPr>
        <p:txBody>
          <a:bodyPr wrap="square" lIns="0" tIns="0" rIns="0" bIns="0" rtlCol="0" anchor="t"/>
          <a:lstStyle/>
          <a:p>
            <a:pPr marL="0" indent="0">
              <a:buNone/>
            </a:pPr>
            <a:r>
              <a:rPr lang="en-US" sz="1250" dirty="0">
                <a:solidFill>
                  <a:srgbClr val="6B7C87"/>
                </a:solidFill>
                <a:latin typeface="Calibri" pitchFamily="34" charset="0"/>
                <a:ea typeface="Calibri" pitchFamily="34" charset="-122"/>
                <a:cs typeface="Calibri" pitchFamily="34" charset="-120"/>
              </a:rPr>
              <a:t>Cada sesión arranca de cero. Las decisiones viven en el chat, no en el repositorio.</a:t>
            </a:r>
            <a:endParaRPr lang="en-US" sz="1250" dirty="0"/>
          </a:p>
        </p:txBody>
      </p:sp>
      <p:sp>
        <p:nvSpPr>
          <p:cNvPr id="9" name="Shape 7"/>
          <p:cNvSpPr/>
          <p:nvPr/>
        </p:nvSpPr>
        <p:spPr>
          <a:xfrm>
            <a:off x="548640" y="3108960"/>
            <a:ext cx="6035040" cy="1371600"/>
          </a:xfrm>
          <a:prstGeom prst="roundRect">
            <a:avLst>
              <a:gd name="adj" fmla="val 4000"/>
            </a:avLst>
          </a:prstGeom>
          <a:solidFill>
            <a:srgbClr val="F2F4F5"/>
          </a:solidFill>
          <a:ln/>
        </p:spPr>
        <p:txBody>
          <a:bodyPr/>
          <a:lstStyle/>
          <a:p>
            <a:endParaRPr lang="es-AR"/>
          </a:p>
        </p:txBody>
      </p:sp>
      <p:sp>
        <p:nvSpPr>
          <p:cNvPr id="10" name="Shape 8"/>
          <p:cNvSpPr/>
          <p:nvPr/>
        </p:nvSpPr>
        <p:spPr>
          <a:xfrm>
            <a:off x="841248" y="3520440"/>
            <a:ext cx="402336" cy="402336"/>
          </a:xfrm>
          <a:prstGeom prst="ellipse">
            <a:avLst/>
          </a:prstGeom>
          <a:solidFill>
            <a:srgbClr val="00A896"/>
          </a:solidFill>
          <a:ln/>
        </p:spPr>
        <p:txBody>
          <a:bodyPr/>
          <a:lstStyle/>
          <a:p>
            <a:endParaRPr lang="es-AR"/>
          </a:p>
        </p:txBody>
      </p:sp>
      <p:sp>
        <p:nvSpPr>
          <p:cNvPr id="11" name="Text 9"/>
          <p:cNvSpPr txBox="1"/>
          <p:nvPr/>
        </p:nvSpPr>
        <p:spPr>
          <a:xfrm>
            <a:off x="841248" y="352044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17320" y="3401568"/>
            <a:ext cx="4937760" cy="310896"/>
          </a:xfrm>
          <a:prstGeom prst="rect">
            <a:avLst/>
          </a:prstGeom>
          <a:noFill/>
          <a:ln/>
        </p:spPr>
        <p:txBody>
          <a:bodyPr wrap="square" lIns="0" tIns="0" rIns="0" bIns="0" rtlCol="0" anchor="ctr"/>
          <a:lstStyle/>
          <a:p>
            <a:pPr marL="0" indent="0">
              <a:buNone/>
            </a:pPr>
            <a:r>
              <a:rPr lang="en-US" sz="1600" b="1" dirty="0">
                <a:solidFill>
                  <a:srgbClr val="1F2D36"/>
                </a:solidFill>
                <a:latin typeface="Calibri" pitchFamily="34" charset="0"/>
                <a:ea typeface="Calibri" pitchFamily="34" charset="-122"/>
                <a:cs typeface="Calibri" pitchFamily="34" charset="-120"/>
              </a:rPr>
              <a:t>Decisiones sin registro</a:t>
            </a:r>
            <a:endParaRPr lang="en-US" sz="1600" dirty="0"/>
          </a:p>
        </p:txBody>
      </p:sp>
      <p:sp>
        <p:nvSpPr>
          <p:cNvPr id="13" name="Text 11"/>
          <p:cNvSpPr txBox="1"/>
          <p:nvPr/>
        </p:nvSpPr>
        <p:spPr>
          <a:xfrm>
            <a:off x="1417320" y="3749040"/>
            <a:ext cx="4983480" cy="548640"/>
          </a:xfrm>
          <a:prstGeom prst="rect">
            <a:avLst/>
          </a:prstGeom>
          <a:noFill/>
          <a:ln/>
        </p:spPr>
        <p:txBody>
          <a:bodyPr wrap="square" lIns="0" tIns="0" rIns="0" bIns="0" rtlCol="0" anchor="t"/>
          <a:lstStyle/>
          <a:p>
            <a:pPr marL="0" indent="0">
              <a:buNone/>
            </a:pPr>
            <a:r>
              <a:rPr lang="en-US" sz="1250" dirty="0">
                <a:solidFill>
                  <a:srgbClr val="6B7C87"/>
                </a:solidFill>
                <a:latin typeface="Calibri" pitchFamily="34" charset="0"/>
                <a:ea typeface="Calibri" pitchFamily="34" charset="-122"/>
                <a:cs typeface="Calibri" pitchFamily="34" charset="-120"/>
              </a:rPr>
              <a:t>Nadie sabe por qué se eligió eso. Seis semanas después, tampoco quien lo eligió.</a:t>
            </a:r>
            <a:endParaRPr lang="en-US" sz="1250" dirty="0"/>
          </a:p>
        </p:txBody>
      </p:sp>
      <p:sp>
        <p:nvSpPr>
          <p:cNvPr id="14" name="Shape 12"/>
          <p:cNvSpPr/>
          <p:nvPr/>
        </p:nvSpPr>
        <p:spPr>
          <a:xfrm>
            <a:off x="548640" y="4572000"/>
            <a:ext cx="6035040" cy="1371600"/>
          </a:xfrm>
          <a:prstGeom prst="roundRect">
            <a:avLst>
              <a:gd name="adj" fmla="val 4000"/>
            </a:avLst>
          </a:prstGeom>
          <a:solidFill>
            <a:srgbClr val="F2F4F5"/>
          </a:solidFill>
          <a:ln/>
        </p:spPr>
        <p:txBody>
          <a:bodyPr/>
          <a:lstStyle/>
          <a:p>
            <a:endParaRPr lang="es-AR"/>
          </a:p>
        </p:txBody>
      </p:sp>
      <p:sp>
        <p:nvSpPr>
          <p:cNvPr id="15" name="Shape 13"/>
          <p:cNvSpPr/>
          <p:nvPr/>
        </p:nvSpPr>
        <p:spPr>
          <a:xfrm>
            <a:off x="841248" y="4983480"/>
            <a:ext cx="402336" cy="402336"/>
          </a:xfrm>
          <a:prstGeom prst="ellipse">
            <a:avLst/>
          </a:prstGeom>
          <a:solidFill>
            <a:srgbClr val="00A896"/>
          </a:solidFill>
          <a:ln/>
        </p:spPr>
        <p:txBody>
          <a:bodyPr/>
          <a:lstStyle/>
          <a:p>
            <a:endParaRPr lang="es-AR"/>
          </a:p>
        </p:txBody>
      </p:sp>
      <p:sp>
        <p:nvSpPr>
          <p:cNvPr id="16" name="Text 14"/>
          <p:cNvSpPr txBox="1"/>
          <p:nvPr/>
        </p:nvSpPr>
        <p:spPr>
          <a:xfrm>
            <a:off x="841248" y="498348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17320" y="4864608"/>
            <a:ext cx="4937760" cy="310896"/>
          </a:xfrm>
          <a:prstGeom prst="rect">
            <a:avLst/>
          </a:prstGeom>
          <a:noFill/>
          <a:ln/>
        </p:spPr>
        <p:txBody>
          <a:bodyPr wrap="square" lIns="0" tIns="0" rIns="0" bIns="0" rtlCol="0" anchor="ctr"/>
          <a:lstStyle/>
          <a:p>
            <a:pPr marL="0" indent="0">
              <a:buNone/>
            </a:pPr>
            <a:r>
              <a:rPr lang="en-US" sz="1600" b="1" dirty="0">
                <a:solidFill>
                  <a:srgbClr val="1F2D36"/>
                </a:solidFill>
                <a:latin typeface="Calibri" pitchFamily="34" charset="0"/>
                <a:ea typeface="Calibri" pitchFamily="34" charset="-122"/>
                <a:cs typeface="Calibri" pitchFamily="34" charset="-120"/>
              </a:rPr>
              <a:t>Deriva silenciosa</a:t>
            </a:r>
            <a:endParaRPr lang="en-US" sz="1600" dirty="0"/>
          </a:p>
        </p:txBody>
      </p:sp>
      <p:sp>
        <p:nvSpPr>
          <p:cNvPr id="18" name="Text 16"/>
          <p:cNvSpPr txBox="1"/>
          <p:nvPr/>
        </p:nvSpPr>
        <p:spPr>
          <a:xfrm>
            <a:off x="1417320" y="5212080"/>
            <a:ext cx="4983480" cy="548640"/>
          </a:xfrm>
          <a:prstGeom prst="rect">
            <a:avLst/>
          </a:prstGeom>
          <a:noFill/>
          <a:ln/>
        </p:spPr>
        <p:txBody>
          <a:bodyPr wrap="square" lIns="0" tIns="0" rIns="0" bIns="0" rtlCol="0" anchor="t"/>
          <a:lstStyle/>
          <a:p>
            <a:pPr marL="0" indent="0">
              <a:buNone/>
            </a:pPr>
            <a:r>
              <a:rPr lang="en-US" sz="1250" dirty="0">
                <a:solidFill>
                  <a:srgbClr val="6B7C87"/>
                </a:solidFill>
                <a:latin typeface="Calibri" pitchFamily="34" charset="0"/>
                <a:ea typeface="Calibri" pitchFamily="34" charset="-122"/>
                <a:cs typeface="Calibri" pitchFamily="34" charset="-120"/>
              </a:rPr>
              <a:t>El código se aleja de la intención original y nada lo detecta hasta que rompe.</a:t>
            </a:r>
            <a:endParaRPr lang="en-US" sz="1250" dirty="0"/>
          </a:p>
        </p:txBody>
      </p:sp>
      <p:sp>
        <p:nvSpPr>
          <p:cNvPr id="19" name="Shape 17"/>
          <p:cNvSpPr/>
          <p:nvPr/>
        </p:nvSpPr>
        <p:spPr>
          <a:xfrm>
            <a:off x="6949440" y="1645920"/>
            <a:ext cx="4690872" cy="4297680"/>
          </a:xfrm>
          <a:prstGeom prst="roundRect">
            <a:avLst>
              <a:gd name="adj" fmla="val 1277"/>
            </a:avLst>
          </a:prstGeom>
          <a:solidFill>
            <a:srgbClr val="16232B"/>
          </a:solidFill>
          <a:ln/>
        </p:spPr>
        <p:txBody>
          <a:bodyPr/>
          <a:lstStyle/>
          <a:p>
            <a:endParaRPr lang="es-AR"/>
          </a:p>
        </p:txBody>
      </p:sp>
      <p:sp>
        <p:nvSpPr>
          <p:cNvPr id="20" name="Text 18"/>
          <p:cNvSpPr txBox="1"/>
          <p:nvPr/>
        </p:nvSpPr>
        <p:spPr>
          <a:xfrm>
            <a:off x="7360920" y="2057400"/>
            <a:ext cx="3886200" cy="292608"/>
          </a:xfrm>
          <a:prstGeom prst="rect">
            <a:avLst/>
          </a:prstGeom>
          <a:noFill/>
          <a:ln/>
        </p:spPr>
        <p:txBody>
          <a:bodyPr wrap="square" lIns="0" tIns="0" rIns="0" bIns="0" rtlCol="0" anchor="ctr"/>
          <a:lstStyle/>
          <a:p>
            <a:pPr marL="0" indent="0">
              <a:buNone/>
            </a:pPr>
            <a:r>
              <a:rPr lang="en-US" sz="1200" b="1" kern="0" spc="200" dirty="0">
                <a:solidFill>
                  <a:srgbClr val="00A896"/>
                </a:solidFill>
                <a:latin typeface="Calibri" pitchFamily="34" charset="0"/>
                <a:ea typeface="Calibri" pitchFamily="34" charset="-122"/>
                <a:cs typeface="Calibri" pitchFamily="34" charset="-120"/>
              </a:rPr>
              <a:t>El problema real</a:t>
            </a:r>
            <a:endParaRPr lang="en-US" sz="1200" dirty="0"/>
          </a:p>
        </p:txBody>
      </p:sp>
      <p:sp>
        <p:nvSpPr>
          <p:cNvPr id="21" name="Text 19"/>
          <p:cNvSpPr txBox="1"/>
          <p:nvPr/>
        </p:nvSpPr>
        <p:spPr>
          <a:xfrm>
            <a:off x="7360920" y="2560320"/>
            <a:ext cx="3886200" cy="1920240"/>
          </a:xfrm>
          <a:prstGeom prst="rect">
            <a:avLst/>
          </a:prstGeom>
          <a:noFill/>
          <a:ln/>
        </p:spPr>
        <p:txBody>
          <a:bodyPr wrap="square" lIns="0" tIns="0" rIns="0" bIns="0" rtlCol="0" anchor="t"/>
          <a:lstStyle/>
          <a:p>
            <a:pPr marL="0" indent="0">
              <a:lnSpc>
                <a:spcPts val="2600"/>
              </a:lnSpc>
              <a:buNone/>
            </a:pPr>
            <a:r>
              <a:rPr lang="en-US" sz="1800" dirty="0">
                <a:solidFill>
                  <a:srgbClr val="FFFFFF"/>
                </a:solidFill>
                <a:latin typeface="Calibri" pitchFamily="34" charset="0"/>
                <a:ea typeface="Calibri" pitchFamily="34" charset="-122"/>
                <a:cs typeface="Calibri" pitchFamily="34" charset="-120"/>
              </a:rPr>
              <a:t>El agente produce exactamente lo que le pedimos.</a:t>
            </a:r>
            <a:endParaRPr lang="en-US" sz="1800" dirty="0"/>
          </a:p>
          <a:p>
            <a:pPr marL="0" indent="0">
              <a:lnSpc>
                <a:spcPts val="2600"/>
              </a:lnSpc>
              <a:buNone/>
            </a:pPr>
            <a:endParaRPr lang="en-US" sz="1800" dirty="0"/>
          </a:p>
          <a:p>
            <a:pPr marL="0" indent="0">
              <a:lnSpc>
                <a:spcPts val="2600"/>
              </a:lnSpc>
              <a:buNone/>
            </a:pPr>
            <a:r>
              <a:rPr lang="en-US" sz="1800" dirty="0">
                <a:solidFill>
                  <a:srgbClr val="FFFFFF"/>
                </a:solidFill>
                <a:latin typeface="Calibri" pitchFamily="34" charset="0"/>
                <a:ea typeface="Calibri" pitchFamily="34" charset="-122"/>
                <a:cs typeface="Calibri" pitchFamily="34" charset="-120"/>
              </a:rPr>
              <a:t>El problema es que le pedimos mal, y no queda constancia de qué pedimos.</a:t>
            </a:r>
            <a:endParaRPr lang="en-US" sz="1800" dirty="0"/>
          </a:p>
        </p:txBody>
      </p:sp>
      <p:sp>
        <p:nvSpPr>
          <p:cNvPr id="22" name="Text 20"/>
          <p:cNvSpPr txBox="1"/>
          <p:nvPr/>
        </p:nvSpPr>
        <p:spPr>
          <a:xfrm>
            <a:off x="7360920" y="5029200"/>
            <a:ext cx="3886200" cy="548640"/>
          </a:xfrm>
          <a:prstGeom prst="rect">
            <a:avLst/>
          </a:prstGeom>
          <a:noFill/>
          <a:ln/>
        </p:spPr>
        <p:txBody>
          <a:bodyPr wrap="square" lIns="0" tIns="0" rIns="0" bIns="0" rtlCol="0" anchor="t"/>
          <a:lstStyle/>
          <a:p>
            <a:pPr marL="0" indent="0">
              <a:buNone/>
            </a:pPr>
            <a:r>
              <a:rPr lang="en-US" sz="1400" i="1" dirty="0">
                <a:solidFill>
                  <a:srgbClr val="A9BFC4"/>
                </a:solidFill>
                <a:latin typeface="Calibri" pitchFamily="34" charset="0"/>
                <a:ea typeface="Calibri" pitchFamily="34" charset="-122"/>
                <a:cs typeface="Calibri" pitchFamily="34" charset="-120"/>
              </a:rPr>
              <a:t>La especificación es el artefacto que falta.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LA PROPUESTA</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1F2D36"/>
                </a:solidFill>
                <a:latin typeface="Calibri" pitchFamily="34" charset="0"/>
                <a:ea typeface="Calibri" pitchFamily="34" charset="-122"/>
                <a:cs typeface="Calibri" pitchFamily="34" charset="-120"/>
              </a:rPr>
              <a:t>La spec deja de ser documentación y pasa a ser el input</a:t>
            </a:r>
            <a:endParaRPr lang="en-US" sz="3400" dirty="0"/>
          </a:p>
        </p:txBody>
      </p:sp>
      <p:sp>
        <p:nvSpPr>
          <p:cNvPr id="4" name="Text 2"/>
          <p:cNvSpPr txBox="1"/>
          <p:nvPr/>
        </p:nvSpPr>
        <p:spPr>
          <a:xfrm>
            <a:off x="548640" y="1371600"/>
            <a:ext cx="11091672" cy="685800"/>
          </a:xfrm>
          <a:prstGeom prst="rect">
            <a:avLst/>
          </a:prstGeom>
          <a:noFill/>
          <a:ln/>
        </p:spPr>
        <p:txBody>
          <a:bodyPr wrap="square" lIns="0" tIns="0" rIns="0" bIns="0" rtlCol="0" anchor="t"/>
          <a:lstStyle/>
          <a:p>
            <a:pPr marL="0" indent="0">
              <a:lnSpc>
                <a:spcPts val="2200"/>
              </a:lnSpc>
              <a:buNone/>
            </a:pPr>
            <a:r>
              <a:rPr lang="en-US" sz="1500" b="1" dirty="0">
                <a:solidFill>
                  <a:srgbClr val="1F2D36"/>
                </a:solidFill>
                <a:latin typeface="Calibri" pitchFamily="34" charset="0"/>
                <a:ea typeface="Calibri" pitchFamily="34" charset="-122"/>
                <a:cs typeface="Calibri" pitchFamily="34" charset="-120"/>
              </a:rPr>
              <a:t>Spec Kit</a:t>
            </a:r>
            <a:r>
              <a:rPr lang="en-US" sz="1500" dirty="0">
                <a:solidFill>
                  <a:srgbClr val="6B7C87"/>
                </a:solidFill>
                <a:latin typeface="Calibri" pitchFamily="34" charset="0"/>
                <a:ea typeface="Calibri" pitchFamily="34" charset="-122"/>
                <a:cs typeface="Calibri" pitchFamily="34" charset="-120"/>
              </a:rPr>
              <a:t> es un toolkit open source de GitHub que estructura el trabajo con cualquier agente de IA. Cada fase produce un artefacto Markdown versionado en Git que alimenta la siguiente.</a:t>
            </a:r>
            <a:endParaRPr lang="en-US" sz="1500" dirty="0"/>
          </a:p>
        </p:txBody>
      </p:sp>
      <p:sp>
        <p:nvSpPr>
          <p:cNvPr id="5" name="Shape 3"/>
          <p:cNvSpPr/>
          <p:nvPr/>
        </p:nvSpPr>
        <p:spPr>
          <a:xfrm>
            <a:off x="548640" y="2423160"/>
            <a:ext cx="3538728" cy="3063240"/>
          </a:xfrm>
          <a:prstGeom prst="roundRect">
            <a:avLst>
              <a:gd name="adj" fmla="val 1791"/>
            </a:avLst>
          </a:prstGeom>
          <a:solidFill>
            <a:srgbClr val="EEF5F4"/>
          </a:solidFill>
          <a:ln/>
        </p:spPr>
        <p:txBody>
          <a:bodyPr/>
          <a:lstStyle/>
          <a:p>
            <a:endParaRPr lang="es-AR"/>
          </a:p>
        </p:txBody>
      </p:sp>
      <p:sp>
        <p:nvSpPr>
          <p:cNvPr id="6" name="Text 4"/>
          <p:cNvSpPr txBox="1"/>
          <p:nvPr/>
        </p:nvSpPr>
        <p:spPr>
          <a:xfrm>
            <a:off x="868680" y="2743200"/>
            <a:ext cx="2898648" cy="868680"/>
          </a:xfrm>
          <a:prstGeom prst="rect">
            <a:avLst/>
          </a:prstGeom>
          <a:noFill/>
          <a:ln/>
        </p:spPr>
        <p:txBody>
          <a:bodyPr wrap="square" lIns="0" tIns="0" rIns="0" bIns="0" rtlCol="0" anchor="ctr"/>
          <a:lstStyle/>
          <a:p>
            <a:pPr marL="0" indent="0">
              <a:buNone/>
            </a:pPr>
            <a:r>
              <a:rPr lang="en-US" sz="5200" b="1" dirty="0">
                <a:solidFill>
                  <a:srgbClr val="027A6E"/>
                </a:solidFill>
                <a:latin typeface="Calibri" pitchFamily="34" charset="0"/>
                <a:ea typeface="Calibri" pitchFamily="34" charset="-122"/>
                <a:cs typeface="Calibri" pitchFamily="34" charset="-120"/>
              </a:rPr>
              <a:t>30+</a:t>
            </a:r>
            <a:endParaRPr lang="en-US" sz="5200" dirty="0"/>
          </a:p>
        </p:txBody>
      </p:sp>
      <p:sp>
        <p:nvSpPr>
          <p:cNvPr id="7" name="Text 5"/>
          <p:cNvSpPr txBox="1"/>
          <p:nvPr/>
        </p:nvSpPr>
        <p:spPr>
          <a:xfrm>
            <a:off x="868680" y="3749040"/>
            <a:ext cx="2898648" cy="310896"/>
          </a:xfrm>
          <a:prstGeom prst="rect">
            <a:avLst/>
          </a:prstGeom>
          <a:noFill/>
          <a:ln/>
        </p:spPr>
        <p:txBody>
          <a:bodyPr wrap="square" lIns="0" tIns="0" rIns="0" bIns="0" rtlCol="0" anchor="ctr"/>
          <a:lstStyle/>
          <a:p>
            <a:pPr marL="0" indent="0">
              <a:buNone/>
            </a:pPr>
            <a:r>
              <a:rPr lang="en-US" sz="1500" b="1" dirty="0">
                <a:solidFill>
                  <a:srgbClr val="1F2D36"/>
                </a:solidFill>
                <a:latin typeface="Calibri" pitchFamily="34" charset="0"/>
                <a:ea typeface="Calibri" pitchFamily="34" charset="-122"/>
                <a:cs typeface="Calibri" pitchFamily="34" charset="-120"/>
              </a:rPr>
              <a:t>agentes soportados</a:t>
            </a:r>
            <a:endParaRPr lang="en-US" sz="1500" dirty="0"/>
          </a:p>
        </p:txBody>
      </p:sp>
      <p:sp>
        <p:nvSpPr>
          <p:cNvPr id="8" name="Text 6"/>
          <p:cNvSpPr txBox="1"/>
          <p:nvPr/>
        </p:nvSpPr>
        <p:spPr>
          <a:xfrm>
            <a:off x="868680" y="4160520"/>
            <a:ext cx="2898648" cy="1005840"/>
          </a:xfrm>
          <a:prstGeom prst="rect">
            <a:avLst/>
          </a:prstGeom>
          <a:noFill/>
          <a:ln/>
        </p:spPr>
        <p:txBody>
          <a:bodyPr wrap="square" lIns="0" tIns="0" rIns="0" bIns="0" rtlCol="0" anchor="t"/>
          <a:lstStyle/>
          <a:p>
            <a:pPr marL="0" indent="0">
              <a:lnSpc>
                <a:spcPts val="1600"/>
              </a:lnSpc>
              <a:buNone/>
            </a:pPr>
            <a:r>
              <a:rPr lang="en-US" sz="1200" dirty="0">
                <a:solidFill>
                  <a:srgbClr val="6B7C87"/>
                </a:solidFill>
                <a:latin typeface="Calibri" pitchFamily="34" charset="0"/>
                <a:ea typeface="Calibri" pitchFamily="34" charset="-122"/>
                <a:cs typeface="Calibri" pitchFamily="34" charset="-120"/>
              </a:rPr>
              <a:t>Claude Code, Copilot, Cursor, Gemini CLI. Uno activo por proyecto.</a:t>
            </a:r>
            <a:endParaRPr lang="en-US" sz="1200" dirty="0"/>
          </a:p>
        </p:txBody>
      </p:sp>
      <p:sp>
        <p:nvSpPr>
          <p:cNvPr id="9" name="Shape 7"/>
          <p:cNvSpPr/>
          <p:nvPr/>
        </p:nvSpPr>
        <p:spPr>
          <a:xfrm>
            <a:off x="4325112" y="2423160"/>
            <a:ext cx="3538728" cy="3063240"/>
          </a:xfrm>
          <a:prstGeom prst="roundRect">
            <a:avLst>
              <a:gd name="adj" fmla="val 1791"/>
            </a:avLst>
          </a:prstGeom>
          <a:solidFill>
            <a:srgbClr val="EEF5F4"/>
          </a:solidFill>
          <a:ln/>
        </p:spPr>
        <p:txBody>
          <a:bodyPr/>
          <a:lstStyle/>
          <a:p>
            <a:endParaRPr lang="es-AR"/>
          </a:p>
        </p:txBody>
      </p:sp>
      <p:sp>
        <p:nvSpPr>
          <p:cNvPr id="10" name="Text 8"/>
          <p:cNvSpPr txBox="1"/>
          <p:nvPr/>
        </p:nvSpPr>
        <p:spPr>
          <a:xfrm>
            <a:off x="4645152" y="2743200"/>
            <a:ext cx="2898648" cy="868680"/>
          </a:xfrm>
          <a:prstGeom prst="rect">
            <a:avLst/>
          </a:prstGeom>
          <a:noFill/>
          <a:ln/>
        </p:spPr>
        <p:txBody>
          <a:bodyPr wrap="square" lIns="0" tIns="0" rIns="0" bIns="0" rtlCol="0" anchor="ctr"/>
          <a:lstStyle/>
          <a:p>
            <a:pPr marL="0" indent="0">
              <a:buNone/>
            </a:pPr>
            <a:r>
              <a:rPr lang="en-US" sz="5200" b="1" dirty="0">
                <a:solidFill>
                  <a:srgbClr val="027A6E"/>
                </a:solidFill>
                <a:latin typeface="Calibri" pitchFamily="34" charset="0"/>
                <a:ea typeface="Calibri" pitchFamily="34" charset="-122"/>
                <a:cs typeface="Calibri" pitchFamily="34" charset="-120"/>
              </a:rPr>
              <a:t>7</a:t>
            </a:r>
            <a:endParaRPr lang="en-US" sz="5200" dirty="0"/>
          </a:p>
        </p:txBody>
      </p:sp>
      <p:sp>
        <p:nvSpPr>
          <p:cNvPr id="11" name="Text 9"/>
          <p:cNvSpPr txBox="1"/>
          <p:nvPr/>
        </p:nvSpPr>
        <p:spPr>
          <a:xfrm>
            <a:off x="4645152" y="3749040"/>
            <a:ext cx="2898648" cy="310896"/>
          </a:xfrm>
          <a:prstGeom prst="rect">
            <a:avLst/>
          </a:prstGeom>
          <a:noFill/>
          <a:ln/>
        </p:spPr>
        <p:txBody>
          <a:bodyPr wrap="square" lIns="0" tIns="0" rIns="0" bIns="0" rtlCol="0" anchor="ctr"/>
          <a:lstStyle/>
          <a:p>
            <a:pPr marL="0" indent="0">
              <a:buNone/>
            </a:pPr>
            <a:r>
              <a:rPr lang="en-US" sz="1500" b="1" dirty="0">
                <a:solidFill>
                  <a:srgbClr val="1F2D36"/>
                </a:solidFill>
                <a:latin typeface="Calibri" pitchFamily="34" charset="0"/>
                <a:ea typeface="Calibri" pitchFamily="34" charset="-122"/>
                <a:cs typeface="Calibri" pitchFamily="34" charset="-120"/>
              </a:rPr>
              <a:t>comandos core</a:t>
            </a:r>
            <a:endParaRPr lang="en-US" sz="1500" dirty="0"/>
          </a:p>
        </p:txBody>
      </p:sp>
      <p:sp>
        <p:nvSpPr>
          <p:cNvPr id="12" name="Text 10"/>
          <p:cNvSpPr txBox="1"/>
          <p:nvPr/>
        </p:nvSpPr>
        <p:spPr>
          <a:xfrm>
            <a:off x="4645152" y="4160520"/>
            <a:ext cx="2898648" cy="1005840"/>
          </a:xfrm>
          <a:prstGeom prst="rect">
            <a:avLst/>
          </a:prstGeom>
          <a:noFill/>
          <a:ln/>
        </p:spPr>
        <p:txBody>
          <a:bodyPr wrap="square" lIns="0" tIns="0" rIns="0" bIns="0" rtlCol="0" anchor="t"/>
          <a:lstStyle/>
          <a:p>
            <a:pPr marL="0" indent="0">
              <a:lnSpc>
                <a:spcPts val="1600"/>
              </a:lnSpc>
              <a:buNone/>
            </a:pPr>
            <a:r>
              <a:rPr lang="en-US" sz="1200" dirty="0">
                <a:solidFill>
                  <a:srgbClr val="6B7C87"/>
                </a:solidFill>
                <a:latin typeface="Calibri" pitchFamily="34" charset="0"/>
                <a:ea typeface="Calibri" pitchFamily="34" charset="-122"/>
                <a:cs typeface="Calibri" pitchFamily="34" charset="-120"/>
              </a:rPr>
              <a:t>Del establecimiento de principios hasta la validación contra la spec.</a:t>
            </a:r>
            <a:endParaRPr lang="en-US" sz="1200" dirty="0"/>
          </a:p>
        </p:txBody>
      </p:sp>
      <p:sp>
        <p:nvSpPr>
          <p:cNvPr id="13" name="Shape 11"/>
          <p:cNvSpPr/>
          <p:nvPr/>
        </p:nvSpPr>
        <p:spPr>
          <a:xfrm>
            <a:off x="8101584" y="2423160"/>
            <a:ext cx="3538728" cy="3063240"/>
          </a:xfrm>
          <a:prstGeom prst="roundRect">
            <a:avLst>
              <a:gd name="adj" fmla="val 1791"/>
            </a:avLst>
          </a:prstGeom>
          <a:solidFill>
            <a:srgbClr val="EEF5F4"/>
          </a:solidFill>
          <a:ln/>
        </p:spPr>
        <p:txBody>
          <a:bodyPr/>
          <a:lstStyle/>
          <a:p>
            <a:endParaRPr lang="es-AR"/>
          </a:p>
        </p:txBody>
      </p:sp>
      <p:sp>
        <p:nvSpPr>
          <p:cNvPr id="14" name="Text 12"/>
          <p:cNvSpPr txBox="1"/>
          <p:nvPr/>
        </p:nvSpPr>
        <p:spPr>
          <a:xfrm>
            <a:off x="8421624" y="2743200"/>
            <a:ext cx="2898648" cy="868680"/>
          </a:xfrm>
          <a:prstGeom prst="rect">
            <a:avLst/>
          </a:prstGeom>
          <a:noFill/>
          <a:ln/>
        </p:spPr>
        <p:txBody>
          <a:bodyPr wrap="square" lIns="0" tIns="0" rIns="0" bIns="0" rtlCol="0" anchor="ctr"/>
          <a:lstStyle/>
          <a:p>
            <a:pPr marL="0" indent="0">
              <a:buNone/>
            </a:pPr>
            <a:r>
              <a:rPr lang="en-US" sz="5200" b="1" dirty="0">
                <a:solidFill>
                  <a:srgbClr val="027A6E"/>
                </a:solidFill>
                <a:latin typeface="Calibri" pitchFamily="34" charset="0"/>
                <a:ea typeface="Calibri" pitchFamily="34" charset="-122"/>
                <a:cs typeface="Calibri" pitchFamily="34" charset="-120"/>
              </a:rPr>
              <a:t>100%</a:t>
            </a:r>
            <a:endParaRPr lang="en-US" sz="5200" dirty="0"/>
          </a:p>
        </p:txBody>
      </p:sp>
      <p:sp>
        <p:nvSpPr>
          <p:cNvPr id="15" name="Text 13"/>
          <p:cNvSpPr txBox="1"/>
          <p:nvPr/>
        </p:nvSpPr>
        <p:spPr>
          <a:xfrm>
            <a:off x="8421624" y="3749040"/>
            <a:ext cx="2898648" cy="310896"/>
          </a:xfrm>
          <a:prstGeom prst="rect">
            <a:avLst/>
          </a:prstGeom>
          <a:noFill/>
          <a:ln/>
        </p:spPr>
        <p:txBody>
          <a:bodyPr wrap="square" lIns="0" tIns="0" rIns="0" bIns="0" rtlCol="0" anchor="ctr"/>
          <a:lstStyle/>
          <a:p>
            <a:pPr marL="0" indent="0">
              <a:buNone/>
            </a:pPr>
            <a:r>
              <a:rPr lang="en-US" sz="1500" b="1" dirty="0">
                <a:solidFill>
                  <a:srgbClr val="1F2D36"/>
                </a:solidFill>
                <a:latin typeface="Calibri" pitchFamily="34" charset="0"/>
                <a:ea typeface="Calibri" pitchFamily="34" charset="-122"/>
                <a:cs typeface="Calibri" pitchFamily="34" charset="-120"/>
              </a:rPr>
              <a:t>Markdown en Git</a:t>
            </a:r>
            <a:endParaRPr lang="en-US" sz="1500" dirty="0"/>
          </a:p>
        </p:txBody>
      </p:sp>
      <p:sp>
        <p:nvSpPr>
          <p:cNvPr id="16" name="Text 14"/>
          <p:cNvSpPr txBox="1"/>
          <p:nvPr/>
        </p:nvSpPr>
        <p:spPr>
          <a:xfrm>
            <a:off x="8421624" y="4160520"/>
            <a:ext cx="2898648" cy="1005840"/>
          </a:xfrm>
          <a:prstGeom prst="rect">
            <a:avLst/>
          </a:prstGeom>
          <a:noFill/>
          <a:ln/>
        </p:spPr>
        <p:txBody>
          <a:bodyPr wrap="square" lIns="0" tIns="0" rIns="0" bIns="0" rtlCol="0" anchor="t"/>
          <a:lstStyle/>
          <a:p>
            <a:pPr marL="0" indent="0">
              <a:lnSpc>
                <a:spcPts val="1600"/>
              </a:lnSpc>
              <a:buNone/>
            </a:pPr>
            <a:r>
              <a:rPr lang="en-US" sz="1200" dirty="0">
                <a:solidFill>
                  <a:srgbClr val="6B7C87"/>
                </a:solidFill>
                <a:latin typeface="Calibri" pitchFamily="34" charset="0"/>
                <a:ea typeface="Calibri" pitchFamily="34" charset="-122"/>
                <a:cs typeface="Calibri" pitchFamily="34" charset="-120"/>
              </a:rPr>
              <a:t>Specs y planes se revisan en pull request, como el código.</a:t>
            </a:r>
            <a:endParaRPr lang="en-US" sz="1200" dirty="0"/>
          </a:p>
        </p:txBody>
      </p:sp>
      <p:sp>
        <p:nvSpPr>
          <p:cNvPr id="17" name="Text 15"/>
          <p:cNvSpPr txBox="1"/>
          <p:nvPr/>
        </p:nvSpPr>
        <p:spPr>
          <a:xfrm>
            <a:off x="548640" y="5715000"/>
            <a:ext cx="11091672" cy="320040"/>
          </a:xfrm>
          <a:prstGeom prst="rect">
            <a:avLst/>
          </a:prstGeom>
          <a:noFill/>
          <a:ln/>
        </p:spPr>
        <p:txBody>
          <a:bodyPr wrap="square" lIns="0" tIns="0" rIns="0" bIns="0" rtlCol="0" anchor="ctr"/>
          <a:lstStyle/>
          <a:p>
            <a:pPr marL="0" indent="0">
              <a:buNone/>
            </a:pPr>
            <a:r>
              <a:rPr lang="en-US" sz="1100" dirty="0">
                <a:solidFill>
                  <a:srgbClr val="6B7C87"/>
                </a:solidFill>
                <a:latin typeface="Calibri" pitchFamily="34" charset="0"/>
                <a:ea typeface="Calibri" pitchFamily="34" charset="-122"/>
                <a:cs typeface="Calibri" pitchFamily="34" charset="-120"/>
              </a:rPr>
              <a:t>Requiere Python 3.11+, Git y uv. Instalación:  uv tool install specify-cli --from git+https://github.com/github/spec-kit.git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EL FLUJO</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1F2D36"/>
                </a:solidFill>
                <a:latin typeface="Calibri" pitchFamily="34" charset="0"/>
                <a:ea typeface="Calibri" pitchFamily="34" charset="-122"/>
                <a:cs typeface="Calibri" pitchFamily="34" charset="-120"/>
              </a:rPr>
              <a:t>Siete comandos, cada uno produce un artefacto</a:t>
            </a:r>
            <a:endParaRPr lang="en-US" sz="3400" dirty="0"/>
          </a:p>
        </p:txBody>
      </p:sp>
      <p:sp>
        <p:nvSpPr>
          <p:cNvPr id="4" name="Shape 2"/>
          <p:cNvSpPr/>
          <p:nvPr/>
        </p:nvSpPr>
        <p:spPr>
          <a:xfrm>
            <a:off x="548640" y="1828800"/>
            <a:ext cx="1691640" cy="2926080"/>
          </a:xfrm>
          <a:prstGeom prst="roundRect">
            <a:avLst>
              <a:gd name="adj" fmla="val 3243"/>
            </a:avLst>
          </a:prstGeom>
          <a:solidFill>
            <a:srgbClr val="FBF1E7"/>
          </a:solidFill>
          <a:ln/>
        </p:spPr>
        <p:txBody>
          <a:bodyPr/>
          <a:lstStyle/>
          <a:p>
            <a:endParaRPr lang="es-AR"/>
          </a:p>
        </p:txBody>
      </p:sp>
      <p:sp>
        <p:nvSpPr>
          <p:cNvPr id="5" name="Shape 3"/>
          <p:cNvSpPr/>
          <p:nvPr/>
        </p:nvSpPr>
        <p:spPr>
          <a:xfrm>
            <a:off x="1193292" y="2084832"/>
            <a:ext cx="402336" cy="402336"/>
          </a:xfrm>
          <a:prstGeom prst="ellipse">
            <a:avLst/>
          </a:prstGeom>
          <a:solidFill>
            <a:srgbClr val="E08A3C"/>
          </a:solidFill>
          <a:ln/>
        </p:spPr>
        <p:txBody>
          <a:bodyPr/>
          <a:lstStyle/>
          <a:p>
            <a:endParaRPr lang="es-AR"/>
          </a:p>
        </p:txBody>
      </p:sp>
      <p:sp>
        <p:nvSpPr>
          <p:cNvPr id="6" name="Text 4"/>
          <p:cNvSpPr txBox="1"/>
          <p:nvPr/>
        </p:nvSpPr>
        <p:spPr>
          <a:xfrm>
            <a:off x="1193292" y="208483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621792" y="2670048"/>
            <a:ext cx="1545336" cy="292608"/>
          </a:xfrm>
          <a:prstGeom prst="rect">
            <a:avLst/>
          </a:prstGeom>
          <a:noFill/>
          <a:ln/>
        </p:spPr>
        <p:txBody>
          <a:bodyPr wrap="square" lIns="0" tIns="0" rIns="0" bIns="0" rtlCol="0" anchor="ctr"/>
          <a:lstStyle/>
          <a:p>
            <a:pPr marL="0" indent="0" algn="ctr">
              <a:buNone/>
            </a:pPr>
            <a:r>
              <a:rPr lang="en-US" sz="900" b="1" dirty="0">
                <a:solidFill>
                  <a:srgbClr val="1F2D36"/>
                </a:solidFill>
                <a:latin typeface="Courier New" pitchFamily="34" charset="0"/>
                <a:ea typeface="Courier New" pitchFamily="34" charset="-122"/>
                <a:cs typeface="Courier New" pitchFamily="34" charset="-120"/>
              </a:rPr>
              <a:t>/speckit-constitution</a:t>
            </a:r>
            <a:endParaRPr lang="en-US" sz="900" dirty="0"/>
          </a:p>
        </p:txBody>
      </p:sp>
      <p:sp>
        <p:nvSpPr>
          <p:cNvPr id="8" name="Text 6"/>
          <p:cNvSpPr txBox="1"/>
          <p:nvPr/>
        </p:nvSpPr>
        <p:spPr>
          <a:xfrm>
            <a:off x="658368" y="3054096"/>
            <a:ext cx="1472184" cy="777240"/>
          </a:xfrm>
          <a:prstGeom prst="rect">
            <a:avLst/>
          </a:prstGeom>
          <a:noFill/>
          <a:ln/>
        </p:spPr>
        <p:txBody>
          <a:bodyPr wrap="square" lIns="0" tIns="0" rIns="0" bIns="0" rtlCol="0" anchor="t"/>
          <a:lstStyle/>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Principios</a:t>
            </a:r>
            <a:endParaRPr lang="en-US" sz="1200" dirty="0"/>
          </a:p>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no negociables</a:t>
            </a:r>
            <a:endParaRPr lang="en-US" sz="1200" dirty="0"/>
          </a:p>
        </p:txBody>
      </p:sp>
      <p:sp>
        <p:nvSpPr>
          <p:cNvPr id="9" name="Text 7"/>
          <p:cNvSpPr txBox="1"/>
          <p:nvPr/>
        </p:nvSpPr>
        <p:spPr>
          <a:xfrm>
            <a:off x="658368" y="4279392"/>
            <a:ext cx="1472184" cy="292608"/>
          </a:xfrm>
          <a:prstGeom prst="rect">
            <a:avLst/>
          </a:prstGeom>
          <a:noFill/>
          <a:ln/>
        </p:spPr>
        <p:txBody>
          <a:bodyPr wrap="square" lIns="0" tIns="0" rIns="0" bIns="0" rtlCol="0" anchor="ctr"/>
          <a:lstStyle/>
          <a:p>
            <a:pPr marL="0" indent="0" algn="ctr">
              <a:buNone/>
            </a:pPr>
            <a:r>
              <a:rPr lang="en-US" sz="1050" dirty="0">
                <a:solidFill>
                  <a:srgbClr val="B36A22"/>
                </a:solidFill>
                <a:latin typeface="Courier New" pitchFamily="34" charset="0"/>
                <a:ea typeface="Courier New" pitchFamily="34" charset="-122"/>
                <a:cs typeface="Courier New" pitchFamily="34" charset="-120"/>
              </a:rPr>
              <a:t>constitution.md</a:t>
            </a:r>
            <a:endParaRPr lang="en-US" sz="1050" dirty="0"/>
          </a:p>
        </p:txBody>
      </p:sp>
      <p:sp>
        <p:nvSpPr>
          <p:cNvPr id="10" name="Text 8"/>
          <p:cNvSpPr txBox="1"/>
          <p:nvPr/>
        </p:nvSpPr>
        <p:spPr>
          <a:xfrm>
            <a:off x="2240280" y="3108960"/>
            <a:ext cx="182880" cy="36576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423160" y="1828800"/>
            <a:ext cx="1691640" cy="2926080"/>
          </a:xfrm>
          <a:prstGeom prst="roundRect">
            <a:avLst>
              <a:gd name="adj" fmla="val 3243"/>
            </a:avLst>
          </a:prstGeom>
          <a:solidFill>
            <a:srgbClr val="EEF5F4"/>
          </a:solidFill>
          <a:ln/>
        </p:spPr>
        <p:txBody>
          <a:bodyPr/>
          <a:lstStyle/>
          <a:p>
            <a:endParaRPr lang="es-AR"/>
          </a:p>
        </p:txBody>
      </p:sp>
      <p:sp>
        <p:nvSpPr>
          <p:cNvPr id="12" name="Shape 10"/>
          <p:cNvSpPr/>
          <p:nvPr/>
        </p:nvSpPr>
        <p:spPr>
          <a:xfrm>
            <a:off x="3067812" y="2084832"/>
            <a:ext cx="402336" cy="402336"/>
          </a:xfrm>
          <a:prstGeom prst="ellipse">
            <a:avLst/>
          </a:prstGeom>
          <a:solidFill>
            <a:srgbClr val="00A896"/>
          </a:solidFill>
          <a:ln/>
        </p:spPr>
        <p:txBody>
          <a:bodyPr/>
          <a:lstStyle/>
          <a:p>
            <a:endParaRPr lang="es-AR"/>
          </a:p>
        </p:txBody>
      </p:sp>
      <p:sp>
        <p:nvSpPr>
          <p:cNvPr id="13" name="Text 11"/>
          <p:cNvSpPr txBox="1"/>
          <p:nvPr/>
        </p:nvSpPr>
        <p:spPr>
          <a:xfrm>
            <a:off x="3067812" y="208483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2496312" y="2670048"/>
            <a:ext cx="1545336" cy="292608"/>
          </a:xfrm>
          <a:prstGeom prst="rect">
            <a:avLst/>
          </a:prstGeom>
          <a:noFill/>
          <a:ln/>
        </p:spPr>
        <p:txBody>
          <a:bodyPr wrap="square" lIns="0" tIns="0" rIns="0" bIns="0" rtlCol="0" anchor="ctr"/>
          <a:lstStyle/>
          <a:p>
            <a:pPr marL="0" indent="0" algn="ctr">
              <a:buNone/>
            </a:pPr>
            <a:r>
              <a:rPr lang="en-US" sz="900" b="1" dirty="0">
                <a:solidFill>
                  <a:srgbClr val="1F2D36"/>
                </a:solidFill>
                <a:latin typeface="Courier New" pitchFamily="34" charset="0"/>
                <a:ea typeface="Courier New" pitchFamily="34" charset="-122"/>
                <a:cs typeface="Courier New" pitchFamily="34" charset="-120"/>
              </a:rPr>
              <a:t>/speckit-specify</a:t>
            </a:r>
            <a:endParaRPr lang="en-US" sz="900" dirty="0"/>
          </a:p>
        </p:txBody>
      </p:sp>
      <p:sp>
        <p:nvSpPr>
          <p:cNvPr id="15" name="Text 13"/>
          <p:cNvSpPr txBox="1"/>
          <p:nvPr/>
        </p:nvSpPr>
        <p:spPr>
          <a:xfrm>
            <a:off x="2532888" y="3054096"/>
            <a:ext cx="1472184" cy="777240"/>
          </a:xfrm>
          <a:prstGeom prst="rect">
            <a:avLst/>
          </a:prstGeom>
          <a:noFill/>
          <a:ln/>
        </p:spPr>
        <p:txBody>
          <a:bodyPr wrap="square" lIns="0" tIns="0" rIns="0" bIns="0" rtlCol="0" anchor="t"/>
          <a:lstStyle/>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El qué y el</a:t>
            </a:r>
            <a:endParaRPr lang="en-US" sz="1200" dirty="0"/>
          </a:p>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porqué</a:t>
            </a:r>
            <a:endParaRPr lang="en-US" sz="1200" dirty="0"/>
          </a:p>
        </p:txBody>
      </p:sp>
      <p:sp>
        <p:nvSpPr>
          <p:cNvPr id="16" name="Text 14"/>
          <p:cNvSpPr txBox="1"/>
          <p:nvPr/>
        </p:nvSpPr>
        <p:spPr>
          <a:xfrm>
            <a:off x="2532888" y="4279392"/>
            <a:ext cx="1472184" cy="292608"/>
          </a:xfrm>
          <a:prstGeom prst="rect">
            <a:avLst/>
          </a:prstGeom>
          <a:noFill/>
          <a:ln/>
        </p:spPr>
        <p:txBody>
          <a:bodyPr wrap="square" lIns="0" tIns="0" rIns="0" bIns="0" rtlCol="0" anchor="ctr"/>
          <a:lstStyle/>
          <a:p>
            <a:pPr marL="0" indent="0" algn="ctr">
              <a:buNone/>
            </a:pPr>
            <a:r>
              <a:rPr lang="en-US" sz="1050" dirty="0">
                <a:solidFill>
                  <a:srgbClr val="027A6E"/>
                </a:solidFill>
                <a:latin typeface="Courier New" pitchFamily="34" charset="0"/>
                <a:ea typeface="Courier New" pitchFamily="34" charset="-122"/>
                <a:cs typeface="Courier New" pitchFamily="34" charset="-120"/>
              </a:rPr>
              <a:t>spec.md</a:t>
            </a:r>
            <a:endParaRPr lang="en-US" sz="1050" dirty="0"/>
          </a:p>
        </p:txBody>
      </p:sp>
      <p:sp>
        <p:nvSpPr>
          <p:cNvPr id="17" name="Text 15"/>
          <p:cNvSpPr txBox="1"/>
          <p:nvPr/>
        </p:nvSpPr>
        <p:spPr>
          <a:xfrm>
            <a:off x="4114800" y="3108960"/>
            <a:ext cx="182880" cy="36576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4297680" y="1828800"/>
            <a:ext cx="1691640" cy="2926080"/>
          </a:xfrm>
          <a:prstGeom prst="roundRect">
            <a:avLst>
              <a:gd name="adj" fmla="val 3243"/>
            </a:avLst>
          </a:prstGeom>
          <a:solidFill>
            <a:srgbClr val="EEF5F4"/>
          </a:solidFill>
          <a:ln/>
        </p:spPr>
        <p:txBody>
          <a:bodyPr/>
          <a:lstStyle/>
          <a:p>
            <a:endParaRPr lang="es-AR"/>
          </a:p>
        </p:txBody>
      </p:sp>
      <p:sp>
        <p:nvSpPr>
          <p:cNvPr id="19" name="Shape 17"/>
          <p:cNvSpPr/>
          <p:nvPr/>
        </p:nvSpPr>
        <p:spPr>
          <a:xfrm>
            <a:off x="4942332" y="2084832"/>
            <a:ext cx="402336" cy="402336"/>
          </a:xfrm>
          <a:prstGeom prst="ellipse">
            <a:avLst/>
          </a:prstGeom>
          <a:solidFill>
            <a:srgbClr val="00A896"/>
          </a:solidFill>
          <a:ln/>
        </p:spPr>
        <p:txBody>
          <a:bodyPr/>
          <a:lstStyle/>
          <a:p>
            <a:endParaRPr lang="es-AR"/>
          </a:p>
        </p:txBody>
      </p:sp>
      <p:sp>
        <p:nvSpPr>
          <p:cNvPr id="20" name="Text 18"/>
          <p:cNvSpPr txBox="1"/>
          <p:nvPr/>
        </p:nvSpPr>
        <p:spPr>
          <a:xfrm>
            <a:off x="4942332" y="208483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4370832" y="2670048"/>
            <a:ext cx="1545336" cy="292608"/>
          </a:xfrm>
          <a:prstGeom prst="rect">
            <a:avLst/>
          </a:prstGeom>
          <a:noFill/>
          <a:ln/>
        </p:spPr>
        <p:txBody>
          <a:bodyPr wrap="square" lIns="0" tIns="0" rIns="0" bIns="0" rtlCol="0" anchor="ctr"/>
          <a:lstStyle/>
          <a:p>
            <a:pPr marL="0" indent="0" algn="ctr">
              <a:buNone/>
            </a:pPr>
            <a:r>
              <a:rPr lang="en-US" sz="900" b="1" dirty="0">
                <a:solidFill>
                  <a:srgbClr val="1F2D36"/>
                </a:solidFill>
                <a:latin typeface="Courier New" pitchFamily="34" charset="0"/>
                <a:ea typeface="Courier New" pitchFamily="34" charset="-122"/>
                <a:cs typeface="Courier New" pitchFamily="34" charset="-120"/>
              </a:rPr>
              <a:t>/speckit-plan</a:t>
            </a:r>
            <a:endParaRPr lang="en-US" sz="900" dirty="0"/>
          </a:p>
        </p:txBody>
      </p:sp>
      <p:sp>
        <p:nvSpPr>
          <p:cNvPr id="22" name="Text 20"/>
          <p:cNvSpPr txBox="1"/>
          <p:nvPr/>
        </p:nvSpPr>
        <p:spPr>
          <a:xfrm>
            <a:off x="4407408" y="3054096"/>
            <a:ext cx="1472184" cy="777240"/>
          </a:xfrm>
          <a:prstGeom prst="rect">
            <a:avLst/>
          </a:prstGeom>
          <a:noFill/>
          <a:ln/>
        </p:spPr>
        <p:txBody>
          <a:bodyPr wrap="square" lIns="0" tIns="0" rIns="0" bIns="0" rtlCol="0" anchor="t"/>
          <a:lstStyle/>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Stack y</a:t>
            </a:r>
            <a:endParaRPr lang="en-US" sz="1200" dirty="0"/>
          </a:p>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arquitectura</a:t>
            </a:r>
            <a:endParaRPr lang="en-US" sz="1200" dirty="0"/>
          </a:p>
        </p:txBody>
      </p:sp>
      <p:sp>
        <p:nvSpPr>
          <p:cNvPr id="23" name="Text 21"/>
          <p:cNvSpPr txBox="1"/>
          <p:nvPr/>
        </p:nvSpPr>
        <p:spPr>
          <a:xfrm>
            <a:off x="4407408" y="4279392"/>
            <a:ext cx="1472184" cy="292608"/>
          </a:xfrm>
          <a:prstGeom prst="rect">
            <a:avLst/>
          </a:prstGeom>
          <a:noFill/>
          <a:ln/>
        </p:spPr>
        <p:txBody>
          <a:bodyPr wrap="square" lIns="0" tIns="0" rIns="0" bIns="0" rtlCol="0" anchor="ctr"/>
          <a:lstStyle/>
          <a:p>
            <a:pPr marL="0" indent="0" algn="ctr">
              <a:buNone/>
            </a:pPr>
            <a:r>
              <a:rPr lang="en-US" sz="1050" dirty="0">
                <a:solidFill>
                  <a:srgbClr val="027A6E"/>
                </a:solidFill>
                <a:latin typeface="Courier New" pitchFamily="34" charset="0"/>
                <a:ea typeface="Courier New" pitchFamily="34" charset="-122"/>
                <a:cs typeface="Courier New" pitchFamily="34" charset="-120"/>
              </a:rPr>
              <a:t>plan.md</a:t>
            </a:r>
            <a:endParaRPr lang="en-US" sz="1050" dirty="0"/>
          </a:p>
        </p:txBody>
      </p:sp>
      <p:sp>
        <p:nvSpPr>
          <p:cNvPr id="24" name="Text 22"/>
          <p:cNvSpPr txBox="1"/>
          <p:nvPr/>
        </p:nvSpPr>
        <p:spPr>
          <a:xfrm>
            <a:off x="5989320" y="3108960"/>
            <a:ext cx="182880" cy="36576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25" name="Shape 23"/>
          <p:cNvSpPr/>
          <p:nvPr/>
        </p:nvSpPr>
        <p:spPr>
          <a:xfrm>
            <a:off x="6172200" y="1828800"/>
            <a:ext cx="1691640" cy="2926080"/>
          </a:xfrm>
          <a:prstGeom prst="roundRect">
            <a:avLst>
              <a:gd name="adj" fmla="val 3243"/>
            </a:avLst>
          </a:prstGeom>
          <a:solidFill>
            <a:srgbClr val="EEF5F4"/>
          </a:solidFill>
          <a:ln/>
        </p:spPr>
        <p:txBody>
          <a:bodyPr/>
          <a:lstStyle/>
          <a:p>
            <a:endParaRPr lang="es-AR"/>
          </a:p>
        </p:txBody>
      </p:sp>
      <p:sp>
        <p:nvSpPr>
          <p:cNvPr id="26" name="Shape 24"/>
          <p:cNvSpPr/>
          <p:nvPr/>
        </p:nvSpPr>
        <p:spPr>
          <a:xfrm>
            <a:off x="6816852" y="2084832"/>
            <a:ext cx="402336" cy="402336"/>
          </a:xfrm>
          <a:prstGeom prst="ellipse">
            <a:avLst/>
          </a:prstGeom>
          <a:solidFill>
            <a:srgbClr val="00A896"/>
          </a:solidFill>
          <a:ln/>
        </p:spPr>
        <p:txBody>
          <a:bodyPr/>
          <a:lstStyle/>
          <a:p>
            <a:endParaRPr lang="es-AR"/>
          </a:p>
        </p:txBody>
      </p:sp>
      <p:sp>
        <p:nvSpPr>
          <p:cNvPr id="27" name="Text 25"/>
          <p:cNvSpPr txBox="1"/>
          <p:nvPr/>
        </p:nvSpPr>
        <p:spPr>
          <a:xfrm>
            <a:off x="6816852" y="208483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6245352" y="2670048"/>
            <a:ext cx="1545336" cy="292608"/>
          </a:xfrm>
          <a:prstGeom prst="rect">
            <a:avLst/>
          </a:prstGeom>
          <a:noFill/>
          <a:ln/>
        </p:spPr>
        <p:txBody>
          <a:bodyPr wrap="square" lIns="0" tIns="0" rIns="0" bIns="0" rtlCol="0" anchor="ctr"/>
          <a:lstStyle/>
          <a:p>
            <a:pPr marL="0" indent="0" algn="ctr">
              <a:buNone/>
            </a:pPr>
            <a:r>
              <a:rPr lang="en-US" sz="900" b="1" dirty="0">
                <a:solidFill>
                  <a:srgbClr val="1F2D36"/>
                </a:solidFill>
                <a:latin typeface="Courier New" pitchFamily="34" charset="0"/>
                <a:ea typeface="Courier New" pitchFamily="34" charset="-122"/>
                <a:cs typeface="Courier New" pitchFamily="34" charset="-120"/>
              </a:rPr>
              <a:t>/speckit-tasks</a:t>
            </a:r>
            <a:endParaRPr lang="en-US" sz="900" dirty="0"/>
          </a:p>
        </p:txBody>
      </p:sp>
      <p:sp>
        <p:nvSpPr>
          <p:cNvPr id="29" name="Text 27"/>
          <p:cNvSpPr txBox="1"/>
          <p:nvPr/>
        </p:nvSpPr>
        <p:spPr>
          <a:xfrm>
            <a:off x="6281928" y="3054096"/>
            <a:ext cx="1472184" cy="777240"/>
          </a:xfrm>
          <a:prstGeom prst="rect">
            <a:avLst/>
          </a:prstGeom>
          <a:noFill/>
          <a:ln/>
        </p:spPr>
        <p:txBody>
          <a:bodyPr wrap="square" lIns="0" tIns="0" rIns="0" bIns="0" rtlCol="0" anchor="t"/>
          <a:lstStyle/>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Tareas chicas</a:t>
            </a:r>
            <a:endParaRPr lang="en-US" sz="1200" dirty="0"/>
          </a:p>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y ordenadas</a:t>
            </a:r>
            <a:endParaRPr lang="en-US" sz="1200" dirty="0"/>
          </a:p>
        </p:txBody>
      </p:sp>
      <p:sp>
        <p:nvSpPr>
          <p:cNvPr id="30" name="Text 28"/>
          <p:cNvSpPr txBox="1"/>
          <p:nvPr/>
        </p:nvSpPr>
        <p:spPr>
          <a:xfrm>
            <a:off x="6281928" y="4279392"/>
            <a:ext cx="1472184" cy="292608"/>
          </a:xfrm>
          <a:prstGeom prst="rect">
            <a:avLst/>
          </a:prstGeom>
          <a:noFill/>
          <a:ln/>
        </p:spPr>
        <p:txBody>
          <a:bodyPr wrap="square" lIns="0" tIns="0" rIns="0" bIns="0" rtlCol="0" anchor="ctr"/>
          <a:lstStyle/>
          <a:p>
            <a:pPr marL="0" indent="0" algn="ctr">
              <a:buNone/>
            </a:pPr>
            <a:r>
              <a:rPr lang="en-US" sz="1050" dirty="0">
                <a:solidFill>
                  <a:srgbClr val="027A6E"/>
                </a:solidFill>
                <a:latin typeface="Courier New" pitchFamily="34" charset="0"/>
                <a:ea typeface="Courier New" pitchFamily="34" charset="-122"/>
                <a:cs typeface="Courier New" pitchFamily="34" charset="-120"/>
              </a:rPr>
              <a:t>tasks.md</a:t>
            </a:r>
            <a:endParaRPr lang="en-US" sz="1050" dirty="0"/>
          </a:p>
        </p:txBody>
      </p:sp>
      <p:sp>
        <p:nvSpPr>
          <p:cNvPr id="31" name="Text 29"/>
          <p:cNvSpPr txBox="1"/>
          <p:nvPr/>
        </p:nvSpPr>
        <p:spPr>
          <a:xfrm>
            <a:off x="7863840" y="3108960"/>
            <a:ext cx="182880" cy="36576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32" name="Shape 30"/>
          <p:cNvSpPr/>
          <p:nvPr/>
        </p:nvSpPr>
        <p:spPr>
          <a:xfrm>
            <a:off x="8046720" y="1828800"/>
            <a:ext cx="1691640" cy="2926080"/>
          </a:xfrm>
          <a:prstGeom prst="roundRect">
            <a:avLst>
              <a:gd name="adj" fmla="val 3243"/>
            </a:avLst>
          </a:prstGeom>
          <a:solidFill>
            <a:srgbClr val="EEF5F4"/>
          </a:solidFill>
          <a:ln/>
        </p:spPr>
        <p:txBody>
          <a:bodyPr/>
          <a:lstStyle/>
          <a:p>
            <a:endParaRPr lang="es-AR"/>
          </a:p>
        </p:txBody>
      </p:sp>
      <p:sp>
        <p:nvSpPr>
          <p:cNvPr id="33" name="Shape 31"/>
          <p:cNvSpPr/>
          <p:nvPr/>
        </p:nvSpPr>
        <p:spPr>
          <a:xfrm>
            <a:off x="8691372" y="2084832"/>
            <a:ext cx="402336" cy="402336"/>
          </a:xfrm>
          <a:prstGeom prst="ellipse">
            <a:avLst/>
          </a:prstGeom>
          <a:solidFill>
            <a:srgbClr val="00A896"/>
          </a:solidFill>
          <a:ln/>
        </p:spPr>
        <p:txBody>
          <a:bodyPr/>
          <a:lstStyle/>
          <a:p>
            <a:endParaRPr lang="es-AR"/>
          </a:p>
        </p:txBody>
      </p:sp>
      <p:sp>
        <p:nvSpPr>
          <p:cNvPr id="34" name="Text 32"/>
          <p:cNvSpPr txBox="1"/>
          <p:nvPr/>
        </p:nvSpPr>
        <p:spPr>
          <a:xfrm>
            <a:off x="8691372" y="208483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5" name="Text 33"/>
          <p:cNvSpPr txBox="1"/>
          <p:nvPr/>
        </p:nvSpPr>
        <p:spPr>
          <a:xfrm>
            <a:off x="8119872" y="2670048"/>
            <a:ext cx="1545336" cy="292608"/>
          </a:xfrm>
          <a:prstGeom prst="rect">
            <a:avLst/>
          </a:prstGeom>
          <a:noFill/>
          <a:ln/>
        </p:spPr>
        <p:txBody>
          <a:bodyPr wrap="square" lIns="0" tIns="0" rIns="0" bIns="0" rtlCol="0" anchor="ctr"/>
          <a:lstStyle/>
          <a:p>
            <a:pPr marL="0" indent="0" algn="ctr">
              <a:buNone/>
            </a:pPr>
            <a:r>
              <a:rPr lang="en-US" sz="900" b="1" dirty="0">
                <a:solidFill>
                  <a:srgbClr val="1F2D36"/>
                </a:solidFill>
                <a:latin typeface="Courier New" pitchFamily="34" charset="0"/>
                <a:ea typeface="Courier New" pitchFamily="34" charset="-122"/>
                <a:cs typeface="Courier New" pitchFamily="34" charset="-120"/>
              </a:rPr>
              <a:t>/speckit-implement</a:t>
            </a:r>
            <a:endParaRPr lang="en-US" sz="900" dirty="0"/>
          </a:p>
        </p:txBody>
      </p:sp>
      <p:sp>
        <p:nvSpPr>
          <p:cNvPr id="36" name="Text 34"/>
          <p:cNvSpPr txBox="1"/>
          <p:nvPr/>
        </p:nvSpPr>
        <p:spPr>
          <a:xfrm>
            <a:off x="8156448" y="3054096"/>
            <a:ext cx="1472184" cy="777240"/>
          </a:xfrm>
          <a:prstGeom prst="rect">
            <a:avLst/>
          </a:prstGeom>
          <a:noFill/>
          <a:ln/>
        </p:spPr>
        <p:txBody>
          <a:bodyPr wrap="square" lIns="0" tIns="0" rIns="0" bIns="0" rtlCol="0" anchor="t"/>
          <a:lstStyle/>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Ejecución de</a:t>
            </a:r>
            <a:endParaRPr lang="en-US" sz="1200" dirty="0"/>
          </a:p>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las tareas</a:t>
            </a:r>
            <a:endParaRPr lang="en-US" sz="1200" dirty="0"/>
          </a:p>
        </p:txBody>
      </p:sp>
      <p:sp>
        <p:nvSpPr>
          <p:cNvPr id="37" name="Text 35"/>
          <p:cNvSpPr txBox="1"/>
          <p:nvPr/>
        </p:nvSpPr>
        <p:spPr>
          <a:xfrm>
            <a:off x="8156448" y="4279392"/>
            <a:ext cx="1472184" cy="292608"/>
          </a:xfrm>
          <a:prstGeom prst="rect">
            <a:avLst/>
          </a:prstGeom>
          <a:noFill/>
          <a:ln/>
        </p:spPr>
        <p:txBody>
          <a:bodyPr wrap="square" lIns="0" tIns="0" rIns="0" bIns="0" rtlCol="0" anchor="ctr"/>
          <a:lstStyle/>
          <a:p>
            <a:pPr marL="0" indent="0" algn="ctr">
              <a:buNone/>
            </a:pPr>
            <a:r>
              <a:rPr lang="en-US" sz="1050" dirty="0">
                <a:solidFill>
                  <a:srgbClr val="027A6E"/>
                </a:solidFill>
                <a:latin typeface="Courier New" pitchFamily="34" charset="0"/>
                <a:ea typeface="Courier New" pitchFamily="34" charset="-122"/>
                <a:cs typeface="Courier New" pitchFamily="34" charset="-120"/>
              </a:rPr>
              <a:t>código</a:t>
            </a:r>
            <a:endParaRPr lang="en-US" sz="1050" dirty="0"/>
          </a:p>
        </p:txBody>
      </p:sp>
      <p:sp>
        <p:nvSpPr>
          <p:cNvPr id="38" name="Text 36"/>
          <p:cNvSpPr txBox="1"/>
          <p:nvPr/>
        </p:nvSpPr>
        <p:spPr>
          <a:xfrm>
            <a:off x="9738360" y="3108960"/>
            <a:ext cx="182880" cy="36576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39" name="Shape 37"/>
          <p:cNvSpPr/>
          <p:nvPr/>
        </p:nvSpPr>
        <p:spPr>
          <a:xfrm>
            <a:off x="9921240" y="1828800"/>
            <a:ext cx="1691640" cy="2926080"/>
          </a:xfrm>
          <a:prstGeom prst="roundRect">
            <a:avLst>
              <a:gd name="adj" fmla="val 3243"/>
            </a:avLst>
          </a:prstGeom>
          <a:solidFill>
            <a:srgbClr val="EEF5F4"/>
          </a:solidFill>
          <a:ln/>
        </p:spPr>
        <p:txBody>
          <a:bodyPr/>
          <a:lstStyle/>
          <a:p>
            <a:endParaRPr lang="es-AR"/>
          </a:p>
        </p:txBody>
      </p:sp>
      <p:sp>
        <p:nvSpPr>
          <p:cNvPr id="40" name="Shape 38"/>
          <p:cNvSpPr/>
          <p:nvPr/>
        </p:nvSpPr>
        <p:spPr>
          <a:xfrm>
            <a:off x="10565892" y="2084832"/>
            <a:ext cx="402336" cy="402336"/>
          </a:xfrm>
          <a:prstGeom prst="ellipse">
            <a:avLst/>
          </a:prstGeom>
          <a:solidFill>
            <a:srgbClr val="027A6E"/>
          </a:solidFill>
          <a:ln/>
        </p:spPr>
        <p:txBody>
          <a:bodyPr/>
          <a:lstStyle/>
          <a:p>
            <a:endParaRPr lang="es-AR"/>
          </a:p>
        </p:txBody>
      </p:sp>
      <p:sp>
        <p:nvSpPr>
          <p:cNvPr id="41" name="Text 39"/>
          <p:cNvSpPr txBox="1"/>
          <p:nvPr/>
        </p:nvSpPr>
        <p:spPr>
          <a:xfrm>
            <a:off x="10565892" y="208483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42" name="Text 40"/>
          <p:cNvSpPr txBox="1"/>
          <p:nvPr/>
        </p:nvSpPr>
        <p:spPr>
          <a:xfrm>
            <a:off x="9994392" y="2670048"/>
            <a:ext cx="1545336" cy="292608"/>
          </a:xfrm>
          <a:prstGeom prst="rect">
            <a:avLst/>
          </a:prstGeom>
          <a:noFill/>
          <a:ln/>
        </p:spPr>
        <p:txBody>
          <a:bodyPr wrap="square" lIns="0" tIns="0" rIns="0" bIns="0" rtlCol="0" anchor="ctr"/>
          <a:lstStyle/>
          <a:p>
            <a:pPr marL="0" indent="0" algn="ctr">
              <a:buNone/>
            </a:pPr>
            <a:r>
              <a:rPr lang="en-US" sz="900" b="1" dirty="0">
                <a:solidFill>
                  <a:srgbClr val="1F2D36"/>
                </a:solidFill>
                <a:latin typeface="Courier New" pitchFamily="34" charset="0"/>
                <a:ea typeface="Courier New" pitchFamily="34" charset="-122"/>
                <a:cs typeface="Courier New" pitchFamily="34" charset="-120"/>
              </a:rPr>
              <a:t>/speckit-converge</a:t>
            </a:r>
            <a:endParaRPr lang="en-US" sz="900" dirty="0"/>
          </a:p>
        </p:txBody>
      </p:sp>
      <p:sp>
        <p:nvSpPr>
          <p:cNvPr id="43" name="Text 41"/>
          <p:cNvSpPr txBox="1"/>
          <p:nvPr/>
        </p:nvSpPr>
        <p:spPr>
          <a:xfrm>
            <a:off x="10030968" y="3054096"/>
            <a:ext cx="1472184" cy="777240"/>
          </a:xfrm>
          <a:prstGeom prst="rect">
            <a:avLst/>
          </a:prstGeom>
          <a:noFill/>
          <a:ln/>
        </p:spPr>
        <p:txBody>
          <a:bodyPr wrap="square" lIns="0" tIns="0" rIns="0" bIns="0" rtlCol="0" anchor="t"/>
          <a:lstStyle/>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Código real</a:t>
            </a:r>
            <a:endParaRPr lang="en-US" sz="1200" dirty="0"/>
          </a:p>
          <a:p>
            <a:pPr marL="0" indent="0" algn="ctr">
              <a:lnSpc>
                <a:spcPts val="1500"/>
              </a:lnSpc>
              <a:buNone/>
            </a:pPr>
            <a:r>
              <a:rPr lang="en-US" sz="1200" dirty="0">
                <a:solidFill>
                  <a:srgbClr val="6B7C87"/>
                </a:solidFill>
                <a:latin typeface="Calibri" pitchFamily="34" charset="0"/>
                <a:ea typeface="Calibri" pitchFamily="34" charset="-122"/>
                <a:cs typeface="Calibri" pitchFamily="34" charset="-120"/>
              </a:rPr>
              <a:t>vs. spec</a:t>
            </a:r>
            <a:endParaRPr lang="en-US" sz="1200" dirty="0"/>
          </a:p>
        </p:txBody>
      </p:sp>
      <p:sp>
        <p:nvSpPr>
          <p:cNvPr id="44" name="Text 42"/>
          <p:cNvSpPr txBox="1"/>
          <p:nvPr/>
        </p:nvSpPr>
        <p:spPr>
          <a:xfrm>
            <a:off x="10030968" y="4279392"/>
            <a:ext cx="1472184" cy="292608"/>
          </a:xfrm>
          <a:prstGeom prst="rect">
            <a:avLst/>
          </a:prstGeom>
          <a:noFill/>
          <a:ln/>
        </p:spPr>
        <p:txBody>
          <a:bodyPr wrap="square" lIns="0" tIns="0" rIns="0" bIns="0" rtlCol="0" anchor="ctr"/>
          <a:lstStyle/>
          <a:p>
            <a:pPr marL="0" indent="0" algn="ctr">
              <a:buNone/>
            </a:pPr>
            <a:r>
              <a:rPr lang="en-US" sz="1050" dirty="0">
                <a:solidFill>
                  <a:srgbClr val="027A6E"/>
                </a:solidFill>
                <a:latin typeface="Courier New" pitchFamily="34" charset="0"/>
                <a:ea typeface="Courier New" pitchFamily="34" charset="-122"/>
                <a:cs typeface="Courier New" pitchFamily="34" charset="-120"/>
              </a:rPr>
              <a:t>informe</a:t>
            </a:r>
            <a:endParaRPr lang="en-US" sz="1050" dirty="0"/>
          </a:p>
        </p:txBody>
      </p:sp>
      <p:sp>
        <p:nvSpPr>
          <p:cNvPr id="45" name="Shape 43"/>
          <p:cNvSpPr/>
          <p:nvPr/>
        </p:nvSpPr>
        <p:spPr>
          <a:xfrm>
            <a:off x="548640" y="5120640"/>
            <a:ext cx="11091672" cy="914400"/>
          </a:xfrm>
          <a:prstGeom prst="roundRect">
            <a:avLst>
              <a:gd name="adj" fmla="val 6000"/>
            </a:avLst>
          </a:prstGeom>
          <a:solidFill>
            <a:srgbClr val="F2F4F5"/>
          </a:solidFill>
          <a:ln/>
        </p:spPr>
        <p:txBody>
          <a:bodyPr/>
          <a:lstStyle/>
          <a:p>
            <a:endParaRPr lang="es-AR"/>
          </a:p>
        </p:txBody>
      </p:sp>
      <p:sp>
        <p:nvSpPr>
          <p:cNvPr id="46" name="Text 44"/>
          <p:cNvSpPr txBox="1"/>
          <p:nvPr/>
        </p:nvSpPr>
        <p:spPr>
          <a:xfrm>
            <a:off x="868680" y="5120640"/>
            <a:ext cx="10451592" cy="914400"/>
          </a:xfrm>
          <a:prstGeom prst="rect">
            <a:avLst/>
          </a:prstGeom>
          <a:noFill/>
          <a:ln/>
        </p:spPr>
        <p:txBody>
          <a:bodyPr wrap="square" lIns="0" tIns="0" rIns="0" bIns="0" rtlCol="0" anchor="ctr"/>
          <a:lstStyle/>
          <a:p>
            <a:pPr marL="0" indent="0">
              <a:buNone/>
            </a:pPr>
            <a:r>
              <a:rPr lang="en-US" sz="1200" b="1" dirty="0">
                <a:solidFill>
                  <a:srgbClr val="1F2D36"/>
                </a:solidFill>
                <a:latin typeface="Calibri" pitchFamily="34" charset="0"/>
                <a:ea typeface="Calibri" pitchFamily="34" charset="-122"/>
                <a:cs typeface="Calibri" pitchFamily="34" charset="-120"/>
              </a:rPr>
              <a:t>Opcionales, dentro de la vuelta:  </a:t>
            </a:r>
            <a:r>
              <a:rPr lang="en-US" sz="1200" dirty="0">
                <a:solidFill>
                  <a:srgbClr val="027A6E"/>
                </a:solidFill>
                <a:latin typeface="Courier New" pitchFamily="34" charset="0"/>
                <a:ea typeface="Courier New" pitchFamily="34" charset="-122"/>
                <a:cs typeface="Courier New" pitchFamily="34" charset="-120"/>
              </a:rPr>
              <a:t>/speckit-clarify</a:t>
            </a:r>
            <a:r>
              <a:rPr lang="en-US" sz="1200" dirty="0">
                <a:solidFill>
                  <a:srgbClr val="6B7C87"/>
                </a:solidFill>
                <a:latin typeface="Calibri" pitchFamily="34" charset="0"/>
                <a:ea typeface="Calibri" pitchFamily="34" charset="-122"/>
                <a:cs typeface="Calibri" pitchFamily="34" charset="-120"/>
              </a:rPr>
              <a:t> ambigüedades  ·  </a:t>
            </a:r>
            <a:r>
              <a:rPr lang="en-US" sz="1200" dirty="0">
                <a:solidFill>
                  <a:srgbClr val="027A6E"/>
                </a:solidFill>
                <a:latin typeface="Courier New" pitchFamily="34" charset="0"/>
                <a:ea typeface="Courier New" pitchFamily="34" charset="-122"/>
                <a:cs typeface="Courier New" pitchFamily="34" charset="-120"/>
              </a:rPr>
              <a:t>/speckit-checklist</a:t>
            </a:r>
            <a:r>
              <a:rPr lang="en-US" sz="1200" dirty="0">
                <a:solidFill>
                  <a:srgbClr val="6B7C87"/>
                </a:solidFill>
                <a:latin typeface="Calibri" pitchFamily="34" charset="0"/>
                <a:ea typeface="Calibri" pitchFamily="34" charset="-122"/>
                <a:cs typeface="Calibri" pitchFamily="34" charset="-120"/>
              </a:rPr>
              <a:t> calidad de requisitos  ·  </a:t>
            </a:r>
            <a:r>
              <a:rPr lang="en-US" sz="1200" dirty="0">
                <a:solidFill>
                  <a:srgbClr val="027A6E"/>
                </a:solidFill>
                <a:latin typeface="Courier New" pitchFamily="34" charset="0"/>
                <a:ea typeface="Courier New" pitchFamily="34" charset="-122"/>
                <a:cs typeface="Courier New" pitchFamily="34" charset="-120"/>
              </a:rPr>
              <a:t>/speckit-analyze</a:t>
            </a:r>
            <a:r>
              <a:rPr lang="en-US" sz="1200" dirty="0">
                <a:solidFill>
                  <a:srgbClr val="6B7C87"/>
                </a:solidFill>
                <a:latin typeface="Calibri" pitchFamily="34" charset="0"/>
                <a:ea typeface="Calibri" pitchFamily="34" charset="-122"/>
                <a:cs typeface="Calibri" pitchFamily="34" charset="-120"/>
              </a:rPr>
              <a:t> consistencia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ALCANCE</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1F2D36"/>
                </a:solidFill>
                <a:latin typeface="Calibri" pitchFamily="34" charset="0"/>
                <a:ea typeface="Calibri" pitchFamily="34" charset="-122"/>
                <a:cs typeface="Calibri" pitchFamily="34" charset="-120"/>
              </a:rPr>
              <a:t>La constitución no entra en el ciclo por feature</a:t>
            </a:r>
            <a:endParaRPr lang="en-US" sz="3400" dirty="0"/>
          </a:p>
        </p:txBody>
      </p:sp>
      <p:sp>
        <p:nvSpPr>
          <p:cNvPr id="4" name="Shape 2"/>
          <p:cNvSpPr/>
          <p:nvPr/>
        </p:nvSpPr>
        <p:spPr>
          <a:xfrm>
            <a:off x="548640" y="1600200"/>
            <a:ext cx="5349240" cy="4434840"/>
          </a:xfrm>
          <a:prstGeom prst="roundRect">
            <a:avLst>
              <a:gd name="adj" fmla="val 1237"/>
            </a:avLst>
          </a:prstGeom>
          <a:solidFill>
            <a:srgbClr val="16232B"/>
          </a:solidFill>
          <a:ln/>
        </p:spPr>
        <p:txBody>
          <a:bodyPr/>
          <a:lstStyle/>
          <a:p>
            <a:endParaRPr lang="es-AR"/>
          </a:p>
        </p:txBody>
      </p:sp>
      <p:sp>
        <p:nvSpPr>
          <p:cNvPr id="5" name="Text 3"/>
          <p:cNvSpPr txBox="1"/>
          <p:nvPr/>
        </p:nvSpPr>
        <p:spPr>
          <a:xfrm>
            <a:off x="960120" y="1965960"/>
            <a:ext cx="4572000" cy="274320"/>
          </a:xfrm>
          <a:prstGeom prst="rect">
            <a:avLst/>
          </a:prstGeom>
          <a:noFill/>
          <a:ln/>
        </p:spPr>
        <p:txBody>
          <a:bodyPr wrap="square" lIns="0" tIns="0" rIns="0" bIns="0" rtlCol="0" anchor="ctr"/>
          <a:lstStyle/>
          <a:p>
            <a:pPr marL="0" indent="0">
              <a:buNone/>
            </a:pPr>
            <a:r>
              <a:rPr lang="en-US" sz="1100" b="1" kern="0" spc="200" dirty="0">
                <a:solidFill>
                  <a:srgbClr val="E08A3C"/>
                </a:solidFill>
                <a:latin typeface="Calibri" pitchFamily="34" charset="0"/>
                <a:ea typeface="Calibri" pitchFamily="34" charset="-122"/>
                <a:cs typeface="Calibri" pitchFamily="34" charset="-120"/>
              </a:rPr>
              <a:t>ALCANCE PROYECTO</a:t>
            </a:r>
            <a:endParaRPr lang="en-US" sz="1100" dirty="0"/>
          </a:p>
        </p:txBody>
      </p:sp>
      <p:sp>
        <p:nvSpPr>
          <p:cNvPr id="6" name="Text 4"/>
          <p:cNvSpPr txBox="1"/>
          <p:nvPr/>
        </p:nvSpPr>
        <p:spPr>
          <a:xfrm>
            <a:off x="960120" y="2331720"/>
            <a:ext cx="4572000" cy="41148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Una vez, y se enmienda</a:t>
            </a:r>
            <a:endParaRPr lang="en-US" sz="2400" dirty="0"/>
          </a:p>
        </p:txBody>
      </p:sp>
      <p:sp>
        <p:nvSpPr>
          <p:cNvPr id="7" name="Text 5"/>
          <p:cNvSpPr txBox="1"/>
          <p:nvPr/>
        </p:nvSpPr>
        <p:spPr>
          <a:xfrm>
            <a:off x="960120" y="2926080"/>
            <a:ext cx="4572000" cy="1097280"/>
          </a:xfrm>
          <a:prstGeom prst="rect">
            <a:avLst/>
          </a:prstGeom>
          <a:noFill/>
          <a:ln/>
        </p:spPr>
        <p:txBody>
          <a:bodyPr wrap="square" lIns="0" tIns="0" rIns="0" bIns="0" rtlCol="0" anchor="t"/>
          <a:lstStyle/>
          <a:p>
            <a:pPr marL="0" indent="0">
              <a:lnSpc>
                <a:spcPts val="1900"/>
              </a:lnSpc>
              <a:buNone/>
            </a:pPr>
            <a:r>
              <a:rPr lang="en-US" sz="1300" dirty="0">
                <a:solidFill>
                  <a:srgbClr val="E08A3C"/>
                </a:solidFill>
                <a:latin typeface="Courier New" pitchFamily="34" charset="0"/>
                <a:ea typeface="Courier New" pitchFamily="34" charset="-122"/>
                <a:cs typeface="Courier New" pitchFamily="34" charset="-120"/>
              </a:rPr>
              <a:t>/speckit-constitution</a:t>
            </a:r>
            <a:r>
              <a:rPr lang="en-US" sz="1300" dirty="0">
                <a:solidFill>
                  <a:srgbClr val="A9BFC4"/>
                </a:solidFill>
                <a:latin typeface="Calibri" pitchFamily="34" charset="0"/>
                <a:ea typeface="Calibri" pitchFamily="34" charset="-122"/>
                <a:cs typeface="Calibri" pitchFamily="34" charset="-120"/>
              </a:rPr>
              <a:t> escribe </a:t>
            </a:r>
            <a:r>
              <a:rPr lang="en-US" sz="1300" dirty="0">
                <a:solidFill>
                  <a:srgbClr val="FFFFFF"/>
                </a:solidFill>
                <a:latin typeface="Courier New" pitchFamily="34" charset="0"/>
                <a:ea typeface="Courier New" pitchFamily="34" charset="-122"/>
                <a:cs typeface="Courier New" pitchFamily="34" charset="-120"/>
              </a:rPr>
              <a:t>.specify/memory/constitution.md</a:t>
            </a:r>
            <a:r>
              <a:rPr lang="en-US" sz="1300" dirty="0">
                <a:solidFill>
                  <a:srgbClr val="A9BFC4"/>
                </a:solidFill>
                <a:latin typeface="Calibri" pitchFamily="34" charset="0"/>
                <a:ea typeface="Calibri" pitchFamily="34" charset="-122"/>
                <a:cs typeface="Calibri" pitchFamily="34" charset="-120"/>
              </a:rPr>
              <a:t>. Los demás comandos lo leen en runtime, cada vez.</a:t>
            </a:r>
            <a:endParaRPr lang="en-US" sz="1300" dirty="0"/>
          </a:p>
        </p:txBody>
      </p:sp>
      <p:sp>
        <p:nvSpPr>
          <p:cNvPr id="8" name="Text 6"/>
          <p:cNvSpPr txBox="1"/>
          <p:nvPr/>
        </p:nvSpPr>
        <p:spPr>
          <a:xfrm>
            <a:off x="960120" y="4343400"/>
            <a:ext cx="4572000" cy="1371600"/>
          </a:xfrm>
          <a:prstGeom prst="rect">
            <a:avLst/>
          </a:prstGeom>
          <a:noFill/>
          <a:ln/>
        </p:spPr>
        <p:txBody>
          <a:bodyPr wrap="square" lIns="0" tIns="0" rIns="0" bIns="0" rtlCol="0" anchor="t"/>
          <a:lstStyle/>
          <a:p>
            <a:pPr marL="0" indent="0">
              <a:lnSpc>
                <a:spcPts val="1800"/>
              </a:lnSpc>
              <a:buNone/>
            </a:pPr>
            <a:r>
              <a:rPr lang="en-US" sz="1250" dirty="0">
                <a:solidFill>
                  <a:srgbClr val="8FA3AA"/>
                </a:solidFill>
                <a:latin typeface="Calibri" pitchFamily="34" charset="0"/>
                <a:ea typeface="Calibri" pitchFamily="34" charset="-122"/>
                <a:cs typeface="Calibri" pitchFamily="34" charset="-120"/>
              </a:rPr>
              <a:t>Versionado semántico incorporado: MAJOR para cambios de gobernanza, MINOR para principios nuevos, PATCH para aclaraciones. Se vuelve a ella por decisión deliberada, no por rutina.</a:t>
            </a:r>
            <a:endParaRPr lang="en-US" sz="1250" dirty="0"/>
          </a:p>
        </p:txBody>
      </p:sp>
      <p:sp>
        <p:nvSpPr>
          <p:cNvPr id="9" name="Shape 7"/>
          <p:cNvSpPr/>
          <p:nvPr/>
        </p:nvSpPr>
        <p:spPr>
          <a:xfrm>
            <a:off x="6309360" y="1600200"/>
            <a:ext cx="5330952" cy="4434840"/>
          </a:xfrm>
          <a:prstGeom prst="roundRect">
            <a:avLst>
              <a:gd name="adj" fmla="val 1237"/>
            </a:avLst>
          </a:prstGeom>
          <a:solidFill>
            <a:srgbClr val="EEF5F4"/>
          </a:solidFill>
          <a:ln/>
        </p:spPr>
        <p:txBody>
          <a:bodyPr/>
          <a:lstStyle/>
          <a:p>
            <a:endParaRPr lang="es-AR"/>
          </a:p>
        </p:txBody>
      </p:sp>
      <p:sp>
        <p:nvSpPr>
          <p:cNvPr id="10" name="Text 8"/>
          <p:cNvSpPr txBox="1"/>
          <p:nvPr/>
        </p:nvSpPr>
        <p:spPr>
          <a:xfrm>
            <a:off x="6720840" y="1965960"/>
            <a:ext cx="4572000" cy="274320"/>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ALCANCE FEATURE</a:t>
            </a:r>
            <a:endParaRPr lang="en-US" sz="1100" dirty="0"/>
          </a:p>
        </p:txBody>
      </p:sp>
      <p:sp>
        <p:nvSpPr>
          <p:cNvPr id="11" name="Text 9"/>
          <p:cNvSpPr txBox="1"/>
          <p:nvPr/>
        </p:nvSpPr>
        <p:spPr>
          <a:xfrm>
            <a:off x="6720840" y="2331720"/>
            <a:ext cx="4572000" cy="411480"/>
          </a:xfrm>
          <a:prstGeom prst="rect">
            <a:avLst/>
          </a:prstGeom>
          <a:noFill/>
          <a:ln/>
        </p:spPr>
        <p:txBody>
          <a:bodyPr wrap="square" lIns="0" tIns="0" rIns="0" bIns="0" rtlCol="0" anchor="ctr"/>
          <a:lstStyle/>
          <a:p>
            <a:pPr marL="0" indent="0">
              <a:buNone/>
            </a:pPr>
            <a:r>
              <a:rPr lang="en-US" sz="2400" b="1" dirty="0">
                <a:solidFill>
                  <a:srgbClr val="1F2D36"/>
                </a:solidFill>
                <a:latin typeface="Calibri" pitchFamily="34" charset="0"/>
                <a:ea typeface="Calibri" pitchFamily="34" charset="-122"/>
                <a:cs typeface="Calibri" pitchFamily="34" charset="-120"/>
              </a:rPr>
              <a:t>Una vuelta por cada una</a:t>
            </a:r>
            <a:endParaRPr lang="en-US" sz="2400" dirty="0"/>
          </a:p>
        </p:txBody>
      </p:sp>
      <p:sp>
        <p:nvSpPr>
          <p:cNvPr id="12" name="Text 10"/>
          <p:cNvSpPr txBox="1"/>
          <p:nvPr/>
        </p:nvSpPr>
        <p:spPr>
          <a:xfrm>
            <a:off x="6720840" y="2926080"/>
            <a:ext cx="4526280" cy="1463040"/>
          </a:xfrm>
          <a:prstGeom prst="rect">
            <a:avLst/>
          </a:prstGeom>
          <a:noFill/>
          <a:ln/>
        </p:spPr>
        <p:txBody>
          <a:bodyPr wrap="square" lIns="0" tIns="0" rIns="0" bIns="0" rtlCol="0" anchor="t"/>
          <a:lstStyle/>
          <a:p>
            <a:pPr marL="0" indent="0">
              <a:lnSpc>
                <a:spcPts val="1900"/>
              </a:lnSpc>
              <a:buNone/>
            </a:pPr>
            <a:r>
              <a:rPr lang="en-US" sz="1300" b="1" dirty="0">
                <a:solidFill>
                  <a:srgbClr val="027A6E"/>
                </a:solidFill>
                <a:latin typeface="Courier New" pitchFamily="34" charset="0"/>
                <a:ea typeface="Courier New" pitchFamily="34" charset="-122"/>
                <a:cs typeface="Courier New" pitchFamily="34" charset="-120"/>
              </a:rPr>
              <a:t>/speckit-specify › /speckit-plan</a:t>
            </a:r>
            <a:endParaRPr lang="en-US" sz="1300" dirty="0"/>
          </a:p>
          <a:p>
            <a:pPr marL="0" indent="0">
              <a:lnSpc>
                <a:spcPts val="1900"/>
              </a:lnSpc>
              <a:buNone/>
            </a:pPr>
            <a:r>
              <a:rPr lang="en-US" sz="1300" b="1" dirty="0">
                <a:solidFill>
                  <a:srgbClr val="027A6E"/>
                </a:solidFill>
                <a:latin typeface="Courier New" pitchFamily="34" charset="0"/>
                <a:ea typeface="Courier New" pitchFamily="34" charset="-122"/>
                <a:cs typeface="Courier New" pitchFamily="34" charset="-120"/>
              </a:rPr>
              <a:t>/speckit-tasks › /speckit-implement</a:t>
            </a:r>
            <a:endParaRPr lang="en-US" sz="1300" dirty="0"/>
          </a:p>
          <a:p>
            <a:pPr marL="0" indent="0">
              <a:lnSpc>
                <a:spcPts val="1900"/>
              </a:lnSpc>
              <a:buNone/>
            </a:pPr>
            <a:endParaRPr lang="en-US" sz="1300" dirty="0"/>
          </a:p>
          <a:p>
            <a:pPr marL="0" indent="0">
              <a:lnSpc>
                <a:spcPts val="1900"/>
              </a:lnSpc>
              <a:buNone/>
            </a:pPr>
            <a:endParaRPr lang="en-US" sz="1300" dirty="0"/>
          </a:p>
          <a:p>
            <a:pPr marL="0" indent="0">
              <a:lnSpc>
                <a:spcPts val="1900"/>
              </a:lnSpc>
              <a:buNone/>
            </a:pPr>
            <a:r>
              <a:rPr lang="en-US" sz="1300" dirty="0">
                <a:solidFill>
                  <a:srgbClr val="6B7C87"/>
                </a:solidFill>
                <a:latin typeface="Calibri" pitchFamily="34" charset="0"/>
                <a:ea typeface="Calibri" pitchFamily="34" charset="-122"/>
                <a:cs typeface="Calibri" pitchFamily="34" charset="-120"/>
              </a:rPr>
              <a:t>Cada vuelta crea sola su rama </a:t>
            </a:r>
            <a:endParaRPr lang="en-US" sz="1300" dirty="0"/>
          </a:p>
          <a:p>
            <a:pPr marL="0" indent="0">
              <a:lnSpc>
                <a:spcPts val="1900"/>
              </a:lnSpc>
              <a:buNone/>
            </a:pPr>
            <a:r>
              <a:rPr lang="en-US" sz="1300" dirty="0">
                <a:solidFill>
                  <a:srgbClr val="1F2D36"/>
                </a:solidFill>
                <a:latin typeface="Courier New" pitchFamily="34" charset="0"/>
                <a:ea typeface="Courier New" pitchFamily="34" charset="-122"/>
                <a:cs typeface="Courier New" pitchFamily="34" charset="-120"/>
              </a:rPr>
              <a:t>NNN-nombre</a:t>
            </a:r>
            <a:r>
              <a:rPr lang="en-US" sz="1300" dirty="0">
                <a:solidFill>
                  <a:srgbClr val="6B7C87"/>
                </a:solidFill>
                <a:latin typeface="Calibri" pitchFamily="34" charset="0"/>
                <a:ea typeface="Calibri" pitchFamily="34" charset="-122"/>
                <a:cs typeface="Calibri" pitchFamily="34" charset="-120"/>
              </a:rPr>
              <a:t> y su carpeta </a:t>
            </a:r>
            <a:r>
              <a:rPr lang="en-US" sz="1300" dirty="0">
                <a:solidFill>
                  <a:srgbClr val="1F2D36"/>
                </a:solidFill>
                <a:latin typeface="Courier New" pitchFamily="34" charset="0"/>
                <a:ea typeface="Courier New" pitchFamily="34" charset="-122"/>
                <a:cs typeface="Courier New" pitchFamily="34" charset="-120"/>
              </a:rPr>
              <a:t>specs/NNN-.../</a:t>
            </a:r>
            <a:r>
              <a:rPr lang="en-US" sz="1300" dirty="0">
                <a:solidFill>
                  <a:srgbClr val="6B7C87"/>
                </a:solidFill>
                <a:latin typeface="Calibri" pitchFamily="34" charset="0"/>
                <a:ea typeface="Calibri" pitchFamily="34" charset="-122"/>
                <a:cs typeface="Calibri" pitchFamily="34" charset="-120"/>
              </a:rPr>
              <a:t> con spec, plan y tasks propios.</a:t>
            </a:r>
            <a:endParaRPr lang="en-US" sz="1300" dirty="0"/>
          </a:p>
        </p:txBody>
      </p:sp>
      <p:sp>
        <p:nvSpPr>
          <p:cNvPr id="13" name="Shape 11"/>
          <p:cNvSpPr/>
          <p:nvPr/>
        </p:nvSpPr>
        <p:spPr>
          <a:xfrm>
            <a:off x="6720840" y="4617720"/>
            <a:ext cx="4526280" cy="1143000"/>
          </a:xfrm>
          <a:prstGeom prst="roundRect">
            <a:avLst>
              <a:gd name="adj" fmla="val 4000"/>
            </a:avLst>
          </a:prstGeom>
          <a:solidFill>
            <a:srgbClr val="FBF1E7"/>
          </a:solidFill>
          <a:ln/>
        </p:spPr>
        <p:txBody>
          <a:bodyPr/>
          <a:lstStyle/>
          <a:p>
            <a:endParaRPr lang="es-AR"/>
          </a:p>
        </p:txBody>
      </p:sp>
      <p:sp>
        <p:nvSpPr>
          <p:cNvPr id="14" name="Text 12"/>
          <p:cNvSpPr txBox="1"/>
          <p:nvPr/>
        </p:nvSpPr>
        <p:spPr>
          <a:xfrm>
            <a:off x="6949440" y="4617720"/>
            <a:ext cx="4069080" cy="1143000"/>
          </a:xfrm>
          <a:prstGeom prst="rect">
            <a:avLst/>
          </a:prstGeom>
          <a:noFill/>
          <a:ln/>
        </p:spPr>
        <p:txBody>
          <a:bodyPr wrap="square" lIns="0" tIns="0" rIns="0" bIns="0" rtlCol="0" anchor="ctr"/>
          <a:lstStyle/>
          <a:p>
            <a:pPr marL="0" indent="0">
              <a:lnSpc>
                <a:spcPts val="1700"/>
              </a:lnSpc>
              <a:buNone/>
            </a:pPr>
            <a:r>
              <a:rPr lang="en-US" sz="1200" dirty="0">
                <a:solidFill>
                  <a:srgbClr val="8A5A22"/>
                </a:solidFill>
                <a:latin typeface="Calibri" pitchFamily="34" charset="0"/>
                <a:ea typeface="Calibri" pitchFamily="34" charset="-122"/>
                <a:cs typeface="Calibri" pitchFamily="34" charset="-120"/>
              </a:rPr>
              <a:t>Una enmienda aplica hacia adelante: no reescribe las specs ya aprobadas. Esa deriva la detecta /speckit-converge.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CIRCUITO 1</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1F2D36"/>
                </a:solidFill>
                <a:latin typeface="Calibri" pitchFamily="34" charset="0"/>
                <a:ea typeface="Calibri" pitchFamily="34" charset="-122"/>
                <a:cs typeface="Calibri" pitchFamily="34" charset="-120"/>
              </a:rPr>
              <a:t>Proyecto nuevo: el circuito completo</a:t>
            </a:r>
            <a:endParaRPr lang="en-US" sz="3400" dirty="0"/>
          </a:p>
        </p:txBody>
      </p:sp>
      <p:sp>
        <p:nvSpPr>
          <p:cNvPr id="4" name="Text 2"/>
          <p:cNvSpPr txBox="1"/>
          <p:nvPr/>
        </p:nvSpPr>
        <p:spPr>
          <a:xfrm>
            <a:off x="548640" y="1188720"/>
            <a:ext cx="5486400" cy="237744"/>
          </a:xfrm>
          <a:prstGeom prst="rect">
            <a:avLst/>
          </a:prstGeom>
          <a:noFill/>
          <a:ln/>
        </p:spPr>
        <p:txBody>
          <a:bodyPr wrap="square" lIns="0" tIns="0" rIns="0" bIns="0" rtlCol="0" anchor="ctr"/>
          <a:lstStyle/>
          <a:p>
            <a:pPr marL="0" indent="0">
              <a:buNone/>
            </a:pPr>
            <a:r>
              <a:rPr lang="en-US" sz="1000" b="1" kern="0" spc="200" dirty="0">
                <a:solidFill>
                  <a:srgbClr val="B36A22"/>
                </a:solidFill>
                <a:latin typeface="Calibri" pitchFamily="34" charset="0"/>
                <a:ea typeface="Calibri" pitchFamily="34" charset="-122"/>
                <a:cs typeface="Calibri" pitchFamily="34" charset="-120"/>
              </a:rPr>
              <a:t>UNA SOLA VEZ POR PROYECTO</a:t>
            </a:r>
            <a:endParaRPr lang="en-US" sz="1000" dirty="0"/>
          </a:p>
        </p:txBody>
      </p:sp>
      <p:sp>
        <p:nvSpPr>
          <p:cNvPr id="5" name="Shape 3"/>
          <p:cNvSpPr/>
          <p:nvPr/>
        </p:nvSpPr>
        <p:spPr>
          <a:xfrm>
            <a:off x="548640" y="1463040"/>
            <a:ext cx="11094415" cy="1051560"/>
          </a:xfrm>
          <a:prstGeom prst="roundRect">
            <a:avLst>
              <a:gd name="adj" fmla="val 5217"/>
            </a:avLst>
          </a:prstGeom>
          <a:solidFill>
            <a:srgbClr val="FBF1E7"/>
          </a:solidFill>
          <a:ln/>
        </p:spPr>
        <p:txBody>
          <a:bodyPr/>
          <a:lstStyle/>
          <a:p>
            <a:endParaRPr lang="es-AR"/>
          </a:p>
        </p:txBody>
      </p:sp>
      <p:sp>
        <p:nvSpPr>
          <p:cNvPr id="6" name="Shape 4"/>
          <p:cNvSpPr/>
          <p:nvPr/>
        </p:nvSpPr>
        <p:spPr>
          <a:xfrm>
            <a:off x="914400" y="1691640"/>
            <a:ext cx="3383280" cy="594360"/>
          </a:xfrm>
          <a:prstGeom prst="roundRect">
            <a:avLst>
              <a:gd name="adj" fmla="val 7692"/>
            </a:avLst>
          </a:prstGeom>
          <a:solidFill>
            <a:srgbClr val="FFFFFF"/>
          </a:solidFill>
          <a:ln/>
        </p:spPr>
        <p:txBody>
          <a:bodyPr/>
          <a:lstStyle/>
          <a:p>
            <a:endParaRPr lang="es-AR"/>
          </a:p>
        </p:txBody>
      </p:sp>
      <p:sp>
        <p:nvSpPr>
          <p:cNvPr id="7" name="Text 5"/>
          <p:cNvSpPr txBox="1"/>
          <p:nvPr/>
        </p:nvSpPr>
        <p:spPr>
          <a:xfrm>
            <a:off x="969264" y="1691640"/>
            <a:ext cx="3273552" cy="594360"/>
          </a:xfrm>
          <a:prstGeom prst="rect">
            <a:avLst/>
          </a:prstGeom>
          <a:noFill/>
          <a:ln/>
        </p:spPr>
        <p:txBody>
          <a:bodyPr wrap="square" lIns="0" tIns="0" rIns="0" bIns="0" rtlCol="0" anchor="ctr"/>
          <a:lstStyle/>
          <a:p>
            <a:pPr marL="0" indent="0" algn="ctr">
              <a:buNone/>
            </a:pPr>
            <a:r>
              <a:rPr lang="en-US" sz="1200" dirty="0">
                <a:solidFill>
                  <a:srgbClr val="1F2D36"/>
                </a:solidFill>
                <a:latin typeface="Courier New" pitchFamily="34" charset="0"/>
                <a:ea typeface="Courier New" pitchFamily="34" charset="-122"/>
                <a:cs typeface="Courier New" pitchFamily="34" charset="-120"/>
              </a:rPr>
              <a:t>specify init &lt;proyecto&gt;</a:t>
            </a:r>
            <a:endParaRPr lang="en-US" sz="1200" dirty="0"/>
          </a:p>
        </p:txBody>
      </p:sp>
      <p:sp>
        <p:nvSpPr>
          <p:cNvPr id="8" name="Text 6"/>
          <p:cNvSpPr txBox="1"/>
          <p:nvPr/>
        </p:nvSpPr>
        <p:spPr>
          <a:xfrm>
            <a:off x="4343400" y="1691640"/>
            <a:ext cx="411480" cy="59436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4754880" y="1691640"/>
            <a:ext cx="3566160" cy="594360"/>
          </a:xfrm>
          <a:prstGeom prst="roundRect">
            <a:avLst>
              <a:gd name="adj" fmla="val 7692"/>
            </a:avLst>
          </a:prstGeom>
          <a:solidFill>
            <a:srgbClr val="FFFFFF"/>
          </a:solidFill>
          <a:ln/>
        </p:spPr>
        <p:txBody>
          <a:bodyPr/>
          <a:lstStyle/>
          <a:p>
            <a:endParaRPr lang="es-AR"/>
          </a:p>
        </p:txBody>
      </p:sp>
      <p:sp>
        <p:nvSpPr>
          <p:cNvPr id="10" name="Text 8"/>
          <p:cNvSpPr txBox="1"/>
          <p:nvPr/>
        </p:nvSpPr>
        <p:spPr>
          <a:xfrm>
            <a:off x="4809744" y="1691640"/>
            <a:ext cx="3456432" cy="594360"/>
          </a:xfrm>
          <a:prstGeom prst="rect">
            <a:avLst/>
          </a:prstGeom>
          <a:noFill/>
          <a:ln/>
        </p:spPr>
        <p:txBody>
          <a:bodyPr wrap="square" lIns="0" tIns="0" rIns="0" bIns="0" rtlCol="0" anchor="ctr"/>
          <a:lstStyle/>
          <a:p>
            <a:pPr marL="0" indent="0" algn="ctr">
              <a:buNone/>
            </a:pPr>
            <a:r>
              <a:rPr lang="en-US" sz="1200" dirty="0">
                <a:solidFill>
                  <a:srgbClr val="B36A22"/>
                </a:solidFill>
                <a:latin typeface="Courier New" pitchFamily="34" charset="0"/>
                <a:ea typeface="Courier New" pitchFamily="34" charset="-122"/>
                <a:cs typeface="Courier New" pitchFamily="34" charset="-120"/>
              </a:rPr>
              <a:t>/speckit-constitution</a:t>
            </a:r>
            <a:endParaRPr lang="en-US" sz="1200" dirty="0"/>
          </a:p>
        </p:txBody>
      </p:sp>
      <p:sp>
        <p:nvSpPr>
          <p:cNvPr id="11" name="Text 9"/>
          <p:cNvSpPr txBox="1"/>
          <p:nvPr/>
        </p:nvSpPr>
        <p:spPr>
          <a:xfrm>
            <a:off x="8595360" y="1691640"/>
            <a:ext cx="2743200" cy="594360"/>
          </a:xfrm>
          <a:prstGeom prst="rect">
            <a:avLst/>
          </a:prstGeom>
          <a:noFill/>
          <a:ln/>
        </p:spPr>
        <p:txBody>
          <a:bodyPr wrap="square" lIns="0" tIns="0" rIns="0" bIns="0" rtlCol="0" anchor="ctr"/>
          <a:lstStyle/>
          <a:p>
            <a:pPr marL="0" indent="0">
              <a:lnSpc>
                <a:spcPts val="1400"/>
              </a:lnSpc>
              <a:buNone/>
            </a:pPr>
            <a:r>
              <a:rPr lang="en-US" sz="1050" dirty="0">
                <a:solidFill>
                  <a:srgbClr val="8A5A22"/>
                </a:solidFill>
                <a:latin typeface="Calibri" pitchFamily="34" charset="0"/>
                <a:ea typeface="Calibri" pitchFamily="34" charset="-122"/>
                <a:cs typeface="Calibri" pitchFamily="34" charset="-120"/>
              </a:rPr>
              <a:t>Queda en .specify/memory/ y todos los</a:t>
            </a:r>
            <a:endParaRPr lang="en-US" sz="1050" dirty="0"/>
          </a:p>
          <a:p>
            <a:pPr marL="0" indent="0">
              <a:lnSpc>
                <a:spcPts val="1400"/>
              </a:lnSpc>
              <a:buNone/>
            </a:pPr>
            <a:r>
              <a:rPr lang="en-US" sz="1050" dirty="0">
                <a:solidFill>
                  <a:srgbClr val="8A5A22"/>
                </a:solidFill>
                <a:latin typeface="Calibri" pitchFamily="34" charset="0"/>
                <a:ea typeface="Calibri" pitchFamily="34" charset="-122"/>
                <a:cs typeface="Calibri" pitchFamily="34" charset="-120"/>
              </a:rPr>
              <a:t>comandos lo leen en runtime, cada vez.</a:t>
            </a:r>
            <a:endParaRPr lang="en-US" sz="1050" dirty="0"/>
          </a:p>
        </p:txBody>
      </p:sp>
      <p:sp>
        <p:nvSpPr>
          <p:cNvPr id="12" name="Shape 10"/>
          <p:cNvSpPr/>
          <p:nvPr/>
        </p:nvSpPr>
        <p:spPr>
          <a:xfrm>
            <a:off x="6089904" y="2587752"/>
            <a:ext cx="0" cy="338328"/>
          </a:xfrm>
          <a:prstGeom prst="line">
            <a:avLst/>
          </a:prstGeom>
          <a:noFill/>
          <a:ln w="22225">
            <a:solidFill>
              <a:srgbClr val="9FB1B8"/>
            </a:solidFill>
            <a:prstDash val="solid"/>
            <a:tailEnd type="triangle"/>
          </a:ln>
        </p:spPr>
        <p:txBody>
          <a:bodyPr/>
          <a:lstStyle/>
          <a:p>
            <a:endParaRPr lang="es-AR"/>
          </a:p>
        </p:txBody>
      </p:sp>
      <p:sp>
        <p:nvSpPr>
          <p:cNvPr id="13" name="Shape 11"/>
          <p:cNvSpPr/>
          <p:nvPr/>
        </p:nvSpPr>
        <p:spPr>
          <a:xfrm>
            <a:off x="548640" y="2971800"/>
            <a:ext cx="11094415" cy="3154680"/>
          </a:xfrm>
          <a:prstGeom prst="roundRect">
            <a:avLst>
              <a:gd name="adj" fmla="val 1739"/>
            </a:avLst>
          </a:prstGeom>
          <a:solidFill>
            <a:srgbClr val="EEF5F4"/>
          </a:solidFill>
          <a:ln/>
        </p:spPr>
        <p:txBody>
          <a:bodyPr/>
          <a:lstStyle/>
          <a:p>
            <a:endParaRPr lang="es-AR"/>
          </a:p>
        </p:txBody>
      </p:sp>
      <p:sp>
        <p:nvSpPr>
          <p:cNvPr id="14" name="Text 12"/>
          <p:cNvSpPr txBox="1"/>
          <p:nvPr/>
        </p:nvSpPr>
        <p:spPr>
          <a:xfrm>
            <a:off x="914400" y="3127248"/>
            <a:ext cx="7315200" cy="237744"/>
          </a:xfrm>
          <a:prstGeom prst="rect">
            <a:avLst/>
          </a:prstGeom>
          <a:noFill/>
          <a:ln/>
        </p:spPr>
        <p:txBody>
          <a:bodyPr wrap="square" lIns="0" tIns="0" rIns="0" bIns="0" rtlCol="0" anchor="ctr"/>
          <a:lstStyle/>
          <a:p>
            <a:pPr marL="0" indent="0">
              <a:buNone/>
            </a:pPr>
            <a:r>
              <a:rPr lang="en-US" sz="1000" b="1" kern="0" spc="200" dirty="0">
                <a:solidFill>
                  <a:srgbClr val="027A6E"/>
                </a:solidFill>
                <a:latin typeface="Calibri" pitchFamily="34" charset="0"/>
                <a:ea typeface="Calibri" pitchFamily="34" charset="-122"/>
                <a:cs typeface="Calibri" pitchFamily="34" charset="-120"/>
              </a:rPr>
              <a:t>SE REPITE POR CADA FEATURE — RAMA Y CARPETA PROPIAS</a:t>
            </a:r>
            <a:endParaRPr lang="en-US" sz="1000" dirty="0"/>
          </a:p>
        </p:txBody>
      </p:sp>
      <p:sp>
        <p:nvSpPr>
          <p:cNvPr id="15" name="Shape 13"/>
          <p:cNvSpPr/>
          <p:nvPr/>
        </p:nvSpPr>
        <p:spPr>
          <a:xfrm>
            <a:off x="914400" y="3493008"/>
            <a:ext cx="2194560" cy="1508760"/>
          </a:xfrm>
          <a:prstGeom prst="roundRect">
            <a:avLst>
              <a:gd name="adj" fmla="val 3636"/>
            </a:avLst>
          </a:prstGeom>
          <a:solidFill>
            <a:srgbClr val="FFFFFF"/>
          </a:solidFill>
          <a:ln/>
        </p:spPr>
        <p:txBody>
          <a:bodyPr/>
          <a:lstStyle/>
          <a:p>
            <a:endParaRPr lang="es-AR"/>
          </a:p>
        </p:txBody>
      </p:sp>
      <p:sp>
        <p:nvSpPr>
          <p:cNvPr id="16" name="Text 14"/>
          <p:cNvSpPr txBox="1"/>
          <p:nvPr/>
        </p:nvSpPr>
        <p:spPr>
          <a:xfrm>
            <a:off x="950976" y="3639312"/>
            <a:ext cx="2121408" cy="292608"/>
          </a:xfrm>
          <a:prstGeom prst="rect">
            <a:avLst/>
          </a:prstGeom>
          <a:noFill/>
          <a:ln/>
        </p:spPr>
        <p:txBody>
          <a:bodyPr wrap="square" lIns="0" tIns="0" rIns="0" bIns="0" rtlCol="0" anchor="ctr"/>
          <a:lstStyle/>
          <a:p>
            <a:pPr marL="0" indent="0" algn="ctr">
              <a:buNone/>
            </a:pPr>
            <a:r>
              <a:rPr lang="en-US" sz="1250" b="1" dirty="0">
                <a:solidFill>
                  <a:srgbClr val="1F2D36"/>
                </a:solidFill>
                <a:latin typeface="Courier New" pitchFamily="34" charset="0"/>
                <a:ea typeface="Courier New" pitchFamily="34" charset="-122"/>
                <a:cs typeface="Courier New" pitchFamily="34" charset="-120"/>
              </a:rPr>
              <a:t>/speckit-specify</a:t>
            </a:r>
            <a:endParaRPr lang="en-US" sz="1250" dirty="0"/>
          </a:p>
        </p:txBody>
      </p:sp>
      <p:sp>
        <p:nvSpPr>
          <p:cNvPr id="17" name="Text 15"/>
          <p:cNvSpPr txBox="1"/>
          <p:nvPr/>
        </p:nvSpPr>
        <p:spPr>
          <a:xfrm>
            <a:off x="1005840" y="3986784"/>
            <a:ext cx="2011680" cy="457200"/>
          </a:xfrm>
          <a:prstGeom prst="rect">
            <a:avLst/>
          </a:prstGeom>
          <a:noFill/>
          <a:ln/>
        </p:spPr>
        <p:txBody>
          <a:bodyPr wrap="square" lIns="0" tIns="0" rIns="0" bIns="0" rtlCol="0" anchor="t"/>
          <a:lstStyle/>
          <a:p>
            <a:pPr marL="0" indent="0" algn="ctr">
              <a:lnSpc>
                <a:spcPts val="1400"/>
              </a:lnSpc>
              <a:buNone/>
            </a:pPr>
            <a:r>
              <a:rPr lang="en-US" sz="1100" dirty="0">
                <a:solidFill>
                  <a:srgbClr val="6B7C87"/>
                </a:solidFill>
                <a:latin typeface="Calibri" pitchFamily="34" charset="0"/>
                <a:ea typeface="Calibri" pitchFamily="34" charset="-122"/>
                <a:cs typeface="Calibri" pitchFamily="34" charset="-120"/>
              </a:rPr>
              <a:t>El qué y el porqué</a:t>
            </a:r>
            <a:endParaRPr lang="en-US" sz="1100" dirty="0"/>
          </a:p>
        </p:txBody>
      </p:sp>
      <p:sp>
        <p:nvSpPr>
          <p:cNvPr id="18" name="Text 16"/>
          <p:cNvSpPr txBox="1"/>
          <p:nvPr/>
        </p:nvSpPr>
        <p:spPr>
          <a:xfrm>
            <a:off x="969264" y="4453128"/>
            <a:ext cx="2084832" cy="475488"/>
          </a:xfrm>
          <a:prstGeom prst="rect">
            <a:avLst/>
          </a:prstGeom>
          <a:noFill/>
          <a:ln/>
        </p:spPr>
        <p:txBody>
          <a:bodyPr wrap="square" lIns="0" tIns="0" rIns="0" bIns="0" rtlCol="0" anchor="ctr"/>
          <a:lstStyle/>
          <a:p>
            <a:pPr marL="0" indent="0" algn="ctr">
              <a:lnSpc>
                <a:spcPts val="1100"/>
              </a:lnSpc>
              <a:buNone/>
            </a:pPr>
            <a:r>
              <a:rPr lang="en-US" sz="900" dirty="0">
                <a:solidFill>
                  <a:srgbClr val="B36A22"/>
                </a:solidFill>
                <a:latin typeface="Courier New" pitchFamily="34" charset="0"/>
                <a:ea typeface="Courier New" pitchFamily="34" charset="-122"/>
                <a:cs typeface="Courier New" pitchFamily="34" charset="-120"/>
              </a:rPr>
              <a:t>+ /speckit-clarify</a:t>
            </a:r>
            <a:endParaRPr lang="en-US" sz="900" dirty="0"/>
          </a:p>
          <a:p>
            <a:pPr marL="0" indent="0" algn="ctr">
              <a:lnSpc>
                <a:spcPts val="1100"/>
              </a:lnSpc>
              <a:buNone/>
            </a:pPr>
            <a:r>
              <a:rPr lang="en-US" sz="900" dirty="0">
                <a:solidFill>
                  <a:srgbClr val="B36A22"/>
                </a:solidFill>
                <a:latin typeface="Courier New" pitchFamily="34" charset="0"/>
                <a:ea typeface="Courier New" pitchFamily="34" charset="-122"/>
                <a:cs typeface="Courier New" pitchFamily="34" charset="-120"/>
              </a:rPr>
              <a:t>+ /speckit-checklist</a:t>
            </a:r>
            <a:endParaRPr lang="en-US" sz="900" dirty="0"/>
          </a:p>
        </p:txBody>
      </p:sp>
      <p:sp>
        <p:nvSpPr>
          <p:cNvPr id="19" name="Text 17"/>
          <p:cNvSpPr txBox="1"/>
          <p:nvPr/>
        </p:nvSpPr>
        <p:spPr>
          <a:xfrm>
            <a:off x="3108960" y="3858768"/>
            <a:ext cx="530352" cy="45720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3639312" y="3493008"/>
            <a:ext cx="2194560" cy="1508760"/>
          </a:xfrm>
          <a:prstGeom prst="roundRect">
            <a:avLst>
              <a:gd name="adj" fmla="val 3636"/>
            </a:avLst>
          </a:prstGeom>
          <a:solidFill>
            <a:srgbClr val="FFFFFF"/>
          </a:solidFill>
          <a:ln/>
        </p:spPr>
        <p:txBody>
          <a:bodyPr/>
          <a:lstStyle/>
          <a:p>
            <a:endParaRPr lang="es-AR"/>
          </a:p>
        </p:txBody>
      </p:sp>
      <p:sp>
        <p:nvSpPr>
          <p:cNvPr id="21" name="Text 19"/>
          <p:cNvSpPr txBox="1"/>
          <p:nvPr/>
        </p:nvSpPr>
        <p:spPr>
          <a:xfrm>
            <a:off x="3675888" y="3639312"/>
            <a:ext cx="2121408" cy="292608"/>
          </a:xfrm>
          <a:prstGeom prst="rect">
            <a:avLst/>
          </a:prstGeom>
          <a:noFill/>
          <a:ln/>
        </p:spPr>
        <p:txBody>
          <a:bodyPr wrap="square" lIns="0" tIns="0" rIns="0" bIns="0" rtlCol="0" anchor="ctr"/>
          <a:lstStyle/>
          <a:p>
            <a:pPr marL="0" indent="0" algn="ctr">
              <a:buNone/>
            </a:pPr>
            <a:r>
              <a:rPr lang="en-US" sz="1250" b="1" dirty="0">
                <a:solidFill>
                  <a:srgbClr val="1F2D36"/>
                </a:solidFill>
                <a:latin typeface="Courier New" pitchFamily="34" charset="0"/>
                <a:ea typeface="Courier New" pitchFamily="34" charset="-122"/>
                <a:cs typeface="Courier New" pitchFamily="34" charset="-120"/>
              </a:rPr>
              <a:t>/speckit-plan</a:t>
            </a:r>
            <a:endParaRPr lang="en-US" sz="1250" dirty="0"/>
          </a:p>
        </p:txBody>
      </p:sp>
      <p:sp>
        <p:nvSpPr>
          <p:cNvPr id="22" name="Text 20"/>
          <p:cNvSpPr txBox="1"/>
          <p:nvPr/>
        </p:nvSpPr>
        <p:spPr>
          <a:xfrm>
            <a:off x="3730752" y="3986784"/>
            <a:ext cx="2011680" cy="457200"/>
          </a:xfrm>
          <a:prstGeom prst="rect">
            <a:avLst/>
          </a:prstGeom>
          <a:noFill/>
          <a:ln/>
        </p:spPr>
        <p:txBody>
          <a:bodyPr wrap="square" lIns="0" tIns="0" rIns="0" bIns="0" rtlCol="0" anchor="t"/>
          <a:lstStyle/>
          <a:p>
            <a:pPr marL="0" indent="0" algn="ctr">
              <a:lnSpc>
                <a:spcPts val="1400"/>
              </a:lnSpc>
              <a:buNone/>
            </a:pPr>
            <a:r>
              <a:rPr lang="en-US" sz="1100" dirty="0">
                <a:solidFill>
                  <a:srgbClr val="6B7C87"/>
                </a:solidFill>
                <a:latin typeface="Calibri" pitchFamily="34" charset="0"/>
                <a:ea typeface="Calibri" pitchFamily="34" charset="-122"/>
                <a:cs typeface="Calibri" pitchFamily="34" charset="-120"/>
              </a:rPr>
              <a:t>Stack y arquitectura</a:t>
            </a:r>
            <a:endParaRPr lang="en-US" sz="1100" dirty="0"/>
          </a:p>
        </p:txBody>
      </p:sp>
      <p:sp>
        <p:nvSpPr>
          <p:cNvPr id="23" name="Text 21"/>
          <p:cNvSpPr txBox="1"/>
          <p:nvPr/>
        </p:nvSpPr>
        <p:spPr>
          <a:xfrm>
            <a:off x="5833872" y="3858768"/>
            <a:ext cx="530352" cy="45720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6364224" y="3493008"/>
            <a:ext cx="2194560" cy="1508760"/>
          </a:xfrm>
          <a:prstGeom prst="roundRect">
            <a:avLst>
              <a:gd name="adj" fmla="val 3636"/>
            </a:avLst>
          </a:prstGeom>
          <a:solidFill>
            <a:srgbClr val="FFFFFF"/>
          </a:solidFill>
          <a:ln/>
        </p:spPr>
        <p:txBody>
          <a:bodyPr/>
          <a:lstStyle/>
          <a:p>
            <a:endParaRPr lang="es-AR"/>
          </a:p>
        </p:txBody>
      </p:sp>
      <p:sp>
        <p:nvSpPr>
          <p:cNvPr id="25" name="Text 23"/>
          <p:cNvSpPr txBox="1"/>
          <p:nvPr/>
        </p:nvSpPr>
        <p:spPr>
          <a:xfrm>
            <a:off x="6400800" y="3639312"/>
            <a:ext cx="2121408" cy="292608"/>
          </a:xfrm>
          <a:prstGeom prst="rect">
            <a:avLst/>
          </a:prstGeom>
          <a:noFill/>
          <a:ln/>
        </p:spPr>
        <p:txBody>
          <a:bodyPr wrap="square" lIns="0" tIns="0" rIns="0" bIns="0" rtlCol="0" anchor="ctr"/>
          <a:lstStyle/>
          <a:p>
            <a:pPr marL="0" indent="0" algn="ctr">
              <a:buNone/>
            </a:pPr>
            <a:r>
              <a:rPr lang="en-US" sz="1250" b="1" dirty="0">
                <a:solidFill>
                  <a:srgbClr val="1F2D36"/>
                </a:solidFill>
                <a:latin typeface="Courier New" pitchFamily="34" charset="0"/>
                <a:ea typeface="Courier New" pitchFamily="34" charset="-122"/>
                <a:cs typeface="Courier New" pitchFamily="34" charset="-120"/>
              </a:rPr>
              <a:t>/speckit-tasks</a:t>
            </a:r>
            <a:endParaRPr lang="en-US" sz="1250" dirty="0"/>
          </a:p>
        </p:txBody>
      </p:sp>
      <p:sp>
        <p:nvSpPr>
          <p:cNvPr id="26" name="Text 24"/>
          <p:cNvSpPr txBox="1"/>
          <p:nvPr/>
        </p:nvSpPr>
        <p:spPr>
          <a:xfrm>
            <a:off x="6455664" y="3986784"/>
            <a:ext cx="2011680" cy="457200"/>
          </a:xfrm>
          <a:prstGeom prst="rect">
            <a:avLst/>
          </a:prstGeom>
          <a:noFill/>
          <a:ln/>
        </p:spPr>
        <p:txBody>
          <a:bodyPr wrap="square" lIns="0" tIns="0" rIns="0" bIns="0" rtlCol="0" anchor="t"/>
          <a:lstStyle/>
          <a:p>
            <a:pPr marL="0" indent="0" algn="ctr">
              <a:lnSpc>
                <a:spcPts val="1400"/>
              </a:lnSpc>
              <a:buNone/>
            </a:pPr>
            <a:r>
              <a:rPr lang="en-US" sz="1100" dirty="0">
                <a:solidFill>
                  <a:srgbClr val="6B7C87"/>
                </a:solidFill>
                <a:latin typeface="Calibri" pitchFamily="34" charset="0"/>
                <a:ea typeface="Calibri" pitchFamily="34" charset="-122"/>
                <a:cs typeface="Calibri" pitchFamily="34" charset="-120"/>
              </a:rPr>
              <a:t>Tareas ordenadas</a:t>
            </a:r>
            <a:endParaRPr lang="en-US" sz="1100" dirty="0"/>
          </a:p>
        </p:txBody>
      </p:sp>
      <p:sp>
        <p:nvSpPr>
          <p:cNvPr id="27" name="Text 25"/>
          <p:cNvSpPr txBox="1"/>
          <p:nvPr/>
        </p:nvSpPr>
        <p:spPr>
          <a:xfrm>
            <a:off x="6419088" y="4453128"/>
            <a:ext cx="2084832" cy="475488"/>
          </a:xfrm>
          <a:prstGeom prst="rect">
            <a:avLst/>
          </a:prstGeom>
          <a:noFill/>
          <a:ln/>
        </p:spPr>
        <p:txBody>
          <a:bodyPr wrap="square" lIns="0" tIns="0" rIns="0" bIns="0" rtlCol="0" anchor="ctr"/>
          <a:lstStyle/>
          <a:p>
            <a:pPr marL="0" indent="0" algn="ctr">
              <a:lnSpc>
                <a:spcPts val="1100"/>
              </a:lnSpc>
              <a:buNone/>
            </a:pPr>
            <a:r>
              <a:rPr lang="en-US" sz="900" dirty="0">
                <a:solidFill>
                  <a:srgbClr val="B36A22"/>
                </a:solidFill>
                <a:latin typeface="Courier New" pitchFamily="34" charset="0"/>
                <a:ea typeface="Courier New" pitchFamily="34" charset="-122"/>
                <a:cs typeface="Courier New" pitchFamily="34" charset="-120"/>
              </a:rPr>
              <a:t>+ /speckit-analyze</a:t>
            </a:r>
            <a:endParaRPr lang="en-US" sz="900" dirty="0"/>
          </a:p>
        </p:txBody>
      </p:sp>
      <p:sp>
        <p:nvSpPr>
          <p:cNvPr id="28" name="Text 26"/>
          <p:cNvSpPr txBox="1"/>
          <p:nvPr/>
        </p:nvSpPr>
        <p:spPr>
          <a:xfrm>
            <a:off x="8558784" y="3858768"/>
            <a:ext cx="530352" cy="45720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9089136" y="3493008"/>
            <a:ext cx="2194560" cy="1508760"/>
          </a:xfrm>
          <a:prstGeom prst="roundRect">
            <a:avLst>
              <a:gd name="adj" fmla="val 3636"/>
            </a:avLst>
          </a:prstGeom>
          <a:solidFill>
            <a:srgbClr val="FFFFFF"/>
          </a:solidFill>
          <a:ln/>
        </p:spPr>
        <p:txBody>
          <a:bodyPr/>
          <a:lstStyle/>
          <a:p>
            <a:endParaRPr lang="es-AR"/>
          </a:p>
        </p:txBody>
      </p:sp>
      <p:sp>
        <p:nvSpPr>
          <p:cNvPr id="30" name="Text 28"/>
          <p:cNvSpPr txBox="1"/>
          <p:nvPr/>
        </p:nvSpPr>
        <p:spPr>
          <a:xfrm>
            <a:off x="9125712" y="3639312"/>
            <a:ext cx="2121408" cy="292608"/>
          </a:xfrm>
          <a:prstGeom prst="rect">
            <a:avLst/>
          </a:prstGeom>
          <a:noFill/>
          <a:ln/>
        </p:spPr>
        <p:txBody>
          <a:bodyPr wrap="square" lIns="0" tIns="0" rIns="0" bIns="0" rtlCol="0" anchor="ctr"/>
          <a:lstStyle/>
          <a:p>
            <a:pPr marL="0" indent="0" algn="ctr">
              <a:buNone/>
            </a:pPr>
            <a:r>
              <a:rPr lang="en-US" sz="1250" b="1" dirty="0">
                <a:solidFill>
                  <a:srgbClr val="1F2D36"/>
                </a:solidFill>
                <a:latin typeface="Courier New" pitchFamily="34" charset="0"/>
                <a:ea typeface="Courier New" pitchFamily="34" charset="-122"/>
                <a:cs typeface="Courier New" pitchFamily="34" charset="-120"/>
              </a:rPr>
              <a:t>/speckit-implement</a:t>
            </a:r>
            <a:endParaRPr lang="en-US" sz="1250" dirty="0"/>
          </a:p>
        </p:txBody>
      </p:sp>
      <p:sp>
        <p:nvSpPr>
          <p:cNvPr id="31" name="Text 29"/>
          <p:cNvSpPr txBox="1"/>
          <p:nvPr/>
        </p:nvSpPr>
        <p:spPr>
          <a:xfrm>
            <a:off x="9180576" y="3986784"/>
            <a:ext cx="2011680" cy="457200"/>
          </a:xfrm>
          <a:prstGeom prst="rect">
            <a:avLst/>
          </a:prstGeom>
          <a:noFill/>
          <a:ln/>
        </p:spPr>
        <p:txBody>
          <a:bodyPr wrap="square" lIns="0" tIns="0" rIns="0" bIns="0" rtlCol="0" anchor="t"/>
          <a:lstStyle/>
          <a:p>
            <a:pPr marL="0" indent="0" algn="ctr">
              <a:lnSpc>
                <a:spcPts val="1400"/>
              </a:lnSpc>
              <a:buNone/>
            </a:pPr>
            <a:r>
              <a:rPr lang="en-US" sz="1100" dirty="0">
                <a:solidFill>
                  <a:srgbClr val="6B7C87"/>
                </a:solidFill>
                <a:latin typeface="Calibri" pitchFamily="34" charset="0"/>
                <a:ea typeface="Calibri" pitchFamily="34" charset="-122"/>
                <a:cs typeface="Calibri" pitchFamily="34" charset="-120"/>
              </a:rPr>
              <a:t>Ejecución</a:t>
            </a:r>
            <a:endParaRPr lang="en-US" sz="1100" dirty="0"/>
          </a:p>
        </p:txBody>
      </p:sp>
      <p:sp>
        <p:nvSpPr>
          <p:cNvPr id="32" name="Shape 30"/>
          <p:cNvSpPr/>
          <p:nvPr/>
        </p:nvSpPr>
        <p:spPr>
          <a:xfrm>
            <a:off x="10186416" y="5001768"/>
            <a:ext cx="0" cy="484632"/>
          </a:xfrm>
          <a:prstGeom prst="line">
            <a:avLst/>
          </a:prstGeom>
          <a:noFill/>
          <a:ln w="22225">
            <a:solidFill>
              <a:srgbClr val="9FB1B8"/>
            </a:solidFill>
            <a:prstDash val="solid"/>
          </a:ln>
        </p:spPr>
        <p:txBody>
          <a:bodyPr/>
          <a:lstStyle/>
          <a:p>
            <a:endParaRPr lang="es-AR"/>
          </a:p>
        </p:txBody>
      </p:sp>
      <p:sp>
        <p:nvSpPr>
          <p:cNvPr id="33" name="Shape 31"/>
          <p:cNvSpPr/>
          <p:nvPr/>
        </p:nvSpPr>
        <p:spPr>
          <a:xfrm>
            <a:off x="2011680" y="5486400"/>
            <a:ext cx="8174736" cy="0"/>
          </a:xfrm>
          <a:prstGeom prst="line">
            <a:avLst/>
          </a:prstGeom>
          <a:noFill/>
          <a:ln w="22225">
            <a:solidFill>
              <a:srgbClr val="9FB1B8"/>
            </a:solidFill>
            <a:prstDash val="solid"/>
          </a:ln>
        </p:spPr>
        <p:txBody>
          <a:bodyPr/>
          <a:lstStyle/>
          <a:p>
            <a:endParaRPr lang="es-AR"/>
          </a:p>
        </p:txBody>
      </p:sp>
      <p:sp>
        <p:nvSpPr>
          <p:cNvPr id="34" name="Shape 32"/>
          <p:cNvSpPr/>
          <p:nvPr/>
        </p:nvSpPr>
        <p:spPr>
          <a:xfrm>
            <a:off x="2011680" y="5001768"/>
            <a:ext cx="0" cy="484632"/>
          </a:xfrm>
          <a:prstGeom prst="line">
            <a:avLst/>
          </a:prstGeom>
          <a:noFill/>
          <a:ln w="22225">
            <a:solidFill>
              <a:srgbClr val="9FB1B8"/>
            </a:solidFill>
            <a:prstDash val="solid"/>
            <a:headEnd type="triangle"/>
          </a:ln>
        </p:spPr>
        <p:txBody>
          <a:bodyPr/>
          <a:lstStyle/>
          <a:p>
            <a:endParaRPr lang="es-AR"/>
          </a:p>
        </p:txBody>
      </p:sp>
      <p:sp>
        <p:nvSpPr>
          <p:cNvPr id="35" name="Text 33"/>
          <p:cNvSpPr txBox="1"/>
          <p:nvPr/>
        </p:nvSpPr>
        <p:spPr>
          <a:xfrm>
            <a:off x="2011680" y="5522976"/>
            <a:ext cx="8174736" cy="274320"/>
          </a:xfrm>
          <a:prstGeom prst="rect">
            <a:avLst/>
          </a:prstGeom>
          <a:noFill/>
          <a:ln/>
        </p:spPr>
        <p:txBody>
          <a:bodyPr wrap="square" lIns="0" tIns="0" rIns="0" bIns="0" rtlCol="0" anchor="ctr"/>
          <a:lstStyle/>
          <a:p>
            <a:pPr marL="0" indent="0" algn="ctr">
              <a:buNone/>
            </a:pPr>
            <a:r>
              <a:rPr lang="en-US" sz="1100" i="1" dirty="0">
                <a:solidFill>
                  <a:srgbClr val="6B7C87"/>
                </a:solidFill>
                <a:latin typeface="Calibri" pitchFamily="34" charset="0"/>
                <a:ea typeface="Calibri" pitchFamily="34" charset="-122"/>
                <a:cs typeface="Calibri" pitchFamily="34" charset="-120"/>
              </a:rPr>
              <a:t>feature siguiente · rama NNN+1 creada automáticamente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CIRCUITO 2</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1F2D36"/>
                </a:solidFill>
                <a:latin typeface="Calibri" pitchFamily="34" charset="0"/>
                <a:ea typeface="Calibri" pitchFamily="34" charset="-122"/>
                <a:cs typeface="Calibri" pitchFamily="34" charset="-120"/>
              </a:rPr>
              <a:t>Retomar el proyecto y agregar una feature</a:t>
            </a:r>
            <a:endParaRPr lang="en-US" sz="3400" dirty="0"/>
          </a:p>
        </p:txBody>
      </p:sp>
      <p:sp>
        <p:nvSpPr>
          <p:cNvPr id="4" name="Text 2"/>
          <p:cNvSpPr txBox="1"/>
          <p:nvPr/>
        </p:nvSpPr>
        <p:spPr>
          <a:xfrm>
            <a:off x="548640" y="1188720"/>
            <a:ext cx="6400800" cy="237744"/>
          </a:xfrm>
          <a:prstGeom prst="rect">
            <a:avLst/>
          </a:prstGeom>
          <a:noFill/>
          <a:ln/>
        </p:spPr>
        <p:txBody>
          <a:bodyPr wrap="square" lIns="0" tIns="0" rIns="0" bIns="0" rtlCol="0" anchor="ctr"/>
          <a:lstStyle/>
          <a:p>
            <a:pPr marL="0" indent="0">
              <a:buNone/>
            </a:pPr>
            <a:r>
              <a:rPr lang="en-US" sz="1000" b="1" kern="0" spc="200" dirty="0">
                <a:solidFill>
                  <a:srgbClr val="B36A22"/>
                </a:solidFill>
                <a:latin typeface="Calibri" pitchFamily="34" charset="0"/>
                <a:ea typeface="Calibri" pitchFamily="34" charset="-122"/>
                <a:cs typeface="Calibri" pitchFamily="34" charset="-120"/>
              </a:rPr>
              <a:t>SOLO SI LA FEATURE EXPONE UN PRINCIPIO NO FIJADO</a:t>
            </a:r>
            <a:endParaRPr lang="en-US" sz="1000" dirty="0"/>
          </a:p>
        </p:txBody>
      </p:sp>
      <p:sp>
        <p:nvSpPr>
          <p:cNvPr id="5" name="Text 3"/>
          <p:cNvSpPr txBox="1"/>
          <p:nvPr/>
        </p:nvSpPr>
        <p:spPr>
          <a:xfrm>
            <a:off x="6949440" y="1188720"/>
            <a:ext cx="4690872" cy="237744"/>
          </a:xfrm>
          <a:prstGeom prst="rect">
            <a:avLst/>
          </a:prstGeom>
          <a:noFill/>
          <a:ln/>
        </p:spPr>
        <p:txBody>
          <a:bodyPr wrap="square" lIns="0" tIns="0" rIns="0" bIns="0" rtlCol="0" anchor="ctr"/>
          <a:lstStyle/>
          <a:p>
            <a:pPr marL="0" indent="0" algn="r">
              <a:buNone/>
            </a:pPr>
            <a:r>
              <a:rPr lang="en-US" sz="1050" i="1" dirty="0">
                <a:solidFill>
                  <a:srgbClr val="6B7C87"/>
                </a:solidFill>
                <a:latin typeface="Calibri" pitchFamily="34" charset="0"/>
                <a:ea typeface="Calibri" pitchFamily="34" charset="-122"/>
                <a:cs typeface="Calibri" pitchFamily="34" charset="-120"/>
              </a:rPr>
              <a:t>Si no, salteás la banda entera y vas directo al ciclo</a:t>
            </a:r>
            <a:endParaRPr lang="en-US" sz="1050" dirty="0"/>
          </a:p>
        </p:txBody>
      </p:sp>
      <p:sp>
        <p:nvSpPr>
          <p:cNvPr id="6" name="Shape 4"/>
          <p:cNvSpPr/>
          <p:nvPr/>
        </p:nvSpPr>
        <p:spPr>
          <a:xfrm>
            <a:off x="548640" y="1463040"/>
            <a:ext cx="11094415" cy="1051560"/>
          </a:xfrm>
          <a:prstGeom prst="roundRect">
            <a:avLst>
              <a:gd name="adj" fmla="val 5217"/>
            </a:avLst>
          </a:prstGeom>
          <a:solidFill>
            <a:srgbClr val="FBF1E7"/>
          </a:solidFill>
          <a:ln/>
        </p:spPr>
        <p:txBody>
          <a:bodyPr/>
          <a:lstStyle/>
          <a:p>
            <a:endParaRPr lang="es-AR"/>
          </a:p>
        </p:txBody>
      </p:sp>
      <p:sp>
        <p:nvSpPr>
          <p:cNvPr id="7" name="Shape 5"/>
          <p:cNvSpPr/>
          <p:nvPr/>
        </p:nvSpPr>
        <p:spPr>
          <a:xfrm>
            <a:off x="914400" y="1691640"/>
            <a:ext cx="3566160" cy="594360"/>
          </a:xfrm>
          <a:prstGeom prst="roundRect">
            <a:avLst>
              <a:gd name="adj" fmla="val 7692"/>
            </a:avLst>
          </a:prstGeom>
          <a:solidFill>
            <a:srgbClr val="FFFFFF"/>
          </a:solidFill>
          <a:ln/>
        </p:spPr>
        <p:txBody>
          <a:bodyPr/>
          <a:lstStyle/>
          <a:p>
            <a:endParaRPr lang="es-AR"/>
          </a:p>
        </p:txBody>
      </p:sp>
      <p:sp>
        <p:nvSpPr>
          <p:cNvPr id="8" name="Text 6"/>
          <p:cNvSpPr txBox="1"/>
          <p:nvPr/>
        </p:nvSpPr>
        <p:spPr>
          <a:xfrm>
            <a:off x="969264" y="1691640"/>
            <a:ext cx="3456432" cy="594360"/>
          </a:xfrm>
          <a:prstGeom prst="rect">
            <a:avLst/>
          </a:prstGeom>
          <a:noFill/>
          <a:ln/>
        </p:spPr>
        <p:txBody>
          <a:bodyPr wrap="square" lIns="0" tIns="0" rIns="0" bIns="0" rtlCol="0" anchor="ctr"/>
          <a:lstStyle/>
          <a:p>
            <a:pPr marL="0" indent="0" algn="ctr">
              <a:buNone/>
            </a:pPr>
            <a:r>
              <a:rPr lang="en-US" sz="1200" dirty="0">
                <a:solidFill>
                  <a:srgbClr val="B36A22"/>
                </a:solidFill>
                <a:latin typeface="Courier New" pitchFamily="34" charset="0"/>
                <a:ea typeface="Courier New" pitchFamily="34" charset="-122"/>
                <a:cs typeface="Courier New" pitchFamily="34" charset="-120"/>
              </a:rPr>
              <a:t>/speckit-constitution</a:t>
            </a:r>
            <a:endParaRPr lang="en-US" sz="1200" dirty="0"/>
          </a:p>
        </p:txBody>
      </p:sp>
      <p:sp>
        <p:nvSpPr>
          <p:cNvPr id="9" name="Text 7"/>
          <p:cNvSpPr txBox="1"/>
          <p:nvPr/>
        </p:nvSpPr>
        <p:spPr>
          <a:xfrm>
            <a:off x="4526280" y="1691640"/>
            <a:ext cx="411480" cy="59436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937760" y="1691640"/>
            <a:ext cx="3017520" cy="594360"/>
          </a:xfrm>
          <a:prstGeom prst="roundRect">
            <a:avLst>
              <a:gd name="adj" fmla="val 7692"/>
            </a:avLst>
          </a:prstGeom>
          <a:solidFill>
            <a:srgbClr val="FFFFFF"/>
          </a:solidFill>
          <a:ln/>
        </p:spPr>
        <p:txBody>
          <a:bodyPr/>
          <a:lstStyle/>
          <a:p>
            <a:endParaRPr lang="es-AR"/>
          </a:p>
        </p:txBody>
      </p:sp>
      <p:sp>
        <p:nvSpPr>
          <p:cNvPr id="11" name="Text 9"/>
          <p:cNvSpPr txBox="1"/>
          <p:nvPr/>
        </p:nvSpPr>
        <p:spPr>
          <a:xfrm>
            <a:off x="4992624" y="1691640"/>
            <a:ext cx="2907792" cy="594360"/>
          </a:xfrm>
          <a:prstGeom prst="rect">
            <a:avLst/>
          </a:prstGeom>
          <a:noFill/>
          <a:ln/>
        </p:spPr>
        <p:txBody>
          <a:bodyPr wrap="square" lIns="0" tIns="0" rIns="0" bIns="0" rtlCol="0" anchor="ctr"/>
          <a:lstStyle/>
          <a:p>
            <a:pPr marL="0" indent="0" algn="ctr">
              <a:buNone/>
            </a:pPr>
            <a:r>
              <a:rPr lang="en-US" sz="1150" dirty="0">
                <a:solidFill>
                  <a:srgbClr val="1F2D36"/>
                </a:solidFill>
                <a:latin typeface="Courier New" pitchFamily="34" charset="0"/>
                <a:ea typeface="Courier New" pitchFamily="34" charset="-122"/>
                <a:cs typeface="Courier New" pitchFamily="34" charset="-120"/>
              </a:rPr>
              <a:t>bump MINOR / MAJOR</a:t>
            </a:r>
            <a:endParaRPr lang="en-US" sz="1150" dirty="0"/>
          </a:p>
        </p:txBody>
      </p:sp>
      <p:sp>
        <p:nvSpPr>
          <p:cNvPr id="12" name="Text 10"/>
          <p:cNvSpPr txBox="1"/>
          <p:nvPr/>
        </p:nvSpPr>
        <p:spPr>
          <a:xfrm>
            <a:off x="8001000" y="1691640"/>
            <a:ext cx="411480" cy="59436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8412480" y="1691640"/>
            <a:ext cx="2880360" cy="594360"/>
          </a:xfrm>
          <a:prstGeom prst="roundRect">
            <a:avLst>
              <a:gd name="adj" fmla="val 7692"/>
            </a:avLst>
          </a:prstGeom>
          <a:solidFill>
            <a:srgbClr val="FFFFFF"/>
          </a:solidFill>
          <a:ln/>
        </p:spPr>
        <p:txBody>
          <a:bodyPr/>
          <a:lstStyle/>
          <a:p>
            <a:endParaRPr lang="es-AR"/>
          </a:p>
        </p:txBody>
      </p:sp>
      <p:sp>
        <p:nvSpPr>
          <p:cNvPr id="14" name="Text 12"/>
          <p:cNvSpPr txBox="1"/>
          <p:nvPr/>
        </p:nvSpPr>
        <p:spPr>
          <a:xfrm>
            <a:off x="8467344" y="1691640"/>
            <a:ext cx="2770632" cy="594360"/>
          </a:xfrm>
          <a:prstGeom prst="rect">
            <a:avLst/>
          </a:prstGeom>
          <a:noFill/>
          <a:ln/>
        </p:spPr>
        <p:txBody>
          <a:bodyPr wrap="square" lIns="0" tIns="0" rIns="0" bIns="0" rtlCol="0" anchor="ctr"/>
          <a:lstStyle/>
          <a:p>
            <a:pPr marL="0" indent="0" algn="ctr">
              <a:buNone/>
            </a:pPr>
            <a:r>
              <a:rPr lang="en-US" sz="1150" dirty="0">
                <a:solidFill>
                  <a:srgbClr val="B36A22"/>
                </a:solidFill>
                <a:latin typeface="Courier New" pitchFamily="34" charset="0"/>
                <a:ea typeface="Courier New" pitchFamily="34" charset="-122"/>
                <a:cs typeface="Courier New" pitchFamily="34" charset="-120"/>
              </a:rPr>
              <a:t>/speckit-converge</a:t>
            </a:r>
            <a:endParaRPr lang="en-US" sz="1150" dirty="0"/>
          </a:p>
        </p:txBody>
      </p:sp>
      <p:sp>
        <p:nvSpPr>
          <p:cNvPr id="15" name="Shape 13"/>
          <p:cNvSpPr/>
          <p:nvPr/>
        </p:nvSpPr>
        <p:spPr>
          <a:xfrm>
            <a:off x="6089904" y="2587752"/>
            <a:ext cx="0" cy="338328"/>
          </a:xfrm>
          <a:prstGeom prst="line">
            <a:avLst/>
          </a:prstGeom>
          <a:noFill/>
          <a:ln w="22225">
            <a:solidFill>
              <a:srgbClr val="9FB1B8"/>
            </a:solidFill>
            <a:prstDash val="solid"/>
            <a:tailEnd type="triangle"/>
          </a:ln>
        </p:spPr>
        <p:txBody>
          <a:bodyPr/>
          <a:lstStyle/>
          <a:p>
            <a:endParaRPr lang="es-AR"/>
          </a:p>
        </p:txBody>
      </p:sp>
      <p:sp>
        <p:nvSpPr>
          <p:cNvPr id="16" name="Shape 14"/>
          <p:cNvSpPr/>
          <p:nvPr/>
        </p:nvSpPr>
        <p:spPr>
          <a:xfrm>
            <a:off x="548640" y="2971800"/>
            <a:ext cx="11094415" cy="3154680"/>
          </a:xfrm>
          <a:prstGeom prst="roundRect">
            <a:avLst>
              <a:gd name="adj" fmla="val 1739"/>
            </a:avLst>
          </a:prstGeom>
          <a:solidFill>
            <a:srgbClr val="EEF5F4"/>
          </a:solidFill>
          <a:ln/>
        </p:spPr>
        <p:txBody>
          <a:bodyPr/>
          <a:lstStyle/>
          <a:p>
            <a:endParaRPr lang="es-AR"/>
          </a:p>
        </p:txBody>
      </p:sp>
      <p:sp>
        <p:nvSpPr>
          <p:cNvPr id="17" name="Text 15"/>
          <p:cNvSpPr txBox="1"/>
          <p:nvPr/>
        </p:nvSpPr>
        <p:spPr>
          <a:xfrm>
            <a:off x="914400" y="3127248"/>
            <a:ext cx="10058400" cy="237744"/>
          </a:xfrm>
          <a:prstGeom prst="rect">
            <a:avLst/>
          </a:prstGeom>
          <a:noFill/>
          <a:ln/>
        </p:spPr>
        <p:txBody>
          <a:bodyPr wrap="square" lIns="0" tIns="0" rIns="0" bIns="0" rtlCol="0" anchor="ctr"/>
          <a:lstStyle/>
          <a:p>
            <a:pPr marL="0" indent="0">
              <a:buNone/>
            </a:pPr>
            <a:r>
              <a:rPr lang="en-US" sz="1000" b="1" kern="0" spc="150" dirty="0">
                <a:solidFill>
                  <a:srgbClr val="027A6E"/>
                </a:solidFill>
                <a:latin typeface="Calibri" pitchFamily="34" charset="0"/>
                <a:ea typeface="Calibri" pitchFamily="34" charset="-122"/>
                <a:cs typeface="Calibri" pitchFamily="34" charset="-120"/>
              </a:rPr>
              <a:t>SIEMPRE — /speckit-specify CREA LA RAMA NNN-&lt;feature&gt; Y SU CARPETA specs/NNN-.../</a:t>
            </a:r>
            <a:endParaRPr lang="en-US" sz="1000" dirty="0"/>
          </a:p>
        </p:txBody>
      </p:sp>
      <p:sp>
        <p:nvSpPr>
          <p:cNvPr id="18" name="Shape 16"/>
          <p:cNvSpPr/>
          <p:nvPr/>
        </p:nvSpPr>
        <p:spPr>
          <a:xfrm>
            <a:off x="914400" y="3493008"/>
            <a:ext cx="1783080" cy="1508760"/>
          </a:xfrm>
          <a:prstGeom prst="roundRect">
            <a:avLst>
              <a:gd name="adj" fmla="val 3636"/>
            </a:avLst>
          </a:prstGeom>
          <a:solidFill>
            <a:srgbClr val="FFFFFF"/>
          </a:solidFill>
          <a:ln/>
        </p:spPr>
        <p:txBody>
          <a:bodyPr/>
          <a:lstStyle/>
          <a:p>
            <a:endParaRPr lang="es-AR"/>
          </a:p>
        </p:txBody>
      </p:sp>
      <p:sp>
        <p:nvSpPr>
          <p:cNvPr id="19" name="Text 17"/>
          <p:cNvSpPr txBox="1"/>
          <p:nvPr/>
        </p:nvSpPr>
        <p:spPr>
          <a:xfrm>
            <a:off x="950976" y="3639312"/>
            <a:ext cx="1709928" cy="292608"/>
          </a:xfrm>
          <a:prstGeom prst="rect">
            <a:avLst/>
          </a:prstGeom>
          <a:noFill/>
          <a:ln/>
        </p:spPr>
        <p:txBody>
          <a:bodyPr wrap="square" lIns="0" tIns="0" rIns="0" bIns="0" rtlCol="0" anchor="ctr"/>
          <a:lstStyle/>
          <a:p>
            <a:pPr marL="0" indent="0" algn="ctr">
              <a:buNone/>
            </a:pPr>
            <a:r>
              <a:rPr lang="en-US" sz="1050" b="1" dirty="0">
                <a:solidFill>
                  <a:srgbClr val="1F2D36"/>
                </a:solidFill>
                <a:latin typeface="Courier New" pitchFamily="34" charset="0"/>
                <a:ea typeface="Courier New" pitchFamily="34" charset="-122"/>
                <a:cs typeface="Courier New" pitchFamily="34" charset="-120"/>
              </a:rPr>
              <a:t>/speckit-specify</a:t>
            </a:r>
            <a:endParaRPr lang="en-US" sz="1050" dirty="0"/>
          </a:p>
        </p:txBody>
      </p:sp>
      <p:sp>
        <p:nvSpPr>
          <p:cNvPr id="20" name="Text 18"/>
          <p:cNvSpPr txBox="1"/>
          <p:nvPr/>
        </p:nvSpPr>
        <p:spPr>
          <a:xfrm>
            <a:off x="1005840" y="3986784"/>
            <a:ext cx="1600200" cy="457200"/>
          </a:xfrm>
          <a:prstGeom prst="rect">
            <a:avLst/>
          </a:prstGeom>
          <a:noFill/>
          <a:ln/>
        </p:spPr>
        <p:txBody>
          <a:bodyPr wrap="square" lIns="0" tIns="0" rIns="0" bIns="0" rtlCol="0" anchor="t"/>
          <a:lstStyle/>
          <a:p>
            <a:pPr marL="0" indent="0" algn="ctr">
              <a:lnSpc>
                <a:spcPts val="1400"/>
              </a:lnSpc>
              <a:buNone/>
            </a:pPr>
            <a:r>
              <a:rPr lang="en-US" sz="1100" dirty="0">
                <a:solidFill>
                  <a:srgbClr val="6B7C87"/>
                </a:solidFill>
                <a:latin typeface="Calibri" pitchFamily="34" charset="0"/>
                <a:ea typeface="Calibri" pitchFamily="34" charset="-122"/>
                <a:cs typeface="Calibri" pitchFamily="34" charset="-120"/>
              </a:rPr>
              <a:t>Qué y porqué</a:t>
            </a:r>
            <a:endParaRPr lang="en-US" sz="1100" dirty="0"/>
          </a:p>
        </p:txBody>
      </p:sp>
      <p:sp>
        <p:nvSpPr>
          <p:cNvPr id="21" name="Text 19"/>
          <p:cNvSpPr txBox="1"/>
          <p:nvPr/>
        </p:nvSpPr>
        <p:spPr>
          <a:xfrm>
            <a:off x="969264" y="4453128"/>
            <a:ext cx="1673352" cy="475488"/>
          </a:xfrm>
          <a:prstGeom prst="rect">
            <a:avLst/>
          </a:prstGeom>
          <a:noFill/>
          <a:ln/>
        </p:spPr>
        <p:txBody>
          <a:bodyPr wrap="square" lIns="0" tIns="0" rIns="0" bIns="0" rtlCol="0" anchor="ctr"/>
          <a:lstStyle/>
          <a:p>
            <a:pPr marL="0" indent="0" algn="ctr">
              <a:lnSpc>
                <a:spcPts val="1100"/>
              </a:lnSpc>
              <a:buNone/>
            </a:pPr>
            <a:r>
              <a:rPr lang="en-US" sz="900" dirty="0">
                <a:solidFill>
                  <a:srgbClr val="B36A22"/>
                </a:solidFill>
                <a:latin typeface="Courier New" pitchFamily="34" charset="0"/>
                <a:ea typeface="Courier New" pitchFamily="34" charset="-122"/>
                <a:cs typeface="Courier New" pitchFamily="34" charset="-120"/>
              </a:rPr>
              <a:t>+ /speckit-clarify</a:t>
            </a:r>
            <a:endParaRPr lang="en-US" sz="900" dirty="0"/>
          </a:p>
        </p:txBody>
      </p:sp>
      <p:sp>
        <p:nvSpPr>
          <p:cNvPr id="22" name="Text 20"/>
          <p:cNvSpPr txBox="1"/>
          <p:nvPr/>
        </p:nvSpPr>
        <p:spPr>
          <a:xfrm>
            <a:off x="2697480" y="3858768"/>
            <a:ext cx="361188" cy="45720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3058668" y="3493008"/>
            <a:ext cx="1783080" cy="1508760"/>
          </a:xfrm>
          <a:prstGeom prst="roundRect">
            <a:avLst>
              <a:gd name="adj" fmla="val 3636"/>
            </a:avLst>
          </a:prstGeom>
          <a:solidFill>
            <a:srgbClr val="FFFFFF"/>
          </a:solidFill>
          <a:ln/>
        </p:spPr>
        <p:txBody>
          <a:bodyPr/>
          <a:lstStyle/>
          <a:p>
            <a:endParaRPr lang="es-AR"/>
          </a:p>
        </p:txBody>
      </p:sp>
      <p:sp>
        <p:nvSpPr>
          <p:cNvPr id="24" name="Text 22"/>
          <p:cNvSpPr txBox="1"/>
          <p:nvPr/>
        </p:nvSpPr>
        <p:spPr>
          <a:xfrm>
            <a:off x="3095244" y="3639312"/>
            <a:ext cx="1709928" cy="292608"/>
          </a:xfrm>
          <a:prstGeom prst="rect">
            <a:avLst/>
          </a:prstGeom>
          <a:noFill/>
          <a:ln/>
        </p:spPr>
        <p:txBody>
          <a:bodyPr wrap="square" lIns="0" tIns="0" rIns="0" bIns="0" rtlCol="0" anchor="ctr"/>
          <a:lstStyle/>
          <a:p>
            <a:pPr marL="0" indent="0" algn="ctr">
              <a:buNone/>
            </a:pPr>
            <a:r>
              <a:rPr lang="en-US" sz="1050" b="1" dirty="0">
                <a:solidFill>
                  <a:srgbClr val="1F2D36"/>
                </a:solidFill>
                <a:latin typeface="Courier New" pitchFamily="34" charset="0"/>
                <a:ea typeface="Courier New" pitchFamily="34" charset="-122"/>
                <a:cs typeface="Courier New" pitchFamily="34" charset="-120"/>
              </a:rPr>
              <a:t>/speckit-plan</a:t>
            </a:r>
            <a:endParaRPr lang="en-US" sz="1050" dirty="0"/>
          </a:p>
        </p:txBody>
      </p:sp>
      <p:sp>
        <p:nvSpPr>
          <p:cNvPr id="25" name="Text 23"/>
          <p:cNvSpPr txBox="1"/>
          <p:nvPr/>
        </p:nvSpPr>
        <p:spPr>
          <a:xfrm>
            <a:off x="3150108" y="3986784"/>
            <a:ext cx="1600200" cy="457200"/>
          </a:xfrm>
          <a:prstGeom prst="rect">
            <a:avLst/>
          </a:prstGeom>
          <a:noFill/>
          <a:ln/>
        </p:spPr>
        <p:txBody>
          <a:bodyPr wrap="square" lIns="0" tIns="0" rIns="0" bIns="0" rtlCol="0" anchor="t"/>
          <a:lstStyle/>
          <a:p>
            <a:pPr marL="0" indent="0" algn="ctr">
              <a:lnSpc>
                <a:spcPts val="1400"/>
              </a:lnSpc>
              <a:buNone/>
            </a:pPr>
            <a:r>
              <a:rPr lang="en-US" sz="1100" dirty="0">
                <a:solidFill>
                  <a:srgbClr val="6B7C87"/>
                </a:solidFill>
                <a:latin typeface="Calibri" pitchFamily="34" charset="0"/>
                <a:ea typeface="Calibri" pitchFamily="34" charset="-122"/>
                <a:cs typeface="Calibri" pitchFamily="34" charset="-120"/>
              </a:rPr>
              <a:t>Cómo</a:t>
            </a:r>
            <a:endParaRPr lang="en-US" sz="1100" dirty="0"/>
          </a:p>
        </p:txBody>
      </p:sp>
      <p:sp>
        <p:nvSpPr>
          <p:cNvPr id="26" name="Text 24"/>
          <p:cNvSpPr txBox="1"/>
          <p:nvPr/>
        </p:nvSpPr>
        <p:spPr>
          <a:xfrm>
            <a:off x="4841748" y="3858768"/>
            <a:ext cx="361188" cy="45720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27" name="Shape 25"/>
          <p:cNvSpPr/>
          <p:nvPr/>
        </p:nvSpPr>
        <p:spPr>
          <a:xfrm>
            <a:off x="5202936" y="3493008"/>
            <a:ext cx="1783080" cy="1508760"/>
          </a:xfrm>
          <a:prstGeom prst="roundRect">
            <a:avLst>
              <a:gd name="adj" fmla="val 3636"/>
            </a:avLst>
          </a:prstGeom>
          <a:solidFill>
            <a:srgbClr val="FFFFFF"/>
          </a:solidFill>
          <a:ln/>
        </p:spPr>
        <p:txBody>
          <a:bodyPr/>
          <a:lstStyle/>
          <a:p>
            <a:endParaRPr lang="es-AR"/>
          </a:p>
        </p:txBody>
      </p:sp>
      <p:sp>
        <p:nvSpPr>
          <p:cNvPr id="28" name="Text 26"/>
          <p:cNvSpPr txBox="1"/>
          <p:nvPr/>
        </p:nvSpPr>
        <p:spPr>
          <a:xfrm>
            <a:off x="5239512" y="3639312"/>
            <a:ext cx="1709928" cy="292608"/>
          </a:xfrm>
          <a:prstGeom prst="rect">
            <a:avLst/>
          </a:prstGeom>
          <a:noFill/>
          <a:ln/>
        </p:spPr>
        <p:txBody>
          <a:bodyPr wrap="square" lIns="0" tIns="0" rIns="0" bIns="0" rtlCol="0" anchor="ctr"/>
          <a:lstStyle/>
          <a:p>
            <a:pPr marL="0" indent="0" algn="ctr">
              <a:buNone/>
            </a:pPr>
            <a:r>
              <a:rPr lang="en-US" sz="1050" b="1" dirty="0">
                <a:solidFill>
                  <a:srgbClr val="1F2D36"/>
                </a:solidFill>
                <a:latin typeface="Courier New" pitchFamily="34" charset="0"/>
                <a:ea typeface="Courier New" pitchFamily="34" charset="-122"/>
                <a:cs typeface="Courier New" pitchFamily="34" charset="-120"/>
              </a:rPr>
              <a:t>/speckit-tasks</a:t>
            </a:r>
            <a:endParaRPr lang="en-US" sz="1050" dirty="0"/>
          </a:p>
        </p:txBody>
      </p:sp>
      <p:sp>
        <p:nvSpPr>
          <p:cNvPr id="29" name="Text 27"/>
          <p:cNvSpPr txBox="1"/>
          <p:nvPr/>
        </p:nvSpPr>
        <p:spPr>
          <a:xfrm>
            <a:off x="5294376" y="3986784"/>
            <a:ext cx="1600200" cy="457200"/>
          </a:xfrm>
          <a:prstGeom prst="rect">
            <a:avLst/>
          </a:prstGeom>
          <a:noFill/>
          <a:ln/>
        </p:spPr>
        <p:txBody>
          <a:bodyPr wrap="square" lIns="0" tIns="0" rIns="0" bIns="0" rtlCol="0" anchor="t"/>
          <a:lstStyle/>
          <a:p>
            <a:pPr marL="0" indent="0" algn="ctr">
              <a:lnSpc>
                <a:spcPts val="1400"/>
              </a:lnSpc>
              <a:buNone/>
            </a:pPr>
            <a:r>
              <a:rPr lang="en-US" sz="1100" dirty="0">
                <a:solidFill>
                  <a:srgbClr val="6B7C87"/>
                </a:solidFill>
                <a:latin typeface="Calibri" pitchFamily="34" charset="0"/>
                <a:ea typeface="Calibri" pitchFamily="34" charset="-122"/>
                <a:cs typeface="Calibri" pitchFamily="34" charset="-120"/>
              </a:rPr>
              <a:t>Desglose</a:t>
            </a:r>
            <a:endParaRPr lang="en-US" sz="1100" dirty="0"/>
          </a:p>
        </p:txBody>
      </p:sp>
      <p:sp>
        <p:nvSpPr>
          <p:cNvPr id="30" name="Text 28"/>
          <p:cNvSpPr txBox="1"/>
          <p:nvPr/>
        </p:nvSpPr>
        <p:spPr>
          <a:xfrm>
            <a:off x="5257800" y="4453128"/>
            <a:ext cx="1673352" cy="475488"/>
          </a:xfrm>
          <a:prstGeom prst="rect">
            <a:avLst/>
          </a:prstGeom>
          <a:noFill/>
          <a:ln/>
        </p:spPr>
        <p:txBody>
          <a:bodyPr wrap="square" lIns="0" tIns="0" rIns="0" bIns="0" rtlCol="0" anchor="ctr"/>
          <a:lstStyle/>
          <a:p>
            <a:pPr marL="0" indent="0" algn="ctr">
              <a:lnSpc>
                <a:spcPts val="1100"/>
              </a:lnSpc>
              <a:buNone/>
            </a:pPr>
            <a:r>
              <a:rPr lang="en-US" sz="900" dirty="0">
                <a:solidFill>
                  <a:srgbClr val="B36A22"/>
                </a:solidFill>
                <a:latin typeface="Courier New" pitchFamily="34" charset="0"/>
                <a:ea typeface="Courier New" pitchFamily="34" charset="-122"/>
                <a:cs typeface="Courier New" pitchFamily="34" charset="-120"/>
              </a:rPr>
              <a:t>+ /speckit-analyze</a:t>
            </a:r>
            <a:endParaRPr lang="en-US" sz="900" dirty="0"/>
          </a:p>
        </p:txBody>
      </p:sp>
      <p:sp>
        <p:nvSpPr>
          <p:cNvPr id="31" name="Text 29"/>
          <p:cNvSpPr txBox="1"/>
          <p:nvPr/>
        </p:nvSpPr>
        <p:spPr>
          <a:xfrm>
            <a:off x="6986016" y="3858768"/>
            <a:ext cx="361188" cy="45720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32" name="Shape 30"/>
          <p:cNvSpPr/>
          <p:nvPr/>
        </p:nvSpPr>
        <p:spPr>
          <a:xfrm>
            <a:off x="7347204" y="3493008"/>
            <a:ext cx="1783080" cy="1508760"/>
          </a:xfrm>
          <a:prstGeom prst="roundRect">
            <a:avLst>
              <a:gd name="adj" fmla="val 3636"/>
            </a:avLst>
          </a:prstGeom>
          <a:solidFill>
            <a:srgbClr val="FFFFFF"/>
          </a:solidFill>
          <a:ln/>
        </p:spPr>
        <p:txBody>
          <a:bodyPr/>
          <a:lstStyle/>
          <a:p>
            <a:endParaRPr lang="es-AR"/>
          </a:p>
        </p:txBody>
      </p:sp>
      <p:sp>
        <p:nvSpPr>
          <p:cNvPr id="33" name="Text 31"/>
          <p:cNvSpPr txBox="1"/>
          <p:nvPr/>
        </p:nvSpPr>
        <p:spPr>
          <a:xfrm>
            <a:off x="7383780" y="3639312"/>
            <a:ext cx="1709928" cy="292608"/>
          </a:xfrm>
          <a:prstGeom prst="rect">
            <a:avLst/>
          </a:prstGeom>
          <a:noFill/>
          <a:ln/>
        </p:spPr>
        <p:txBody>
          <a:bodyPr wrap="square" lIns="0" tIns="0" rIns="0" bIns="0" rtlCol="0" anchor="ctr"/>
          <a:lstStyle/>
          <a:p>
            <a:pPr marL="0" indent="0" algn="ctr">
              <a:buNone/>
            </a:pPr>
            <a:r>
              <a:rPr lang="en-US" sz="1050" b="1" dirty="0">
                <a:solidFill>
                  <a:srgbClr val="1F2D36"/>
                </a:solidFill>
                <a:latin typeface="Courier New" pitchFamily="34" charset="0"/>
                <a:ea typeface="Courier New" pitchFamily="34" charset="-122"/>
                <a:cs typeface="Courier New" pitchFamily="34" charset="-120"/>
              </a:rPr>
              <a:t>/speckit-implement</a:t>
            </a:r>
            <a:endParaRPr lang="en-US" sz="1050" dirty="0"/>
          </a:p>
        </p:txBody>
      </p:sp>
      <p:sp>
        <p:nvSpPr>
          <p:cNvPr id="34" name="Text 32"/>
          <p:cNvSpPr txBox="1"/>
          <p:nvPr/>
        </p:nvSpPr>
        <p:spPr>
          <a:xfrm>
            <a:off x="7438644" y="3986784"/>
            <a:ext cx="1600200" cy="457200"/>
          </a:xfrm>
          <a:prstGeom prst="rect">
            <a:avLst/>
          </a:prstGeom>
          <a:noFill/>
          <a:ln/>
        </p:spPr>
        <p:txBody>
          <a:bodyPr wrap="square" lIns="0" tIns="0" rIns="0" bIns="0" rtlCol="0" anchor="t"/>
          <a:lstStyle/>
          <a:p>
            <a:pPr marL="0" indent="0" algn="ctr">
              <a:lnSpc>
                <a:spcPts val="1400"/>
              </a:lnSpc>
              <a:buNone/>
            </a:pPr>
            <a:r>
              <a:rPr lang="en-US" sz="1100" dirty="0">
                <a:solidFill>
                  <a:srgbClr val="6B7C87"/>
                </a:solidFill>
                <a:latin typeface="Calibri" pitchFamily="34" charset="0"/>
                <a:ea typeface="Calibri" pitchFamily="34" charset="-122"/>
                <a:cs typeface="Calibri" pitchFamily="34" charset="-120"/>
              </a:rPr>
              <a:t>Ejecución</a:t>
            </a:r>
            <a:endParaRPr lang="en-US" sz="1100" dirty="0"/>
          </a:p>
        </p:txBody>
      </p:sp>
      <p:sp>
        <p:nvSpPr>
          <p:cNvPr id="35" name="Text 33"/>
          <p:cNvSpPr txBox="1"/>
          <p:nvPr/>
        </p:nvSpPr>
        <p:spPr>
          <a:xfrm>
            <a:off x="9130284" y="3858768"/>
            <a:ext cx="361188" cy="457200"/>
          </a:xfrm>
          <a:prstGeom prst="rect">
            <a:avLst/>
          </a:prstGeom>
          <a:noFill/>
          <a:ln/>
        </p:spPr>
        <p:txBody>
          <a:bodyPr wrap="square" lIns="0" tIns="0" rIns="0" bIns="0" rtlCol="0" anchor="ctr"/>
          <a:lstStyle/>
          <a:p>
            <a:pPr marL="0" indent="0" algn="ctr">
              <a:buNone/>
            </a:pPr>
            <a:r>
              <a:rPr lang="en-US" sz="2000" b="1" dirty="0">
                <a:solidFill>
                  <a:srgbClr val="B9C7CC"/>
                </a:solidFill>
                <a:latin typeface="Calibri" pitchFamily="34" charset="0"/>
                <a:ea typeface="Calibri" pitchFamily="34" charset="-122"/>
                <a:cs typeface="Calibri" pitchFamily="34" charset="-120"/>
              </a:rPr>
              <a:t>›</a:t>
            </a:r>
            <a:endParaRPr lang="en-US" sz="2000" dirty="0"/>
          </a:p>
        </p:txBody>
      </p:sp>
      <p:sp>
        <p:nvSpPr>
          <p:cNvPr id="36" name="Shape 34"/>
          <p:cNvSpPr/>
          <p:nvPr/>
        </p:nvSpPr>
        <p:spPr>
          <a:xfrm>
            <a:off x="9491472" y="3493008"/>
            <a:ext cx="1783080" cy="1508760"/>
          </a:xfrm>
          <a:prstGeom prst="roundRect">
            <a:avLst>
              <a:gd name="adj" fmla="val 3636"/>
            </a:avLst>
          </a:prstGeom>
          <a:solidFill>
            <a:srgbClr val="E4EFEC"/>
          </a:solidFill>
          <a:ln/>
        </p:spPr>
        <p:txBody>
          <a:bodyPr/>
          <a:lstStyle/>
          <a:p>
            <a:endParaRPr lang="es-AR"/>
          </a:p>
        </p:txBody>
      </p:sp>
      <p:sp>
        <p:nvSpPr>
          <p:cNvPr id="37" name="Text 35"/>
          <p:cNvSpPr txBox="1"/>
          <p:nvPr/>
        </p:nvSpPr>
        <p:spPr>
          <a:xfrm>
            <a:off x="9528048" y="3639312"/>
            <a:ext cx="1709928" cy="292608"/>
          </a:xfrm>
          <a:prstGeom prst="rect">
            <a:avLst/>
          </a:prstGeom>
          <a:noFill/>
          <a:ln/>
        </p:spPr>
        <p:txBody>
          <a:bodyPr wrap="square" lIns="0" tIns="0" rIns="0" bIns="0" rtlCol="0" anchor="ctr"/>
          <a:lstStyle/>
          <a:p>
            <a:pPr marL="0" indent="0" algn="ctr">
              <a:buNone/>
            </a:pPr>
            <a:r>
              <a:rPr lang="en-US" sz="1050" b="1" dirty="0">
                <a:solidFill>
                  <a:srgbClr val="1F2D36"/>
                </a:solidFill>
                <a:latin typeface="Courier New" pitchFamily="34" charset="0"/>
                <a:ea typeface="Courier New" pitchFamily="34" charset="-122"/>
                <a:cs typeface="Courier New" pitchFamily="34" charset="-120"/>
              </a:rPr>
              <a:t>merge a main</a:t>
            </a:r>
            <a:endParaRPr lang="en-US" sz="1050" dirty="0"/>
          </a:p>
        </p:txBody>
      </p:sp>
      <p:sp>
        <p:nvSpPr>
          <p:cNvPr id="38" name="Text 36"/>
          <p:cNvSpPr txBox="1"/>
          <p:nvPr/>
        </p:nvSpPr>
        <p:spPr>
          <a:xfrm>
            <a:off x="9582912" y="3986784"/>
            <a:ext cx="1600200" cy="457200"/>
          </a:xfrm>
          <a:prstGeom prst="rect">
            <a:avLst/>
          </a:prstGeom>
          <a:noFill/>
          <a:ln/>
        </p:spPr>
        <p:txBody>
          <a:bodyPr wrap="square" lIns="0" tIns="0" rIns="0" bIns="0" rtlCol="0" anchor="t"/>
          <a:lstStyle/>
          <a:p>
            <a:pPr marL="0" indent="0" algn="ctr">
              <a:lnSpc>
                <a:spcPts val="1400"/>
              </a:lnSpc>
              <a:buNone/>
            </a:pPr>
            <a:r>
              <a:rPr lang="en-US" sz="1100" dirty="0">
                <a:solidFill>
                  <a:srgbClr val="6B7C87"/>
                </a:solidFill>
                <a:latin typeface="Calibri" pitchFamily="34" charset="0"/>
                <a:ea typeface="Calibri" pitchFamily="34" charset="-122"/>
                <a:cs typeface="Calibri" pitchFamily="34" charset="-120"/>
              </a:rPr>
              <a:t>Cierre</a:t>
            </a:r>
            <a:endParaRPr lang="en-US" sz="1100" dirty="0"/>
          </a:p>
        </p:txBody>
      </p:sp>
      <p:sp>
        <p:nvSpPr>
          <p:cNvPr id="39" name="Text 37"/>
          <p:cNvSpPr txBox="1"/>
          <p:nvPr/>
        </p:nvSpPr>
        <p:spPr>
          <a:xfrm>
            <a:off x="9546336" y="4453128"/>
            <a:ext cx="1673352" cy="475488"/>
          </a:xfrm>
          <a:prstGeom prst="rect">
            <a:avLst/>
          </a:prstGeom>
          <a:noFill/>
          <a:ln/>
        </p:spPr>
        <p:txBody>
          <a:bodyPr wrap="square" lIns="0" tIns="0" rIns="0" bIns="0" rtlCol="0" anchor="ctr"/>
          <a:lstStyle/>
          <a:p>
            <a:pPr marL="0" indent="0" algn="ctr">
              <a:lnSpc>
                <a:spcPts val="1100"/>
              </a:lnSpc>
              <a:buNone/>
            </a:pPr>
            <a:r>
              <a:rPr lang="en-US" sz="900" dirty="0">
                <a:solidFill>
                  <a:srgbClr val="B36A22"/>
                </a:solidFill>
                <a:latin typeface="Courier New" pitchFamily="34" charset="0"/>
                <a:ea typeface="Courier New" pitchFamily="34" charset="-122"/>
                <a:cs typeface="Courier New" pitchFamily="34" charset="-120"/>
              </a:rPr>
              <a:t>tests verdes</a:t>
            </a:r>
            <a:endParaRPr lang="en-US" sz="900" dirty="0"/>
          </a:p>
          <a:p>
            <a:pPr marL="0" indent="0" algn="ctr">
              <a:lnSpc>
                <a:spcPts val="1100"/>
              </a:lnSpc>
              <a:buNone/>
            </a:pPr>
            <a:r>
              <a:rPr lang="en-US" sz="900" dirty="0">
                <a:solidFill>
                  <a:srgbClr val="B36A22"/>
                </a:solidFill>
                <a:latin typeface="Courier New" pitchFamily="34" charset="0"/>
                <a:ea typeface="Courier New" pitchFamily="34" charset="-122"/>
                <a:cs typeface="Courier New" pitchFamily="34" charset="-120"/>
              </a:rPr>
              <a:t>+ /speckit-converge</a:t>
            </a:r>
            <a:endParaRPr lang="en-US" sz="900" dirty="0"/>
          </a:p>
        </p:txBody>
      </p:sp>
      <p:sp>
        <p:nvSpPr>
          <p:cNvPr id="40" name="Shape 38"/>
          <p:cNvSpPr/>
          <p:nvPr/>
        </p:nvSpPr>
        <p:spPr>
          <a:xfrm>
            <a:off x="10383012" y="5001768"/>
            <a:ext cx="0" cy="484632"/>
          </a:xfrm>
          <a:prstGeom prst="line">
            <a:avLst/>
          </a:prstGeom>
          <a:noFill/>
          <a:ln w="22225">
            <a:solidFill>
              <a:srgbClr val="9FB1B8"/>
            </a:solidFill>
            <a:prstDash val="solid"/>
          </a:ln>
        </p:spPr>
        <p:txBody>
          <a:bodyPr/>
          <a:lstStyle/>
          <a:p>
            <a:endParaRPr lang="es-AR"/>
          </a:p>
        </p:txBody>
      </p:sp>
      <p:sp>
        <p:nvSpPr>
          <p:cNvPr id="41" name="Shape 39"/>
          <p:cNvSpPr/>
          <p:nvPr/>
        </p:nvSpPr>
        <p:spPr>
          <a:xfrm>
            <a:off x="1805940" y="5486400"/>
            <a:ext cx="8577072" cy="0"/>
          </a:xfrm>
          <a:prstGeom prst="line">
            <a:avLst/>
          </a:prstGeom>
          <a:noFill/>
          <a:ln w="22225">
            <a:solidFill>
              <a:srgbClr val="9FB1B8"/>
            </a:solidFill>
            <a:prstDash val="solid"/>
          </a:ln>
        </p:spPr>
        <p:txBody>
          <a:bodyPr/>
          <a:lstStyle/>
          <a:p>
            <a:endParaRPr lang="es-AR"/>
          </a:p>
        </p:txBody>
      </p:sp>
      <p:sp>
        <p:nvSpPr>
          <p:cNvPr id="42" name="Shape 40"/>
          <p:cNvSpPr/>
          <p:nvPr/>
        </p:nvSpPr>
        <p:spPr>
          <a:xfrm>
            <a:off x="1805940" y="5001768"/>
            <a:ext cx="0" cy="484632"/>
          </a:xfrm>
          <a:prstGeom prst="line">
            <a:avLst/>
          </a:prstGeom>
          <a:noFill/>
          <a:ln w="22225">
            <a:solidFill>
              <a:srgbClr val="9FB1B8"/>
            </a:solidFill>
            <a:prstDash val="solid"/>
            <a:headEnd type="triangle"/>
          </a:ln>
        </p:spPr>
        <p:txBody>
          <a:bodyPr/>
          <a:lstStyle/>
          <a:p>
            <a:endParaRPr lang="es-AR"/>
          </a:p>
        </p:txBody>
      </p:sp>
      <p:sp>
        <p:nvSpPr>
          <p:cNvPr id="43" name="Text 41"/>
          <p:cNvSpPr txBox="1"/>
          <p:nvPr/>
        </p:nvSpPr>
        <p:spPr>
          <a:xfrm>
            <a:off x="1805940" y="5522976"/>
            <a:ext cx="8577072" cy="274320"/>
          </a:xfrm>
          <a:prstGeom prst="rect">
            <a:avLst/>
          </a:prstGeom>
          <a:noFill/>
          <a:ln/>
        </p:spPr>
        <p:txBody>
          <a:bodyPr wrap="square" lIns="0" tIns="0" rIns="0" bIns="0" rtlCol="0" anchor="ctr"/>
          <a:lstStyle/>
          <a:p>
            <a:pPr marL="0" indent="0" algn="ctr">
              <a:buNone/>
            </a:pPr>
            <a:r>
              <a:rPr lang="en-US" sz="1100" i="1" dirty="0">
                <a:solidFill>
                  <a:srgbClr val="6B7C87"/>
                </a:solidFill>
                <a:latin typeface="Calibri" pitchFamily="34" charset="0"/>
                <a:ea typeface="Calibri" pitchFamily="34" charset="-122"/>
                <a:cs typeface="Calibri" pitchFamily="34" charset="-120"/>
              </a:rPr>
              <a:t>siguiente feature · la numeración sigue donde quedó</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DOS CAMINOS</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1F2D36"/>
                </a:solidFill>
                <a:latin typeface="Calibri" pitchFamily="34" charset="0"/>
                <a:ea typeface="Calibri" pitchFamily="34" charset="-122"/>
                <a:cs typeface="Calibri" pitchFamily="34" charset="-120"/>
              </a:rPr>
              <a:t>No toda feature merece la vuelta completa</a:t>
            </a:r>
            <a:endParaRPr lang="en-US" sz="3400" dirty="0"/>
          </a:p>
        </p:txBody>
      </p:sp>
      <p:sp>
        <p:nvSpPr>
          <p:cNvPr id="4" name="Shape 2"/>
          <p:cNvSpPr/>
          <p:nvPr/>
        </p:nvSpPr>
        <p:spPr>
          <a:xfrm>
            <a:off x="548640" y="1417320"/>
            <a:ext cx="5431536" cy="5056632"/>
          </a:xfrm>
          <a:prstGeom prst="roundRect">
            <a:avLst>
              <a:gd name="adj" fmla="val 1188"/>
            </a:avLst>
          </a:prstGeom>
          <a:solidFill>
            <a:srgbClr val="F2F4F5"/>
          </a:solidFill>
          <a:ln/>
        </p:spPr>
        <p:txBody>
          <a:bodyPr/>
          <a:lstStyle/>
          <a:p>
            <a:endParaRPr lang="es-AR"/>
          </a:p>
        </p:txBody>
      </p:sp>
      <p:sp>
        <p:nvSpPr>
          <p:cNvPr id="5" name="Text 3"/>
          <p:cNvSpPr txBox="1"/>
          <p:nvPr/>
        </p:nvSpPr>
        <p:spPr>
          <a:xfrm>
            <a:off x="914400" y="1691640"/>
            <a:ext cx="4663440" cy="365760"/>
          </a:xfrm>
          <a:prstGeom prst="rect">
            <a:avLst/>
          </a:prstGeom>
          <a:noFill/>
          <a:ln/>
        </p:spPr>
        <p:txBody>
          <a:bodyPr wrap="square" lIns="0" tIns="0" rIns="0" bIns="0" rtlCol="0" anchor="ctr"/>
          <a:lstStyle/>
          <a:p>
            <a:pPr marL="0" indent="0">
              <a:buNone/>
            </a:pPr>
            <a:r>
              <a:rPr lang="en-US" sz="1900" b="1" dirty="0">
                <a:solidFill>
                  <a:srgbClr val="1F2D36"/>
                </a:solidFill>
                <a:latin typeface="Calibri" pitchFamily="34" charset="0"/>
                <a:ea typeface="Calibri" pitchFamily="34" charset="-122"/>
                <a:cs typeface="Calibri" pitchFamily="34" charset="-120"/>
              </a:rPr>
              <a:t>Shorter path</a:t>
            </a:r>
            <a:endParaRPr lang="en-US" sz="1900" dirty="0"/>
          </a:p>
        </p:txBody>
      </p:sp>
      <p:sp>
        <p:nvSpPr>
          <p:cNvPr id="6" name="Text 4"/>
          <p:cNvSpPr txBox="1"/>
          <p:nvPr/>
        </p:nvSpPr>
        <p:spPr>
          <a:xfrm>
            <a:off x="914400" y="2103120"/>
            <a:ext cx="4663440" cy="457200"/>
          </a:xfrm>
          <a:prstGeom prst="rect">
            <a:avLst/>
          </a:prstGeom>
          <a:noFill/>
          <a:ln/>
        </p:spPr>
        <p:txBody>
          <a:bodyPr wrap="square" lIns="0" tIns="0" rIns="0" bIns="0" rtlCol="0" anchor="t"/>
          <a:lstStyle/>
          <a:p>
            <a:pPr marL="0" indent="0">
              <a:lnSpc>
                <a:spcPts val="1700"/>
              </a:lnSpc>
              <a:buNone/>
            </a:pPr>
            <a:r>
              <a:rPr lang="en-US" sz="1250" dirty="0">
                <a:solidFill>
                  <a:srgbClr val="6B7C87"/>
                </a:solidFill>
                <a:latin typeface="Calibri" pitchFamily="34" charset="0"/>
                <a:ea typeface="Calibri" pitchFamily="34" charset="-122"/>
                <a:cs typeface="Calibri" pitchFamily="34" charset="-120"/>
              </a:rPr>
              <a:t>Experimentos rápidos, con poca ambigüedad en los requisitos.</a:t>
            </a:r>
            <a:endParaRPr lang="en-US" sz="1250" dirty="0"/>
          </a:p>
        </p:txBody>
      </p:sp>
      <p:sp>
        <p:nvSpPr>
          <p:cNvPr id="7" name="Shape 5"/>
          <p:cNvSpPr/>
          <p:nvPr/>
        </p:nvSpPr>
        <p:spPr>
          <a:xfrm>
            <a:off x="914400" y="2743200"/>
            <a:ext cx="4663440" cy="475488"/>
          </a:xfrm>
          <a:prstGeom prst="roundRect">
            <a:avLst>
              <a:gd name="adj" fmla="val 9615"/>
            </a:avLst>
          </a:prstGeom>
          <a:solidFill>
            <a:srgbClr val="FFFFFF"/>
          </a:solidFill>
          <a:ln/>
        </p:spPr>
        <p:txBody>
          <a:bodyPr/>
          <a:lstStyle/>
          <a:p>
            <a:endParaRPr lang="es-AR"/>
          </a:p>
        </p:txBody>
      </p:sp>
      <p:sp>
        <p:nvSpPr>
          <p:cNvPr id="8" name="Text 6"/>
          <p:cNvSpPr txBox="1"/>
          <p:nvPr/>
        </p:nvSpPr>
        <p:spPr>
          <a:xfrm>
            <a:off x="969264" y="2743200"/>
            <a:ext cx="4553712" cy="475488"/>
          </a:xfrm>
          <a:prstGeom prst="rect">
            <a:avLst/>
          </a:prstGeom>
          <a:noFill/>
          <a:ln/>
        </p:spPr>
        <p:txBody>
          <a:bodyPr wrap="square" lIns="0" tIns="0" rIns="0" bIns="0" rtlCol="0" anchor="ctr"/>
          <a:lstStyle/>
          <a:p>
            <a:pPr marL="0" indent="0" algn="ctr">
              <a:buNone/>
            </a:pPr>
            <a:r>
              <a:rPr lang="en-US" sz="1250" dirty="0">
                <a:solidFill>
                  <a:srgbClr val="1F2D36"/>
                </a:solidFill>
                <a:latin typeface="Courier New" pitchFamily="34" charset="0"/>
                <a:ea typeface="Courier New" pitchFamily="34" charset="-122"/>
                <a:cs typeface="Courier New" pitchFamily="34" charset="-120"/>
              </a:rPr>
              <a:t>/speckit-specify</a:t>
            </a:r>
            <a:endParaRPr lang="en-US" sz="1250" dirty="0"/>
          </a:p>
        </p:txBody>
      </p:sp>
      <p:sp>
        <p:nvSpPr>
          <p:cNvPr id="9" name="Shape 7"/>
          <p:cNvSpPr/>
          <p:nvPr/>
        </p:nvSpPr>
        <p:spPr>
          <a:xfrm>
            <a:off x="914400" y="3364992"/>
            <a:ext cx="4663440" cy="475488"/>
          </a:xfrm>
          <a:prstGeom prst="roundRect">
            <a:avLst>
              <a:gd name="adj" fmla="val 9615"/>
            </a:avLst>
          </a:prstGeom>
          <a:solidFill>
            <a:srgbClr val="FFFFFF"/>
          </a:solidFill>
          <a:ln/>
        </p:spPr>
        <p:txBody>
          <a:bodyPr/>
          <a:lstStyle/>
          <a:p>
            <a:endParaRPr lang="es-AR"/>
          </a:p>
        </p:txBody>
      </p:sp>
      <p:sp>
        <p:nvSpPr>
          <p:cNvPr id="10" name="Text 8"/>
          <p:cNvSpPr txBox="1"/>
          <p:nvPr/>
        </p:nvSpPr>
        <p:spPr>
          <a:xfrm>
            <a:off x="969264" y="3364992"/>
            <a:ext cx="4553712" cy="475488"/>
          </a:xfrm>
          <a:prstGeom prst="rect">
            <a:avLst/>
          </a:prstGeom>
          <a:noFill/>
          <a:ln/>
        </p:spPr>
        <p:txBody>
          <a:bodyPr wrap="square" lIns="0" tIns="0" rIns="0" bIns="0" rtlCol="0" anchor="ctr"/>
          <a:lstStyle/>
          <a:p>
            <a:pPr marL="0" indent="0" algn="ctr">
              <a:buNone/>
            </a:pPr>
            <a:r>
              <a:rPr lang="en-US" sz="1250" dirty="0">
                <a:solidFill>
                  <a:srgbClr val="1F2D36"/>
                </a:solidFill>
                <a:latin typeface="Courier New" pitchFamily="34" charset="0"/>
                <a:ea typeface="Courier New" pitchFamily="34" charset="-122"/>
                <a:cs typeface="Courier New" pitchFamily="34" charset="-120"/>
              </a:rPr>
              <a:t>/speckit-plan</a:t>
            </a:r>
            <a:endParaRPr lang="en-US" sz="1250" dirty="0"/>
          </a:p>
        </p:txBody>
      </p:sp>
      <p:sp>
        <p:nvSpPr>
          <p:cNvPr id="11" name="Shape 9"/>
          <p:cNvSpPr/>
          <p:nvPr/>
        </p:nvSpPr>
        <p:spPr>
          <a:xfrm>
            <a:off x="914400" y="3986784"/>
            <a:ext cx="4663440" cy="475488"/>
          </a:xfrm>
          <a:prstGeom prst="roundRect">
            <a:avLst>
              <a:gd name="adj" fmla="val 9615"/>
            </a:avLst>
          </a:prstGeom>
          <a:solidFill>
            <a:srgbClr val="FFFFFF"/>
          </a:solidFill>
          <a:ln/>
        </p:spPr>
        <p:txBody>
          <a:bodyPr/>
          <a:lstStyle/>
          <a:p>
            <a:endParaRPr lang="es-AR"/>
          </a:p>
        </p:txBody>
      </p:sp>
      <p:sp>
        <p:nvSpPr>
          <p:cNvPr id="12" name="Text 10"/>
          <p:cNvSpPr txBox="1"/>
          <p:nvPr/>
        </p:nvSpPr>
        <p:spPr>
          <a:xfrm>
            <a:off x="969264" y="3986784"/>
            <a:ext cx="4553712" cy="475488"/>
          </a:xfrm>
          <a:prstGeom prst="rect">
            <a:avLst/>
          </a:prstGeom>
          <a:noFill/>
          <a:ln/>
        </p:spPr>
        <p:txBody>
          <a:bodyPr wrap="square" lIns="0" tIns="0" rIns="0" bIns="0" rtlCol="0" anchor="ctr"/>
          <a:lstStyle/>
          <a:p>
            <a:pPr marL="0" indent="0" algn="ctr">
              <a:buNone/>
            </a:pPr>
            <a:r>
              <a:rPr lang="en-US" sz="1250" dirty="0">
                <a:solidFill>
                  <a:srgbClr val="1F2D36"/>
                </a:solidFill>
                <a:latin typeface="Courier New" pitchFamily="34" charset="0"/>
                <a:ea typeface="Courier New" pitchFamily="34" charset="-122"/>
                <a:cs typeface="Courier New" pitchFamily="34" charset="-120"/>
              </a:rPr>
              <a:t>/speckit-tasks</a:t>
            </a:r>
            <a:endParaRPr lang="en-US" sz="1250" dirty="0"/>
          </a:p>
        </p:txBody>
      </p:sp>
      <p:sp>
        <p:nvSpPr>
          <p:cNvPr id="13" name="Shape 11"/>
          <p:cNvSpPr/>
          <p:nvPr/>
        </p:nvSpPr>
        <p:spPr>
          <a:xfrm>
            <a:off x="914400" y="4608576"/>
            <a:ext cx="4663440" cy="475488"/>
          </a:xfrm>
          <a:prstGeom prst="roundRect">
            <a:avLst>
              <a:gd name="adj" fmla="val 9615"/>
            </a:avLst>
          </a:prstGeom>
          <a:solidFill>
            <a:srgbClr val="FFFFFF"/>
          </a:solidFill>
          <a:ln/>
        </p:spPr>
        <p:txBody>
          <a:bodyPr/>
          <a:lstStyle/>
          <a:p>
            <a:endParaRPr lang="es-AR"/>
          </a:p>
        </p:txBody>
      </p:sp>
      <p:sp>
        <p:nvSpPr>
          <p:cNvPr id="14" name="Text 12"/>
          <p:cNvSpPr txBox="1"/>
          <p:nvPr/>
        </p:nvSpPr>
        <p:spPr>
          <a:xfrm>
            <a:off x="969264" y="4608576"/>
            <a:ext cx="4553712" cy="475488"/>
          </a:xfrm>
          <a:prstGeom prst="rect">
            <a:avLst/>
          </a:prstGeom>
          <a:noFill/>
          <a:ln/>
        </p:spPr>
        <p:txBody>
          <a:bodyPr wrap="square" lIns="0" tIns="0" rIns="0" bIns="0" rtlCol="0" anchor="ctr"/>
          <a:lstStyle/>
          <a:p>
            <a:pPr marL="0" indent="0" algn="ctr">
              <a:buNone/>
            </a:pPr>
            <a:r>
              <a:rPr lang="en-US" sz="1250" dirty="0">
                <a:solidFill>
                  <a:srgbClr val="1F2D36"/>
                </a:solidFill>
                <a:latin typeface="Courier New" pitchFamily="34" charset="0"/>
                <a:ea typeface="Courier New" pitchFamily="34" charset="-122"/>
                <a:cs typeface="Courier New" pitchFamily="34" charset="-120"/>
              </a:rPr>
              <a:t>/speckit-implement</a:t>
            </a:r>
            <a:endParaRPr lang="en-US" sz="1250" dirty="0"/>
          </a:p>
        </p:txBody>
      </p:sp>
      <p:sp>
        <p:nvSpPr>
          <p:cNvPr id="15" name="Text 13"/>
          <p:cNvSpPr txBox="1"/>
          <p:nvPr/>
        </p:nvSpPr>
        <p:spPr>
          <a:xfrm>
            <a:off x="914400" y="5349240"/>
            <a:ext cx="4663440" cy="365760"/>
          </a:xfrm>
          <a:prstGeom prst="rect">
            <a:avLst/>
          </a:prstGeom>
          <a:noFill/>
          <a:ln/>
        </p:spPr>
        <p:txBody>
          <a:bodyPr wrap="square" lIns="0" tIns="0" rIns="0" bIns="0" rtlCol="0" anchor="ctr"/>
          <a:lstStyle/>
          <a:p>
            <a:pPr marL="0" indent="0">
              <a:buNone/>
            </a:pPr>
            <a:r>
              <a:rPr lang="en-US" sz="1200" i="1" dirty="0">
                <a:solidFill>
                  <a:srgbClr val="6B7C87"/>
                </a:solidFill>
                <a:latin typeface="Calibri" pitchFamily="34" charset="0"/>
                <a:ea typeface="Calibri" pitchFamily="34" charset="-122"/>
                <a:cs typeface="Calibri" pitchFamily="34" charset="-120"/>
              </a:rPr>
              <a:t>Cuatro pasos. Sin constitución y sin gates.</a:t>
            </a:r>
            <a:endParaRPr lang="en-US" sz="1200" dirty="0"/>
          </a:p>
        </p:txBody>
      </p:sp>
      <p:sp>
        <p:nvSpPr>
          <p:cNvPr id="16" name="Shape 14"/>
          <p:cNvSpPr/>
          <p:nvPr/>
        </p:nvSpPr>
        <p:spPr>
          <a:xfrm>
            <a:off x="6208776" y="1417320"/>
            <a:ext cx="5431536" cy="5056632"/>
          </a:xfrm>
          <a:prstGeom prst="roundRect">
            <a:avLst>
              <a:gd name="adj" fmla="val 1188"/>
            </a:avLst>
          </a:prstGeom>
          <a:solidFill>
            <a:srgbClr val="EEF5F4"/>
          </a:solidFill>
          <a:ln/>
        </p:spPr>
        <p:txBody>
          <a:bodyPr/>
          <a:lstStyle/>
          <a:p>
            <a:endParaRPr lang="es-AR"/>
          </a:p>
        </p:txBody>
      </p:sp>
      <p:sp>
        <p:nvSpPr>
          <p:cNvPr id="17" name="Text 15"/>
          <p:cNvSpPr txBox="1"/>
          <p:nvPr/>
        </p:nvSpPr>
        <p:spPr>
          <a:xfrm>
            <a:off x="6574536" y="1691640"/>
            <a:ext cx="4663440" cy="365760"/>
          </a:xfrm>
          <a:prstGeom prst="rect">
            <a:avLst/>
          </a:prstGeom>
          <a:noFill/>
          <a:ln/>
        </p:spPr>
        <p:txBody>
          <a:bodyPr wrap="square" lIns="0" tIns="0" rIns="0" bIns="0" rtlCol="0" anchor="ctr"/>
          <a:lstStyle/>
          <a:p>
            <a:pPr marL="0" indent="0">
              <a:buNone/>
            </a:pPr>
            <a:r>
              <a:rPr lang="en-US" sz="1900" b="1" dirty="0">
                <a:solidFill>
                  <a:srgbClr val="027A6E"/>
                </a:solidFill>
                <a:latin typeface="Calibri" pitchFamily="34" charset="0"/>
                <a:ea typeface="Calibri" pitchFamily="34" charset="-122"/>
                <a:cs typeface="Calibri" pitchFamily="34" charset="-120"/>
              </a:rPr>
              <a:t>Full path</a:t>
            </a:r>
            <a:endParaRPr lang="en-US" sz="1900" dirty="0"/>
          </a:p>
        </p:txBody>
      </p:sp>
      <p:sp>
        <p:nvSpPr>
          <p:cNvPr id="18" name="Text 16"/>
          <p:cNvSpPr txBox="1"/>
          <p:nvPr/>
        </p:nvSpPr>
        <p:spPr>
          <a:xfrm>
            <a:off x="6574536" y="2103120"/>
            <a:ext cx="4663440" cy="457200"/>
          </a:xfrm>
          <a:prstGeom prst="rect">
            <a:avLst/>
          </a:prstGeom>
          <a:noFill/>
          <a:ln/>
        </p:spPr>
        <p:txBody>
          <a:bodyPr wrap="square" lIns="0" tIns="0" rIns="0" bIns="0" rtlCol="0" anchor="t"/>
          <a:lstStyle/>
          <a:p>
            <a:pPr marL="0" indent="0">
              <a:lnSpc>
                <a:spcPts val="1700"/>
              </a:lnSpc>
              <a:buNone/>
            </a:pPr>
            <a:r>
              <a:rPr lang="en-US" sz="1250" dirty="0">
                <a:solidFill>
                  <a:srgbClr val="6B7C87"/>
                </a:solidFill>
                <a:latin typeface="Calibri" pitchFamily="34" charset="0"/>
                <a:ea typeface="Calibri" pitchFamily="34" charset="-122"/>
                <a:cs typeface="Calibri" pitchFamily="34" charset="-120"/>
              </a:rPr>
              <a:t>Features de producción, o cualquier trabajo con ambigüedad real.</a:t>
            </a:r>
            <a:endParaRPr lang="en-US" sz="1250" dirty="0"/>
          </a:p>
        </p:txBody>
      </p:sp>
      <p:sp>
        <p:nvSpPr>
          <p:cNvPr id="19" name="Shape 17"/>
          <p:cNvSpPr/>
          <p:nvPr/>
        </p:nvSpPr>
        <p:spPr>
          <a:xfrm>
            <a:off x="6574536" y="2697480"/>
            <a:ext cx="4663440" cy="310896"/>
          </a:xfrm>
          <a:prstGeom prst="roundRect">
            <a:avLst>
              <a:gd name="adj" fmla="val 14706"/>
            </a:avLst>
          </a:prstGeom>
          <a:solidFill>
            <a:srgbClr val="FFFFFF"/>
          </a:solidFill>
          <a:ln/>
        </p:spPr>
        <p:txBody>
          <a:bodyPr/>
          <a:lstStyle/>
          <a:p>
            <a:endParaRPr lang="es-AR"/>
          </a:p>
        </p:txBody>
      </p:sp>
      <p:sp>
        <p:nvSpPr>
          <p:cNvPr id="20" name="Text 18"/>
          <p:cNvSpPr txBox="1"/>
          <p:nvPr/>
        </p:nvSpPr>
        <p:spPr>
          <a:xfrm>
            <a:off x="6629400" y="2697480"/>
            <a:ext cx="4553712" cy="310896"/>
          </a:xfrm>
          <a:prstGeom prst="rect">
            <a:avLst/>
          </a:prstGeom>
          <a:noFill/>
          <a:ln/>
        </p:spPr>
        <p:txBody>
          <a:bodyPr wrap="square" lIns="0" tIns="0" rIns="0" bIns="0" rtlCol="0" anchor="ctr"/>
          <a:lstStyle/>
          <a:p>
            <a:pPr marL="0" indent="0" algn="ctr">
              <a:buNone/>
            </a:pPr>
            <a:r>
              <a:rPr lang="en-US" sz="1150" dirty="0">
                <a:solidFill>
                  <a:srgbClr val="1F2D36"/>
                </a:solidFill>
                <a:latin typeface="Courier New" pitchFamily="34" charset="0"/>
                <a:ea typeface="Courier New" pitchFamily="34" charset="-122"/>
                <a:cs typeface="Courier New" pitchFamily="34" charset="-120"/>
              </a:rPr>
              <a:t>/speckit-constitution</a:t>
            </a:r>
            <a:endParaRPr lang="en-US" sz="1150" dirty="0"/>
          </a:p>
        </p:txBody>
      </p:sp>
      <p:sp>
        <p:nvSpPr>
          <p:cNvPr id="21" name="Shape 19"/>
          <p:cNvSpPr/>
          <p:nvPr/>
        </p:nvSpPr>
        <p:spPr>
          <a:xfrm>
            <a:off x="6574536" y="3063240"/>
            <a:ext cx="4663440" cy="310896"/>
          </a:xfrm>
          <a:prstGeom prst="roundRect">
            <a:avLst>
              <a:gd name="adj" fmla="val 14706"/>
            </a:avLst>
          </a:prstGeom>
          <a:solidFill>
            <a:srgbClr val="FFFFFF"/>
          </a:solidFill>
          <a:ln/>
        </p:spPr>
        <p:txBody>
          <a:bodyPr/>
          <a:lstStyle/>
          <a:p>
            <a:endParaRPr lang="es-AR"/>
          </a:p>
        </p:txBody>
      </p:sp>
      <p:sp>
        <p:nvSpPr>
          <p:cNvPr id="22" name="Text 20"/>
          <p:cNvSpPr txBox="1"/>
          <p:nvPr/>
        </p:nvSpPr>
        <p:spPr>
          <a:xfrm>
            <a:off x="6629400" y="3063240"/>
            <a:ext cx="4553712" cy="310896"/>
          </a:xfrm>
          <a:prstGeom prst="rect">
            <a:avLst/>
          </a:prstGeom>
          <a:noFill/>
          <a:ln/>
        </p:spPr>
        <p:txBody>
          <a:bodyPr wrap="square" lIns="0" tIns="0" rIns="0" bIns="0" rtlCol="0" anchor="ctr"/>
          <a:lstStyle/>
          <a:p>
            <a:pPr marL="0" indent="0" algn="ctr">
              <a:buNone/>
            </a:pPr>
            <a:r>
              <a:rPr lang="en-US" sz="1150" dirty="0">
                <a:solidFill>
                  <a:srgbClr val="1F2D36"/>
                </a:solidFill>
                <a:latin typeface="Courier New" pitchFamily="34" charset="0"/>
                <a:ea typeface="Courier New" pitchFamily="34" charset="-122"/>
                <a:cs typeface="Courier New" pitchFamily="34" charset="-120"/>
              </a:rPr>
              <a:t>/speckit-specify</a:t>
            </a:r>
            <a:endParaRPr lang="en-US" sz="1150" dirty="0"/>
          </a:p>
        </p:txBody>
      </p:sp>
      <p:sp>
        <p:nvSpPr>
          <p:cNvPr id="23" name="Shape 21"/>
          <p:cNvSpPr/>
          <p:nvPr/>
        </p:nvSpPr>
        <p:spPr>
          <a:xfrm>
            <a:off x="6574536" y="3429000"/>
            <a:ext cx="4663440" cy="310896"/>
          </a:xfrm>
          <a:prstGeom prst="roundRect">
            <a:avLst>
              <a:gd name="adj" fmla="val 14706"/>
            </a:avLst>
          </a:prstGeom>
          <a:solidFill>
            <a:srgbClr val="FFFFFF"/>
          </a:solidFill>
          <a:ln/>
        </p:spPr>
        <p:txBody>
          <a:bodyPr/>
          <a:lstStyle/>
          <a:p>
            <a:endParaRPr lang="es-AR"/>
          </a:p>
        </p:txBody>
      </p:sp>
      <p:sp>
        <p:nvSpPr>
          <p:cNvPr id="24" name="Text 22"/>
          <p:cNvSpPr txBox="1"/>
          <p:nvPr/>
        </p:nvSpPr>
        <p:spPr>
          <a:xfrm>
            <a:off x="6629400" y="3429000"/>
            <a:ext cx="4553712" cy="310896"/>
          </a:xfrm>
          <a:prstGeom prst="rect">
            <a:avLst/>
          </a:prstGeom>
          <a:noFill/>
          <a:ln/>
        </p:spPr>
        <p:txBody>
          <a:bodyPr wrap="square" lIns="0" tIns="0" rIns="0" bIns="0" rtlCol="0" anchor="ctr"/>
          <a:lstStyle/>
          <a:p>
            <a:pPr marL="0" indent="0" algn="ctr">
              <a:buNone/>
            </a:pPr>
            <a:r>
              <a:rPr lang="en-US" sz="1150" dirty="0">
                <a:solidFill>
                  <a:srgbClr val="B36A22"/>
                </a:solidFill>
                <a:latin typeface="Courier New" pitchFamily="34" charset="0"/>
                <a:ea typeface="Courier New" pitchFamily="34" charset="-122"/>
                <a:cs typeface="Courier New" pitchFamily="34" charset="-120"/>
              </a:rPr>
              <a:t>/speckit-clarify</a:t>
            </a:r>
            <a:endParaRPr lang="en-US" sz="1150" dirty="0"/>
          </a:p>
        </p:txBody>
      </p:sp>
      <p:sp>
        <p:nvSpPr>
          <p:cNvPr id="25" name="Shape 23"/>
          <p:cNvSpPr/>
          <p:nvPr/>
        </p:nvSpPr>
        <p:spPr>
          <a:xfrm>
            <a:off x="6574536" y="3794760"/>
            <a:ext cx="4663440" cy="310896"/>
          </a:xfrm>
          <a:prstGeom prst="roundRect">
            <a:avLst>
              <a:gd name="adj" fmla="val 14706"/>
            </a:avLst>
          </a:prstGeom>
          <a:solidFill>
            <a:srgbClr val="FFFFFF"/>
          </a:solidFill>
          <a:ln/>
        </p:spPr>
        <p:txBody>
          <a:bodyPr/>
          <a:lstStyle/>
          <a:p>
            <a:endParaRPr lang="es-AR"/>
          </a:p>
        </p:txBody>
      </p:sp>
      <p:sp>
        <p:nvSpPr>
          <p:cNvPr id="26" name="Text 24"/>
          <p:cNvSpPr txBox="1"/>
          <p:nvPr/>
        </p:nvSpPr>
        <p:spPr>
          <a:xfrm>
            <a:off x="6629400" y="3794760"/>
            <a:ext cx="4553712" cy="310896"/>
          </a:xfrm>
          <a:prstGeom prst="rect">
            <a:avLst/>
          </a:prstGeom>
          <a:noFill/>
          <a:ln/>
        </p:spPr>
        <p:txBody>
          <a:bodyPr wrap="square" lIns="0" tIns="0" rIns="0" bIns="0" rtlCol="0" anchor="ctr"/>
          <a:lstStyle/>
          <a:p>
            <a:pPr marL="0" indent="0" algn="ctr">
              <a:buNone/>
            </a:pPr>
            <a:r>
              <a:rPr lang="en-US" sz="1150" dirty="0">
                <a:solidFill>
                  <a:srgbClr val="B36A22"/>
                </a:solidFill>
                <a:latin typeface="Courier New" pitchFamily="34" charset="0"/>
                <a:ea typeface="Courier New" pitchFamily="34" charset="-122"/>
                <a:cs typeface="Courier New" pitchFamily="34" charset="-120"/>
              </a:rPr>
              <a:t>/speckit-checklist</a:t>
            </a:r>
            <a:endParaRPr lang="en-US" sz="1150" dirty="0"/>
          </a:p>
        </p:txBody>
      </p:sp>
      <p:sp>
        <p:nvSpPr>
          <p:cNvPr id="27" name="Shape 25"/>
          <p:cNvSpPr/>
          <p:nvPr/>
        </p:nvSpPr>
        <p:spPr>
          <a:xfrm>
            <a:off x="6574536" y="4160520"/>
            <a:ext cx="4663440" cy="310896"/>
          </a:xfrm>
          <a:prstGeom prst="roundRect">
            <a:avLst>
              <a:gd name="adj" fmla="val 14706"/>
            </a:avLst>
          </a:prstGeom>
          <a:solidFill>
            <a:srgbClr val="FFFFFF"/>
          </a:solidFill>
          <a:ln/>
        </p:spPr>
        <p:txBody>
          <a:bodyPr/>
          <a:lstStyle/>
          <a:p>
            <a:endParaRPr lang="es-AR"/>
          </a:p>
        </p:txBody>
      </p:sp>
      <p:sp>
        <p:nvSpPr>
          <p:cNvPr id="28" name="Text 26"/>
          <p:cNvSpPr txBox="1"/>
          <p:nvPr/>
        </p:nvSpPr>
        <p:spPr>
          <a:xfrm>
            <a:off x="6629400" y="4160520"/>
            <a:ext cx="4553712" cy="310896"/>
          </a:xfrm>
          <a:prstGeom prst="rect">
            <a:avLst/>
          </a:prstGeom>
          <a:noFill/>
          <a:ln/>
        </p:spPr>
        <p:txBody>
          <a:bodyPr wrap="square" lIns="0" tIns="0" rIns="0" bIns="0" rtlCol="0" anchor="ctr"/>
          <a:lstStyle/>
          <a:p>
            <a:pPr marL="0" indent="0" algn="ctr">
              <a:buNone/>
            </a:pPr>
            <a:r>
              <a:rPr lang="en-US" sz="1150" dirty="0">
                <a:solidFill>
                  <a:srgbClr val="1F2D36"/>
                </a:solidFill>
                <a:latin typeface="Courier New" pitchFamily="34" charset="0"/>
                <a:ea typeface="Courier New" pitchFamily="34" charset="-122"/>
                <a:cs typeface="Courier New" pitchFamily="34" charset="-120"/>
              </a:rPr>
              <a:t>/speckit-plan</a:t>
            </a:r>
            <a:endParaRPr lang="en-US" sz="1150" dirty="0"/>
          </a:p>
        </p:txBody>
      </p:sp>
      <p:sp>
        <p:nvSpPr>
          <p:cNvPr id="29" name="Shape 27"/>
          <p:cNvSpPr/>
          <p:nvPr/>
        </p:nvSpPr>
        <p:spPr>
          <a:xfrm>
            <a:off x="6574536" y="4526280"/>
            <a:ext cx="4663440" cy="310896"/>
          </a:xfrm>
          <a:prstGeom prst="roundRect">
            <a:avLst>
              <a:gd name="adj" fmla="val 14706"/>
            </a:avLst>
          </a:prstGeom>
          <a:solidFill>
            <a:srgbClr val="FFFFFF"/>
          </a:solidFill>
          <a:ln/>
        </p:spPr>
        <p:txBody>
          <a:bodyPr/>
          <a:lstStyle/>
          <a:p>
            <a:endParaRPr lang="es-AR"/>
          </a:p>
        </p:txBody>
      </p:sp>
      <p:sp>
        <p:nvSpPr>
          <p:cNvPr id="30" name="Text 28"/>
          <p:cNvSpPr txBox="1"/>
          <p:nvPr/>
        </p:nvSpPr>
        <p:spPr>
          <a:xfrm>
            <a:off x="6629400" y="4526280"/>
            <a:ext cx="4553712" cy="310896"/>
          </a:xfrm>
          <a:prstGeom prst="rect">
            <a:avLst/>
          </a:prstGeom>
          <a:noFill/>
          <a:ln/>
        </p:spPr>
        <p:txBody>
          <a:bodyPr wrap="square" lIns="0" tIns="0" rIns="0" bIns="0" rtlCol="0" anchor="ctr"/>
          <a:lstStyle/>
          <a:p>
            <a:pPr marL="0" indent="0" algn="ctr">
              <a:buNone/>
            </a:pPr>
            <a:r>
              <a:rPr lang="en-US" sz="1150" dirty="0">
                <a:solidFill>
                  <a:srgbClr val="1F2D36"/>
                </a:solidFill>
                <a:latin typeface="Courier New" pitchFamily="34" charset="0"/>
                <a:ea typeface="Courier New" pitchFamily="34" charset="-122"/>
                <a:cs typeface="Courier New" pitchFamily="34" charset="-120"/>
              </a:rPr>
              <a:t>/speckit-tasks</a:t>
            </a:r>
            <a:endParaRPr lang="en-US" sz="1150" dirty="0"/>
          </a:p>
        </p:txBody>
      </p:sp>
      <p:sp>
        <p:nvSpPr>
          <p:cNvPr id="31" name="Shape 29"/>
          <p:cNvSpPr/>
          <p:nvPr/>
        </p:nvSpPr>
        <p:spPr>
          <a:xfrm>
            <a:off x="6574536" y="4892040"/>
            <a:ext cx="4663440" cy="310896"/>
          </a:xfrm>
          <a:prstGeom prst="roundRect">
            <a:avLst>
              <a:gd name="adj" fmla="val 14706"/>
            </a:avLst>
          </a:prstGeom>
          <a:solidFill>
            <a:srgbClr val="FFFFFF"/>
          </a:solidFill>
          <a:ln/>
        </p:spPr>
        <p:txBody>
          <a:bodyPr/>
          <a:lstStyle/>
          <a:p>
            <a:endParaRPr lang="es-AR"/>
          </a:p>
        </p:txBody>
      </p:sp>
      <p:sp>
        <p:nvSpPr>
          <p:cNvPr id="32" name="Text 30"/>
          <p:cNvSpPr txBox="1"/>
          <p:nvPr/>
        </p:nvSpPr>
        <p:spPr>
          <a:xfrm>
            <a:off x="6629400" y="4892040"/>
            <a:ext cx="4553712" cy="310896"/>
          </a:xfrm>
          <a:prstGeom prst="rect">
            <a:avLst/>
          </a:prstGeom>
          <a:noFill/>
          <a:ln/>
        </p:spPr>
        <p:txBody>
          <a:bodyPr wrap="square" lIns="0" tIns="0" rIns="0" bIns="0" rtlCol="0" anchor="ctr"/>
          <a:lstStyle/>
          <a:p>
            <a:pPr marL="0" indent="0" algn="ctr">
              <a:buNone/>
            </a:pPr>
            <a:r>
              <a:rPr lang="en-US" sz="1150" dirty="0">
                <a:solidFill>
                  <a:srgbClr val="B36A22"/>
                </a:solidFill>
                <a:latin typeface="Courier New" pitchFamily="34" charset="0"/>
                <a:ea typeface="Courier New" pitchFamily="34" charset="-122"/>
                <a:cs typeface="Courier New" pitchFamily="34" charset="-120"/>
              </a:rPr>
              <a:t>/speckit-analyze</a:t>
            </a:r>
            <a:endParaRPr lang="en-US" sz="1150" dirty="0"/>
          </a:p>
        </p:txBody>
      </p:sp>
      <p:sp>
        <p:nvSpPr>
          <p:cNvPr id="33" name="Shape 31"/>
          <p:cNvSpPr/>
          <p:nvPr/>
        </p:nvSpPr>
        <p:spPr>
          <a:xfrm>
            <a:off x="6574536" y="5257800"/>
            <a:ext cx="4663440" cy="310896"/>
          </a:xfrm>
          <a:prstGeom prst="roundRect">
            <a:avLst>
              <a:gd name="adj" fmla="val 14706"/>
            </a:avLst>
          </a:prstGeom>
          <a:solidFill>
            <a:srgbClr val="FFFFFF"/>
          </a:solidFill>
          <a:ln/>
        </p:spPr>
        <p:txBody>
          <a:bodyPr/>
          <a:lstStyle/>
          <a:p>
            <a:endParaRPr lang="es-AR"/>
          </a:p>
        </p:txBody>
      </p:sp>
      <p:sp>
        <p:nvSpPr>
          <p:cNvPr id="34" name="Text 32"/>
          <p:cNvSpPr txBox="1"/>
          <p:nvPr/>
        </p:nvSpPr>
        <p:spPr>
          <a:xfrm>
            <a:off x="6629400" y="5257800"/>
            <a:ext cx="4553712" cy="310896"/>
          </a:xfrm>
          <a:prstGeom prst="rect">
            <a:avLst/>
          </a:prstGeom>
          <a:noFill/>
          <a:ln/>
        </p:spPr>
        <p:txBody>
          <a:bodyPr wrap="square" lIns="0" tIns="0" rIns="0" bIns="0" rtlCol="0" anchor="ctr"/>
          <a:lstStyle/>
          <a:p>
            <a:pPr marL="0" indent="0" algn="ctr">
              <a:buNone/>
            </a:pPr>
            <a:r>
              <a:rPr lang="en-US" sz="1150" dirty="0">
                <a:solidFill>
                  <a:srgbClr val="1F2D36"/>
                </a:solidFill>
                <a:latin typeface="Courier New" pitchFamily="34" charset="0"/>
                <a:ea typeface="Courier New" pitchFamily="34" charset="-122"/>
                <a:cs typeface="Courier New" pitchFamily="34" charset="-120"/>
              </a:rPr>
              <a:t>/speckit-implement</a:t>
            </a:r>
            <a:endParaRPr lang="en-US" sz="1150" dirty="0"/>
          </a:p>
        </p:txBody>
      </p:sp>
      <p:sp>
        <p:nvSpPr>
          <p:cNvPr id="35" name="Text 33"/>
          <p:cNvSpPr txBox="1"/>
          <p:nvPr/>
        </p:nvSpPr>
        <p:spPr>
          <a:xfrm>
            <a:off x="6574536" y="6132001"/>
            <a:ext cx="4663440" cy="329184"/>
          </a:xfrm>
          <a:prstGeom prst="rect">
            <a:avLst/>
          </a:prstGeom>
          <a:noFill/>
          <a:ln/>
        </p:spPr>
        <p:txBody>
          <a:bodyPr wrap="square" lIns="0" tIns="0" rIns="0" bIns="0" rtlCol="0" anchor="ctr"/>
          <a:lstStyle/>
          <a:p>
            <a:pPr marL="0" indent="0">
              <a:buNone/>
            </a:pPr>
            <a:r>
              <a:rPr lang="en-US" sz="1200" i="1" dirty="0">
                <a:solidFill>
                  <a:srgbClr val="8A5A22"/>
                </a:solidFill>
                <a:latin typeface="Calibri" pitchFamily="34" charset="0"/>
                <a:ea typeface="Calibri" pitchFamily="34" charset="-122"/>
                <a:cs typeface="Calibri" pitchFamily="34" charset="-120"/>
              </a:rPr>
              <a:t>En ámbar: los tres quality gates del camino completo.</a:t>
            </a:r>
            <a:endParaRPr lang="en-US" sz="1200" dirty="0"/>
          </a:p>
        </p:txBody>
      </p:sp>
      <p:sp>
        <p:nvSpPr>
          <p:cNvPr id="37" name="Text 32">
            <a:extLst>
              <a:ext uri="{FF2B5EF4-FFF2-40B4-BE49-F238E27FC236}">
                <a16:creationId xmlns:a16="http://schemas.microsoft.com/office/drawing/2014/main" id="{EA9E8D00-6B58-429D-DF59-F4B1BFB3B9B9}"/>
              </a:ext>
            </a:extLst>
          </p:cNvPr>
          <p:cNvSpPr txBox="1"/>
          <p:nvPr/>
        </p:nvSpPr>
        <p:spPr>
          <a:xfrm>
            <a:off x="6574536" y="5632186"/>
            <a:ext cx="4663440" cy="310896"/>
          </a:xfrm>
          <a:prstGeom prst="rect">
            <a:avLst/>
          </a:prstGeom>
          <a:solidFill>
            <a:schemeClr val="bg1"/>
          </a:solidFill>
          <a:ln/>
        </p:spPr>
        <p:txBody>
          <a:bodyPr wrap="square" lIns="0" tIns="0" rIns="0" bIns="0" rtlCol="0" anchor="ctr"/>
          <a:lstStyle/>
          <a:p>
            <a:pPr marL="0" indent="0" algn="ctr">
              <a:buNone/>
            </a:pPr>
            <a:r>
              <a:rPr lang="en-US" sz="1150" dirty="0">
                <a:solidFill>
                  <a:srgbClr val="1F2D36"/>
                </a:solidFill>
                <a:latin typeface="Courier New" pitchFamily="34" charset="0"/>
                <a:ea typeface="Courier New" pitchFamily="34" charset="-122"/>
                <a:cs typeface="Courier New" pitchFamily="34" charset="-120"/>
              </a:rPr>
              <a:t>/</a:t>
            </a:r>
            <a:r>
              <a:rPr lang="en-US" sz="1150" dirty="0" err="1">
                <a:solidFill>
                  <a:srgbClr val="1F2D36"/>
                </a:solidFill>
                <a:latin typeface="Courier New" pitchFamily="34" charset="0"/>
                <a:ea typeface="Courier New" pitchFamily="34" charset="-122"/>
                <a:cs typeface="Courier New" pitchFamily="34" charset="-120"/>
              </a:rPr>
              <a:t>speckit</a:t>
            </a:r>
            <a:r>
              <a:rPr lang="en-US" sz="1150" dirty="0">
                <a:solidFill>
                  <a:srgbClr val="1F2D36"/>
                </a:solidFill>
                <a:latin typeface="Courier New" pitchFamily="34" charset="0"/>
                <a:ea typeface="Courier New" pitchFamily="34" charset="-122"/>
                <a:cs typeface="Courier New" pitchFamily="34" charset="-120"/>
              </a:rPr>
              <a:t>-converge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LA CONSTITUCIÓN</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1F2D36"/>
                </a:solidFill>
                <a:latin typeface="Calibri" pitchFamily="34" charset="0"/>
                <a:ea typeface="Calibri" pitchFamily="34" charset="-122"/>
                <a:cs typeface="Calibri" pitchFamily="34" charset="-120"/>
              </a:rPr>
              <a:t>Principios, no manual de procedimiento</a:t>
            </a:r>
            <a:endParaRPr lang="en-US" sz="3400" dirty="0"/>
          </a:p>
        </p:txBody>
      </p:sp>
      <p:sp>
        <p:nvSpPr>
          <p:cNvPr id="4" name="Shape 2"/>
          <p:cNvSpPr/>
          <p:nvPr/>
        </p:nvSpPr>
        <p:spPr>
          <a:xfrm>
            <a:off x="548640" y="1600200"/>
            <a:ext cx="5431536" cy="3703320"/>
          </a:xfrm>
          <a:prstGeom prst="roundRect">
            <a:avLst>
              <a:gd name="adj" fmla="val 1481"/>
            </a:avLst>
          </a:prstGeom>
          <a:solidFill>
            <a:srgbClr val="EEF5F4"/>
          </a:solidFill>
          <a:ln/>
        </p:spPr>
        <p:txBody>
          <a:bodyPr/>
          <a:lstStyle/>
          <a:p>
            <a:endParaRPr lang="es-AR"/>
          </a:p>
        </p:txBody>
      </p:sp>
      <p:sp>
        <p:nvSpPr>
          <p:cNvPr id="5" name="Text 3"/>
          <p:cNvSpPr txBox="1"/>
          <p:nvPr/>
        </p:nvSpPr>
        <p:spPr>
          <a:xfrm>
            <a:off x="914400" y="1874520"/>
            <a:ext cx="4663440" cy="365760"/>
          </a:xfrm>
          <a:prstGeom prst="rect">
            <a:avLst/>
          </a:prstGeom>
          <a:noFill/>
          <a:ln/>
        </p:spPr>
        <p:txBody>
          <a:bodyPr wrap="square" lIns="0" tIns="0" rIns="0" bIns="0" rtlCol="0" anchor="ctr"/>
          <a:lstStyle/>
          <a:p>
            <a:pPr marL="0" indent="0">
              <a:buNone/>
            </a:pPr>
            <a:r>
              <a:rPr lang="en-US" sz="1700" b="1" dirty="0">
                <a:solidFill>
                  <a:srgbClr val="027A6E"/>
                </a:solidFill>
                <a:latin typeface="Calibri" pitchFamily="34" charset="0"/>
                <a:ea typeface="Calibri" pitchFamily="34" charset="-122"/>
                <a:cs typeface="Calibri" pitchFamily="34" charset="-120"/>
              </a:rPr>
              <a:t>✓  Va en la constitución</a:t>
            </a:r>
            <a:endParaRPr lang="en-US" sz="1700" dirty="0"/>
          </a:p>
        </p:txBody>
      </p:sp>
      <p:sp>
        <p:nvSpPr>
          <p:cNvPr id="6" name="Text 4"/>
          <p:cNvSpPr txBox="1"/>
          <p:nvPr/>
        </p:nvSpPr>
        <p:spPr>
          <a:xfrm>
            <a:off x="914400" y="2423160"/>
            <a:ext cx="4709160" cy="274320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1F2D36"/>
                </a:solidFill>
                <a:latin typeface="Calibri" pitchFamily="34" charset="0"/>
                <a:ea typeface="Calibri" pitchFamily="34" charset="-122"/>
                <a:cs typeface="Calibri" pitchFamily="34" charset="-120"/>
              </a:rPr>
              <a:t>Invariantes transversales que si no fijás, se resuelven distinto en cada feature</a:t>
            </a:r>
            <a:endParaRPr lang="en-US" sz="1250" dirty="0"/>
          </a:p>
          <a:p>
            <a:pPr marL="342900" indent="-342900">
              <a:lnSpc>
                <a:spcPts val="1700"/>
              </a:lnSpc>
              <a:spcAft>
                <a:spcPts val="900"/>
              </a:spcAft>
              <a:buSzPct val="100000"/>
              <a:buChar char="•"/>
            </a:pPr>
            <a:r>
              <a:rPr lang="en-US" sz="1250" dirty="0">
                <a:solidFill>
                  <a:srgbClr val="1F2D36"/>
                </a:solidFill>
                <a:latin typeface="Calibri" pitchFamily="34" charset="0"/>
                <a:ea typeface="Calibri" pitchFamily="34" charset="-122"/>
                <a:cs typeface="Calibri" pitchFamily="34" charset="-120"/>
              </a:rPr>
              <a:t>Reglas de diseño: aislamiento de capas, política de testing, manejo de datos sensibles</a:t>
            </a:r>
            <a:endParaRPr lang="en-US" sz="1250" dirty="0"/>
          </a:p>
          <a:p>
            <a:pPr marL="342900" indent="-342900">
              <a:lnSpc>
                <a:spcPts val="1700"/>
              </a:lnSpc>
              <a:spcAft>
                <a:spcPts val="900"/>
              </a:spcAft>
              <a:buSzPct val="100000"/>
              <a:buChar char="•"/>
            </a:pPr>
            <a:r>
              <a:rPr lang="en-US" sz="1250" dirty="0">
                <a:solidFill>
                  <a:srgbClr val="1F2D36"/>
                </a:solidFill>
                <a:latin typeface="Calibri" pitchFamily="34" charset="0"/>
                <a:ea typeface="Calibri" pitchFamily="34" charset="-122"/>
                <a:cs typeface="Calibri" pitchFamily="34" charset="-120"/>
              </a:rPr>
              <a:t>El contrato de observabilidad, no su implementación</a:t>
            </a:r>
            <a:endParaRPr lang="en-US" sz="1250" dirty="0"/>
          </a:p>
          <a:p>
            <a:pPr marL="342900" indent="-342900">
              <a:lnSpc>
                <a:spcPts val="1700"/>
              </a:lnSpc>
              <a:spcAft>
                <a:spcPts val="900"/>
              </a:spcAft>
              <a:buSzPct val="100000"/>
              <a:buChar char="•"/>
            </a:pPr>
            <a:r>
              <a:rPr lang="en-US" sz="1250" dirty="0">
                <a:solidFill>
                  <a:srgbClr val="1F2D36"/>
                </a:solidFill>
                <a:latin typeface="Calibri" pitchFamily="34" charset="0"/>
                <a:ea typeface="Calibri" pitchFamily="34" charset="-122"/>
                <a:cs typeface="Calibri" pitchFamily="34" charset="-120"/>
              </a:rPr>
              <a:t>Una línea de flujo de trabajo: qué exige el merge a main</a:t>
            </a:r>
            <a:endParaRPr lang="en-US" sz="1250" dirty="0"/>
          </a:p>
        </p:txBody>
      </p:sp>
      <p:sp>
        <p:nvSpPr>
          <p:cNvPr id="7" name="Shape 5"/>
          <p:cNvSpPr/>
          <p:nvPr/>
        </p:nvSpPr>
        <p:spPr>
          <a:xfrm>
            <a:off x="6208776" y="1600200"/>
            <a:ext cx="5431536" cy="3703320"/>
          </a:xfrm>
          <a:prstGeom prst="roundRect">
            <a:avLst>
              <a:gd name="adj" fmla="val 1481"/>
            </a:avLst>
          </a:prstGeom>
          <a:solidFill>
            <a:srgbClr val="F2F4F5"/>
          </a:solidFill>
          <a:ln/>
        </p:spPr>
        <p:txBody>
          <a:bodyPr/>
          <a:lstStyle/>
          <a:p>
            <a:endParaRPr lang="es-AR"/>
          </a:p>
        </p:txBody>
      </p:sp>
      <p:sp>
        <p:nvSpPr>
          <p:cNvPr id="8" name="Text 6"/>
          <p:cNvSpPr txBox="1"/>
          <p:nvPr/>
        </p:nvSpPr>
        <p:spPr>
          <a:xfrm>
            <a:off x="6574536" y="1874520"/>
            <a:ext cx="4663440" cy="365760"/>
          </a:xfrm>
          <a:prstGeom prst="rect">
            <a:avLst/>
          </a:prstGeom>
          <a:noFill/>
          <a:ln/>
        </p:spPr>
        <p:txBody>
          <a:bodyPr wrap="square" lIns="0" tIns="0" rIns="0" bIns="0" rtlCol="0" anchor="ctr"/>
          <a:lstStyle/>
          <a:p>
            <a:pPr marL="0" indent="0">
              <a:buNone/>
            </a:pPr>
            <a:r>
              <a:rPr lang="en-US" sz="1700" b="1" dirty="0">
                <a:solidFill>
                  <a:srgbClr val="9A5B2C"/>
                </a:solidFill>
                <a:latin typeface="Calibri" pitchFamily="34" charset="0"/>
                <a:ea typeface="Calibri" pitchFamily="34" charset="-122"/>
                <a:cs typeface="Calibri" pitchFamily="34" charset="-120"/>
              </a:rPr>
              <a:t>✕  No va</a:t>
            </a:r>
            <a:endParaRPr lang="en-US" sz="1700" dirty="0"/>
          </a:p>
        </p:txBody>
      </p:sp>
      <p:sp>
        <p:nvSpPr>
          <p:cNvPr id="9" name="Text 7"/>
          <p:cNvSpPr txBox="1"/>
          <p:nvPr/>
        </p:nvSpPr>
        <p:spPr>
          <a:xfrm>
            <a:off x="6574536" y="2423160"/>
            <a:ext cx="4709160" cy="274320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1F2D36"/>
                </a:solidFill>
                <a:latin typeface="Calibri" pitchFamily="34" charset="0"/>
                <a:ea typeface="Calibri" pitchFamily="34" charset="-122"/>
                <a:cs typeface="Calibri" pitchFamily="34" charset="-120"/>
              </a:rPr>
              <a:t>Buenas prácticas genéricas que cualquier agente decente ya aplica</a:t>
            </a:r>
            <a:endParaRPr lang="en-US" sz="1250" dirty="0"/>
          </a:p>
          <a:p>
            <a:pPr marL="342900" indent="-342900">
              <a:lnSpc>
                <a:spcPts val="1700"/>
              </a:lnSpc>
              <a:spcAft>
                <a:spcPts val="900"/>
              </a:spcAft>
              <a:buSzPct val="100000"/>
              <a:buChar char="•"/>
            </a:pPr>
            <a:r>
              <a:rPr lang="en-US" sz="1250" dirty="0">
                <a:solidFill>
                  <a:srgbClr val="1F2D36"/>
                </a:solidFill>
                <a:latin typeface="Calibri" pitchFamily="34" charset="0"/>
                <a:ea typeface="Calibri" pitchFamily="34" charset="-122"/>
                <a:cs typeface="Calibri" pitchFamily="34" charset="-120"/>
              </a:rPr>
              <a:t>Elección de librerías, sinks, niveles de log o retención: eso es plan.md</a:t>
            </a:r>
            <a:endParaRPr lang="en-US" sz="1250" dirty="0"/>
          </a:p>
          <a:p>
            <a:pPr marL="342900" indent="-342900">
              <a:lnSpc>
                <a:spcPts val="1700"/>
              </a:lnSpc>
              <a:spcAft>
                <a:spcPts val="900"/>
              </a:spcAft>
              <a:buSzPct val="100000"/>
              <a:buChar char="•"/>
            </a:pPr>
            <a:r>
              <a:rPr lang="en-US" sz="1250" dirty="0">
                <a:solidFill>
                  <a:srgbClr val="1F2D36"/>
                </a:solidFill>
                <a:latin typeface="Calibri" pitchFamily="34" charset="0"/>
                <a:ea typeface="Calibri" pitchFamily="34" charset="-122"/>
                <a:cs typeface="Calibri" pitchFamily="34" charset="-120"/>
              </a:rPr>
              <a:t>Reglas incontrastables ("ante la duda") sin un umbral verificable</a:t>
            </a:r>
            <a:endParaRPr lang="en-US" sz="1250" dirty="0"/>
          </a:p>
          <a:p>
            <a:pPr marL="342900" indent="-342900">
              <a:lnSpc>
                <a:spcPts val="1700"/>
              </a:lnSpc>
              <a:spcAft>
                <a:spcPts val="900"/>
              </a:spcAft>
              <a:buSzPct val="100000"/>
              <a:buChar char="•"/>
            </a:pPr>
            <a:r>
              <a:rPr lang="en-US" sz="1250" dirty="0">
                <a:solidFill>
                  <a:srgbClr val="1F2D36"/>
                </a:solidFill>
                <a:latin typeface="Calibri" pitchFamily="34" charset="0"/>
                <a:ea typeface="Calibri" pitchFamily="34" charset="-122"/>
                <a:cs typeface="Calibri" pitchFamily="34" charset="-120"/>
              </a:rPr>
              <a:t>Mecánica pura de tooling: eso vive mejor en AGENTS.md o en un preset</a:t>
            </a:r>
            <a:endParaRPr lang="en-US" sz="1250" dirty="0"/>
          </a:p>
        </p:txBody>
      </p:sp>
      <p:sp>
        <p:nvSpPr>
          <p:cNvPr id="10" name="Shape 8"/>
          <p:cNvSpPr/>
          <p:nvPr/>
        </p:nvSpPr>
        <p:spPr>
          <a:xfrm>
            <a:off x="548640" y="5440680"/>
            <a:ext cx="11091672" cy="868680"/>
          </a:xfrm>
          <a:prstGeom prst="roundRect">
            <a:avLst>
              <a:gd name="adj" fmla="val 6316"/>
            </a:avLst>
          </a:prstGeom>
          <a:solidFill>
            <a:srgbClr val="16232B"/>
          </a:solidFill>
          <a:ln/>
        </p:spPr>
        <p:txBody>
          <a:bodyPr/>
          <a:lstStyle/>
          <a:p>
            <a:endParaRPr lang="es-AR"/>
          </a:p>
        </p:txBody>
      </p:sp>
      <p:sp>
        <p:nvSpPr>
          <p:cNvPr id="11" name="Text 9"/>
          <p:cNvSpPr txBox="1"/>
          <p:nvPr/>
        </p:nvSpPr>
        <p:spPr>
          <a:xfrm>
            <a:off x="914400" y="5440680"/>
            <a:ext cx="10360152" cy="868680"/>
          </a:xfrm>
          <a:prstGeom prst="rect">
            <a:avLst/>
          </a:prstGeom>
          <a:noFill/>
          <a:ln/>
        </p:spPr>
        <p:txBody>
          <a:bodyPr wrap="square" lIns="0" tIns="0" rIns="0" bIns="0" rtlCol="0" anchor="ctr"/>
          <a:lstStyle/>
          <a:p>
            <a:pPr marL="0" indent="0">
              <a:buNone/>
            </a:pPr>
            <a:r>
              <a:rPr lang="en-US" sz="1450" dirty="0">
                <a:solidFill>
                  <a:srgbClr val="A9BFC4"/>
                </a:solidFill>
                <a:latin typeface="Calibri" pitchFamily="34" charset="0"/>
                <a:ea typeface="Calibri" pitchFamily="34" charset="-122"/>
                <a:cs typeface="Calibri" pitchFamily="34" charset="-120"/>
              </a:rPr>
              <a:t>El test para cada línea:  </a:t>
            </a:r>
            <a:r>
              <a:rPr lang="en-US" sz="1450" b="1" dirty="0">
                <a:solidFill>
                  <a:srgbClr val="FFFFFF"/>
                </a:solidFill>
                <a:latin typeface="Calibri" pitchFamily="34" charset="0"/>
                <a:ea typeface="Calibri" pitchFamily="34" charset="-122"/>
                <a:cs typeface="Calibri" pitchFamily="34" charset="-120"/>
              </a:rPr>
              <a:t>¿esto cambia el código que se escribe?</a:t>
            </a:r>
            <a:r>
              <a:rPr lang="en-US" sz="1450" dirty="0">
                <a:solidFill>
                  <a:srgbClr val="A9BFC4"/>
                </a:solidFill>
                <a:latin typeface="Calibri" pitchFamily="34" charset="0"/>
                <a:ea typeface="Calibri" pitchFamily="34" charset="-122"/>
                <a:cs typeface="Calibri" pitchFamily="34" charset="-120"/>
              </a:rPr>
              <a:t>   Si un agente competente ya lo haría solo, sobra.</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CONTROLES</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1F2D36"/>
                </a:solidFill>
                <a:latin typeface="Calibri" pitchFamily="34" charset="0"/>
                <a:ea typeface="Calibri" pitchFamily="34" charset="-122"/>
                <a:cs typeface="Calibri" pitchFamily="34" charset="-120"/>
              </a:rPr>
              <a:t>Los gates que trae, y hasta dónde llegan</a:t>
            </a:r>
            <a:endParaRPr lang="en-US" sz="3400" dirty="0"/>
          </a:p>
        </p:txBody>
      </p:sp>
      <p:sp>
        <p:nvSpPr>
          <p:cNvPr id="4" name="Shape 2"/>
          <p:cNvSpPr/>
          <p:nvPr/>
        </p:nvSpPr>
        <p:spPr>
          <a:xfrm>
            <a:off x="548640" y="1554480"/>
            <a:ext cx="5431536" cy="1691640"/>
          </a:xfrm>
          <a:prstGeom prst="roundRect">
            <a:avLst>
              <a:gd name="adj" fmla="val 3243"/>
            </a:avLst>
          </a:prstGeom>
          <a:solidFill>
            <a:srgbClr val="EEF5F4"/>
          </a:solidFill>
          <a:ln/>
        </p:spPr>
        <p:txBody>
          <a:bodyPr/>
          <a:lstStyle/>
          <a:p>
            <a:endParaRPr lang="es-AR"/>
          </a:p>
        </p:txBody>
      </p:sp>
      <p:sp>
        <p:nvSpPr>
          <p:cNvPr id="5" name="Shape 3"/>
          <p:cNvSpPr/>
          <p:nvPr/>
        </p:nvSpPr>
        <p:spPr>
          <a:xfrm>
            <a:off x="868680" y="1938528"/>
            <a:ext cx="310896" cy="310896"/>
          </a:xfrm>
          <a:prstGeom prst="ellipse">
            <a:avLst/>
          </a:prstGeom>
          <a:solidFill>
            <a:srgbClr val="00A896"/>
          </a:solidFill>
          <a:ln/>
        </p:spPr>
        <p:txBody>
          <a:bodyPr/>
          <a:lstStyle/>
          <a:p>
            <a:endParaRPr lang="es-AR"/>
          </a:p>
        </p:txBody>
      </p:sp>
      <p:sp>
        <p:nvSpPr>
          <p:cNvPr id="6" name="Text 4"/>
          <p:cNvSpPr txBox="1"/>
          <p:nvPr/>
        </p:nvSpPr>
        <p:spPr>
          <a:xfrm>
            <a:off x="1325880" y="1901952"/>
            <a:ext cx="4334256" cy="365760"/>
          </a:xfrm>
          <a:prstGeom prst="rect">
            <a:avLst/>
          </a:prstGeom>
          <a:noFill/>
          <a:ln/>
        </p:spPr>
        <p:txBody>
          <a:bodyPr wrap="square" lIns="0" tIns="0" rIns="0" bIns="0" rtlCol="0" anchor="ctr"/>
          <a:lstStyle/>
          <a:p>
            <a:pPr marL="0" indent="0">
              <a:buNone/>
            </a:pPr>
            <a:r>
              <a:rPr lang="en-US" sz="1550" b="1" dirty="0">
                <a:solidFill>
                  <a:srgbClr val="1F2D36"/>
                </a:solidFill>
                <a:latin typeface="Calibri" pitchFamily="34" charset="0"/>
                <a:ea typeface="Calibri" pitchFamily="34" charset="-122"/>
                <a:cs typeface="Calibri" pitchFamily="34" charset="-120"/>
              </a:rPr>
              <a:t>Constitution Check</a:t>
            </a:r>
            <a:endParaRPr lang="en-US" sz="1550" dirty="0"/>
          </a:p>
        </p:txBody>
      </p:sp>
      <p:sp>
        <p:nvSpPr>
          <p:cNvPr id="7" name="Text 5"/>
          <p:cNvSpPr txBox="1"/>
          <p:nvPr/>
        </p:nvSpPr>
        <p:spPr>
          <a:xfrm>
            <a:off x="1325880" y="2331720"/>
            <a:ext cx="4288536" cy="777240"/>
          </a:xfrm>
          <a:prstGeom prst="rect">
            <a:avLst/>
          </a:prstGeom>
          <a:noFill/>
          <a:ln/>
        </p:spPr>
        <p:txBody>
          <a:bodyPr wrap="square" lIns="0" tIns="0" rIns="0" bIns="0" rtlCol="0" anchor="t"/>
          <a:lstStyle/>
          <a:p>
            <a:pPr marL="0" indent="0">
              <a:lnSpc>
                <a:spcPts val="1600"/>
              </a:lnSpc>
              <a:buNone/>
            </a:pPr>
            <a:r>
              <a:rPr lang="en-US" sz="1200" dirty="0">
                <a:solidFill>
                  <a:srgbClr val="6B7C87"/>
                </a:solidFill>
                <a:latin typeface="Calibri" pitchFamily="34" charset="0"/>
                <a:ea typeface="Calibri" pitchFamily="34" charset="-122"/>
                <a:cs typeface="Calibri" pitchFamily="34" charset="-120"/>
              </a:rPr>
              <a:t>En plan-template.md. Se evalúa dos veces: antes de la investigación y después del diseño. Una violación exige justificarse en Complexity Tracking.</a:t>
            </a:r>
            <a:endParaRPr lang="en-US" sz="1200" dirty="0"/>
          </a:p>
        </p:txBody>
      </p:sp>
      <p:sp>
        <p:nvSpPr>
          <p:cNvPr id="8" name="Shape 6"/>
          <p:cNvSpPr/>
          <p:nvPr/>
        </p:nvSpPr>
        <p:spPr>
          <a:xfrm>
            <a:off x="6208776" y="1554480"/>
            <a:ext cx="5431536" cy="1691640"/>
          </a:xfrm>
          <a:prstGeom prst="roundRect">
            <a:avLst>
              <a:gd name="adj" fmla="val 3243"/>
            </a:avLst>
          </a:prstGeom>
          <a:solidFill>
            <a:srgbClr val="EEF5F4"/>
          </a:solidFill>
          <a:ln/>
        </p:spPr>
        <p:txBody>
          <a:bodyPr/>
          <a:lstStyle/>
          <a:p>
            <a:endParaRPr lang="es-AR"/>
          </a:p>
        </p:txBody>
      </p:sp>
      <p:sp>
        <p:nvSpPr>
          <p:cNvPr id="9" name="Shape 7"/>
          <p:cNvSpPr/>
          <p:nvPr/>
        </p:nvSpPr>
        <p:spPr>
          <a:xfrm>
            <a:off x="6528816" y="1938528"/>
            <a:ext cx="310896" cy="310896"/>
          </a:xfrm>
          <a:prstGeom prst="ellipse">
            <a:avLst/>
          </a:prstGeom>
          <a:solidFill>
            <a:srgbClr val="00A896"/>
          </a:solidFill>
          <a:ln/>
        </p:spPr>
        <p:txBody>
          <a:bodyPr/>
          <a:lstStyle/>
          <a:p>
            <a:endParaRPr lang="es-AR"/>
          </a:p>
        </p:txBody>
      </p:sp>
      <p:sp>
        <p:nvSpPr>
          <p:cNvPr id="10" name="Text 8"/>
          <p:cNvSpPr txBox="1"/>
          <p:nvPr/>
        </p:nvSpPr>
        <p:spPr>
          <a:xfrm>
            <a:off x="6986016" y="1901952"/>
            <a:ext cx="4334256" cy="365760"/>
          </a:xfrm>
          <a:prstGeom prst="rect">
            <a:avLst/>
          </a:prstGeom>
          <a:noFill/>
          <a:ln/>
        </p:spPr>
        <p:txBody>
          <a:bodyPr wrap="square" lIns="0" tIns="0" rIns="0" bIns="0" rtlCol="0" anchor="ctr"/>
          <a:lstStyle/>
          <a:p>
            <a:pPr marL="0" indent="0">
              <a:buNone/>
            </a:pPr>
            <a:r>
              <a:rPr lang="en-US" sz="1550" b="1" dirty="0">
                <a:solidFill>
                  <a:srgbClr val="1F2D36"/>
                </a:solidFill>
                <a:latin typeface="Calibri" pitchFamily="34" charset="0"/>
                <a:ea typeface="Calibri" pitchFamily="34" charset="-122"/>
                <a:cs typeface="Calibri" pitchFamily="34" charset="-120"/>
              </a:rPr>
              <a:t>NEEDS CLARIFICATION</a:t>
            </a:r>
            <a:endParaRPr lang="en-US" sz="1550" dirty="0"/>
          </a:p>
        </p:txBody>
      </p:sp>
      <p:sp>
        <p:nvSpPr>
          <p:cNvPr id="11" name="Text 9"/>
          <p:cNvSpPr txBox="1"/>
          <p:nvPr/>
        </p:nvSpPr>
        <p:spPr>
          <a:xfrm>
            <a:off x="6986016" y="2331720"/>
            <a:ext cx="4288536" cy="777240"/>
          </a:xfrm>
          <a:prstGeom prst="rect">
            <a:avLst/>
          </a:prstGeom>
          <a:noFill/>
          <a:ln/>
        </p:spPr>
        <p:txBody>
          <a:bodyPr wrap="square" lIns="0" tIns="0" rIns="0" bIns="0" rtlCol="0" anchor="t"/>
          <a:lstStyle/>
          <a:p>
            <a:pPr marL="0" indent="0">
              <a:lnSpc>
                <a:spcPts val="1600"/>
              </a:lnSpc>
              <a:buNone/>
            </a:pPr>
            <a:r>
              <a:rPr lang="en-US" sz="1200" dirty="0">
                <a:solidFill>
                  <a:srgbClr val="6B7C87"/>
                </a:solidFill>
                <a:latin typeface="Calibri" pitchFamily="34" charset="0"/>
                <a:ea typeface="Calibri" pitchFamily="34" charset="-122"/>
                <a:cs typeface="Calibri" pitchFamily="34" charset="-120"/>
              </a:rPr>
              <a:t>Marcadores que bloquean la progresión hasta resolverse. El agente los pone en vez de inventar el dato faltante.</a:t>
            </a:r>
            <a:endParaRPr lang="en-US" sz="1200" dirty="0"/>
          </a:p>
        </p:txBody>
      </p:sp>
      <p:sp>
        <p:nvSpPr>
          <p:cNvPr id="12" name="Shape 10"/>
          <p:cNvSpPr/>
          <p:nvPr/>
        </p:nvSpPr>
        <p:spPr>
          <a:xfrm>
            <a:off x="548640" y="3447288"/>
            <a:ext cx="5431536" cy="1691640"/>
          </a:xfrm>
          <a:prstGeom prst="roundRect">
            <a:avLst>
              <a:gd name="adj" fmla="val 3243"/>
            </a:avLst>
          </a:prstGeom>
          <a:solidFill>
            <a:srgbClr val="EEF5F4"/>
          </a:solidFill>
          <a:ln/>
        </p:spPr>
        <p:txBody>
          <a:bodyPr/>
          <a:lstStyle/>
          <a:p>
            <a:endParaRPr lang="es-AR"/>
          </a:p>
        </p:txBody>
      </p:sp>
      <p:sp>
        <p:nvSpPr>
          <p:cNvPr id="13" name="Shape 11"/>
          <p:cNvSpPr/>
          <p:nvPr/>
        </p:nvSpPr>
        <p:spPr>
          <a:xfrm>
            <a:off x="868680" y="3831336"/>
            <a:ext cx="310896" cy="310896"/>
          </a:xfrm>
          <a:prstGeom prst="ellipse">
            <a:avLst/>
          </a:prstGeom>
          <a:solidFill>
            <a:srgbClr val="00A896"/>
          </a:solidFill>
          <a:ln/>
        </p:spPr>
        <p:txBody>
          <a:bodyPr/>
          <a:lstStyle/>
          <a:p>
            <a:endParaRPr lang="es-AR"/>
          </a:p>
        </p:txBody>
      </p:sp>
      <p:sp>
        <p:nvSpPr>
          <p:cNvPr id="14" name="Text 12"/>
          <p:cNvSpPr txBox="1"/>
          <p:nvPr/>
        </p:nvSpPr>
        <p:spPr>
          <a:xfrm>
            <a:off x="1325880" y="3794760"/>
            <a:ext cx="4334256" cy="365760"/>
          </a:xfrm>
          <a:prstGeom prst="rect">
            <a:avLst/>
          </a:prstGeom>
          <a:noFill/>
          <a:ln/>
        </p:spPr>
        <p:txBody>
          <a:bodyPr wrap="square" lIns="0" tIns="0" rIns="0" bIns="0" rtlCol="0" anchor="ctr"/>
          <a:lstStyle/>
          <a:p>
            <a:pPr marL="0" indent="0">
              <a:buNone/>
            </a:pPr>
            <a:r>
              <a:rPr lang="en-US" sz="1550" b="1" dirty="0">
                <a:solidFill>
                  <a:srgbClr val="1F2D36"/>
                </a:solidFill>
                <a:latin typeface="Calibri" pitchFamily="34" charset="0"/>
                <a:ea typeface="Calibri" pitchFamily="34" charset="-122"/>
                <a:cs typeface="Calibri" pitchFamily="34" charset="-120"/>
              </a:rPr>
              <a:t>/speckit-analyze · /speckit-checklist</a:t>
            </a:r>
            <a:endParaRPr lang="en-US" sz="1550" dirty="0"/>
          </a:p>
        </p:txBody>
      </p:sp>
      <p:sp>
        <p:nvSpPr>
          <p:cNvPr id="15" name="Text 13"/>
          <p:cNvSpPr txBox="1"/>
          <p:nvPr/>
        </p:nvSpPr>
        <p:spPr>
          <a:xfrm>
            <a:off x="1325880" y="4224528"/>
            <a:ext cx="4288536" cy="777240"/>
          </a:xfrm>
          <a:prstGeom prst="rect">
            <a:avLst/>
          </a:prstGeom>
          <a:noFill/>
          <a:ln/>
        </p:spPr>
        <p:txBody>
          <a:bodyPr wrap="square" lIns="0" tIns="0" rIns="0" bIns="0" rtlCol="0" anchor="t"/>
          <a:lstStyle/>
          <a:p>
            <a:pPr marL="0" indent="0">
              <a:lnSpc>
                <a:spcPts val="1600"/>
              </a:lnSpc>
              <a:buNone/>
            </a:pPr>
            <a:r>
              <a:rPr lang="en-US" sz="1200" dirty="0">
                <a:solidFill>
                  <a:srgbClr val="6B7C87"/>
                </a:solidFill>
                <a:latin typeface="Calibri" pitchFamily="34" charset="0"/>
                <a:ea typeface="Calibri" pitchFamily="34" charset="-122"/>
                <a:cs typeface="Calibri" pitchFamily="34" charset="-120"/>
              </a:rPr>
              <a:t>Análisis cruzado entre spec, plan y tasks buscando inconsistencias, más listas de verificación por feature.</a:t>
            </a:r>
            <a:endParaRPr lang="en-US" sz="1200" dirty="0"/>
          </a:p>
        </p:txBody>
      </p:sp>
      <p:sp>
        <p:nvSpPr>
          <p:cNvPr id="16" name="Shape 14"/>
          <p:cNvSpPr/>
          <p:nvPr/>
        </p:nvSpPr>
        <p:spPr>
          <a:xfrm>
            <a:off x="6208776" y="3447288"/>
            <a:ext cx="5431536" cy="1691640"/>
          </a:xfrm>
          <a:prstGeom prst="roundRect">
            <a:avLst>
              <a:gd name="adj" fmla="val 3243"/>
            </a:avLst>
          </a:prstGeom>
          <a:solidFill>
            <a:srgbClr val="EEF5F4"/>
          </a:solidFill>
          <a:ln/>
        </p:spPr>
        <p:txBody>
          <a:bodyPr/>
          <a:lstStyle/>
          <a:p>
            <a:endParaRPr lang="es-AR"/>
          </a:p>
        </p:txBody>
      </p:sp>
      <p:sp>
        <p:nvSpPr>
          <p:cNvPr id="17" name="Shape 15"/>
          <p:cNvSpPr/>
          <p:nvPr/>
        </p:nvSpPr>
        <p:spPr>
          <a:xfrm>
            <a:off x="6528816" y="3831336"/>
            <a:ext cx="310896" cy="310896"/>
          </a:xfrm>
          <a:prstGeom prst="ellipse">
            <a:avLst/>
          </a:prstGeom>
          <a:solidFill>
            <a:srgbClr val="00A896"/>
          </a:solidFill>
          <a:ln/>
        </p:spPr>
        <p:txBody>
          <a:bodyPr/>
          <a:lstStyle/>
          <a:p>
            <a:endParaRPr lang="es-AR"/>
          </a:p>
        </p:txBody>
      </p:sp>
      <p:sp>
        <p:nvSpPr>
          <p:cNvPr id="18" name="Text 16"/>
          <p:cNvSpPr txBox="1"/>
          <p:nvPr/>
        </p:nvSpPr>
        <p:spPr>
          <a:xfrm>
            <a:off x="6986016" y="3794760"/>
            <a:ext cx="4334256" cy="365760"/>
          </a:xfrm>
          <a:prstGeom prst="rect">
            <a:avLst/>
          </a:prstGeom>
          <a:noFill/>
          <a:ln/>
        </p:spPr>
        <p:txBody>
          <a:bodyPr wrap="square" lIns="0" tIns="0" rIns="0" bIns="0" rtlCol="0" anchor="ctr"/>
          <a:lstStyle/>
          <a:p>
            <a:pPr marL="0" indent="0">
              <a:buNone/>
            </a:pPr>
            <a:r>
              <a:rPr lang="en-US" sz="1550" b="1" dirty="0">
                <a:solidFill>
                  <a:srgbClr val="1F2D36"/>
                </a:solidFill>
                <a:latin typeface="Calibri" pitchFamily="34" charset="0"/>
                <a:ea typeface="Calibri" pitchFamily="34" charset="-122"/>
                <a:cs typeface="Calibri" pitchFamily="34" charset="-120"/>
              </a:rPr>
              <a:t>/speckit-converge</a:t>
            </a:r>
            <a:endParaRPr lang="en-US" sz="1550" dirty="0"/>
          </a:p>
        </p:txBody>
      </p:sp>
      <p:sp>
        <p:nvSpPr>
          <p:cNvPr id="19" name="Text 17"/>
          <p:cNvSpPr txBox="1"/>
          <p:nvPr/>
        </p:nvSpPr>
        <p:spPr>
          <a:xfrm>
            <a:off x="6986016" y="4224528"/>
            <a:ext cx="4288536" cy="777240"/>
          </a:xfrm>
          <a:prstGeom prst="rect">
            <a:avLst/>
          </a:prstGeom>
          <a:noFill/>
          <a:ln/>
        </p:spPr>
        <p:txBody>
          <a:bodyPr wrap="square" lIns="0" tIns="0" rIns="0" bIns="0" rtlCol="0" anchor="t"/>
          <a:lstStyle/>
          <a:p>
            <a:pPr marL="0" indent="0">
              <a:lnSpc>
                <a:spcPts val="1600"/>
              </a:lnSpc>
              <a:buNone/>
            </a:pPr>
            <a:r>
              <a:rPr lang="en-US" sz="1200" dirty="0">
                <a:solidFill>
                  <a:srgbClr val="6B7C87"/>
                </a:solidFill>
                <a:latin typeface="Calibri" pitchFamily="34" charset="0"/>
                <a:ea typeface="Calibri" pitchFamily="34" charset="-122"/>
                <a:cs typeface="Calibri" pitchFamily="34" charset="-120"/>
              </a:rPr>
              <a:t>Compara el código real contra la spec y reporta la deriva acumulada. Vale correrlo después de cada enmienda.</a:t>
            </a:r>
            <a:endParaRPr lang="en-US" sz="1200" dirty="0"/>
          </a:p>
        </p:txBody>
      </p:sp>
      <p:sp>
        <p:nvSpPr>
          <p:cNvPr id="20" name="Shape 18"/>
          <p:cNvSpPr/>
          <p:nvPr/>
        </p:nvSpPr>
        <p:spPr>
          <a:xfrm>
            <a:off x="548640" y="5349240"/>
            <a:ext cx="11091672" cy="914400"/>
          </a:xfrm>
          <a:prstGeom prst="roundRect">
            <a:avLst>
              <a:gd name="adj" fmla="val 6000"/>
            </a:avLst>
          </a:prstGeom>
          <a:solidFill>
            <a:srgbClr val="FBF1E7"/>
          </a:solidFill>
          <a:ln/>
        </p:spPr>
        <p:txBody>
          <a:bodyPr/>
          <a:lstStyle/>
          <a:p>
            <a:endParaRPr lang="es-AR"/>
          </a:p>
        </p:txBody>
      </p:sp>
      <p:sp>
        <p:nvSpPr>
          <p:cNvPr id="21" name="Text 19"/>
          <p:cNvSpPr txBox="1"/>
          <p:nvPr/>
        </p:nvSpPr>
        <p:spPr>
          <a:xfrm>
            <a:off x="914400" y="5349240"/>
            <a:ext cx="10360152" cy="914400"/>
          </a:xfrm>
          <a:prstGeom prst="rect">
            <a:avLst/>
          </a:prstGeom>
          <a:noFill/>
          <a:ln/>
        </p:spPr>
        <p:txBody>
          <a:bodyPr wrap="square" lIns="0" tIns="0" rIns="0" bIns="0" rtlCol="0" anchor="ctr"/>
          <a:lstStyle/>
          <a:p>
            <a:pPr marL="0" indent="0">
              <a:lnSpc>
                <a:spcPts val="1800"/>
              </a:lnSpc>
              <a:buNone/>
            </a:pPr>
            <a:r>
              <a:rPr lang="en-US" sz="1300" b="1" dirty="0">
                <a:solidFill>
                  <a:srgbClr val="8A5A22"/>
                </a:solidFill>
                <a:latin typeface="Calibri" pitchFamily="34" charset="0"/>
                <a:ea typeface="Calibri" pitchFamily="34" charset="-122"/>
                <a:cs typeface="Calibri" pitchFamily="34" charset="-120"/>
              </a:rPr>
              <a:t>Ojo:  </a:t>
            </a:r>
            <a:r>
              <a:rPr lang="en-US" sz="1300" dirty="0">
                <a:solidFill>
                  <a:srgbClr val="8A5A22"/>
                </a:solidFill>
                <a:latin typeface="Calibri" pitchFamily="34" charset="0"/>
                <a:ea typeface="Calibri" pitchFamily="34" charset="-122"/>
                <a:cs typeface="Calibri" pitchFamily="34" charset="-120"/>
              </a:rPr>
              <a:t>estos gates los evalúa el agente leyendo templates, no un runner que corta el proceso. No son CI. Para enforcement duro hay que cablearlo afuera: hooks de Git, o un check en CI que falle antes del merge.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27A6E"/>
                </a:solidFill>
                <a:latin typeface="Calibri" pitchFamily="34" charset="0"/>
                <a:ea typeface="Calibri" pitchFamily="34" charset="-122"/>
                <a:cs typeface="Calibri" pitchFamily="34" charset="-120"/>
              </a:rPr>
              <a:t>CRITERIO DE ADOPCIÓN</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1F2D36"/>
                </a:solidFill>
                <a:latin typeface="Calibri" pitchFamily="34" charset="0"/>
                <a:ea typeface="Calibri" pitchFamily="34" charset="-122"/>
                <a:cs typeface="Calibri" pitchFamily="34" charset="-120"/>
              </a:rPr>
              <a:t>Dónde rinde y dónde estorba</a:t>
            </a:r>
            <a:endParaRPr lang="en-US" sz="3400" dirty="0"/>
          </a:p>
        </p:txBody>
      </p:sp>
      <p:sp>
        <p:nvSpPr>
          <p:cNvPr id="4" name="Shape 2"/>
          <p:cNvSpPr/>
          <p:nvPr/>
        </p:nvSpPr>
        <p:spPr>
          <a:xfrm>
            <a:off x="548640" y="1600200"/>
            <a:ext cx="5431536" cy="4434840"/>
          </a:xfrm>
          <a:prstGeom prst="roundRect">
            <a:avLst>
              <a:gd name="adj" fmla="val 1237"/>
            </a:avLst>
          </a:prstGeom>
          <a:solidFill>
            <a:srgbClr val="EEF5F4"/>
          </a:solidFill>
          <a:ln/>
        </p:spPr>
        <p:txBody>
          <a:bodyPr/>
          <a:lstStyle/>
          <a:p>
            <a:endParaRPr lang="es-AR"/>
          </a:p>
        </p:txBody>
      </p:sp>
      <p:sp>
        <p:nvSpPr>
          <p:cNvPr id="5" name="Text 3"/>
          <p:cNvSpPr txBox="1"/>
          <p:nvPr/>
        </p:nvSpPr>
        <p:spPr>
          <a:xfrm>
            <a:off x="914400" y="1874520"/>
            <a:ext cx="4663440" cy="365760"/>
          </a:xfrm>
          <a:prstGeom prst="rect">
            <a:avLst/>
          </a:prstGeom>
          <a:noFill/>
          <a:ln/>
        </p:spPr>
        <p:txBody>
          <a:bodyPr wrap="square" lIns="0" tIns="0" rIns="0" bIns="0" rtlCol="0" anchor="ctr"/>
          <a:lstStyle/>
          <a:p>
            <a:pPr marL="0" indent="0">
              <a:buNone/>
            </a:pPr>
            <a:r>
              <a:rPr lang="en-US" sz="1800" b="1" dirty="0">
                <a:solidFill>
                  <a:srgbClr val="027A6E"/>
                </a:solidFill>
                <a:latin typeface="Calibri" pitchFamily="34" charset="0"/>
                <a:ea typeface="Calibri" pitchFamily="34" charset="-122"/>
                <a:cs typeface="Calibri" pitchFamily="34" charset="-120"/>
              </a:rPr>
              <a:t>Rinde</a:t>
            </a:r>
            <a:endParaRPr lang="en-US" sz="1800" dirty="0"/>
          </a:p>
        </p:txBody>
      </p:sp>
      <p:sp>
        <p:nvSpPr>
          <p:cNvPr id="6" name="Shape 4"/>
          <p:cNvSpPr/>
          <p:nvPr/>
        </p:nvSpPr>
        <p:spPr>
          <a:xfrm>
            <a:off x="932688" y="2578608"/>
            <a:ext cx="146304" cy="146304"/>
          </a:xfrm>
          <a:prstGeom prst="ellipse">
            <a:avLst/>
          </a:prstGeom>
          <a:solidFill>
            <a:srgbClr val="00A896"/>
          </a:solidFill>
          <a:ln/>
        </p:spPr>
        <p:txBody>
          <a:bodyPr/>
          <a:lstStyle/>
          <a:p>
            <a:endParaRPr lang="es-AR"/>
          </a:p>
        </p:txBody>
      </p:sp>
      <p:sp>
        <p:nvSpPr>
          <p:cNvPr id="7" name="Text 5"/>
          <p:cNvSpPr txBox="1"/>
          <p:nvPr/>
        </p:nvSpPr>
        <p:spPr>
          <a:xfrm>
            <a:off x="1234440" y="2487168"/>
            <a:ext cx="4389120" cy="292608"/>
          </a:xfrm>
          <a:prstGeom prst="rect">
            <a:avLst/>
          </a:prstGeom>
          <a:noFill/>
          <a:ln/>
        </p:spPr>
        <p:txBody>
          <a:bodyPr wrap="square" lIns="0" tIns="0" rIns="0" bIns="0" rtlCol="0" anchor="ctr"/>
          <a:lstStyle/>
          <a:p>
            <a:pPr marL="0" indent="0">
              <a:buNone/>
            </a:pPr>
            <a:r>
              <a:rPr lang="en-US" sz="1350" b="1" dirty="0">
                <a:solidFill>
                  <a:srgbClr val="1F2D36"/>
                </a:solidFill>
                <a:latin typeface="Calibri" pitchFamily="34" charset="0"/>
                <a:ea typeface="Calibri" pitchFamily="34" charset="-122"/>
                <a:cs typeface="Calibri" pitchFamily="34" charset="-120"/>
              </a:rPr>
              <a:t>Features medianas y grandes</a:t>
            </a:r>
            <a:endParaRPr lang="en-US" sz="1350" dirty="0"/>
          </a:p>
        </p:txBody>
      </p:sp>
      <p:sp>
        <p:nvSpPr>
          <p:cNvPr id="8" name="Text 6"/>
          <p:cNvSpPr txBox="1"/>
          <p:nvPr/>
        </p:nvSpPr>
        <p:spPr>
          <a:xfrm>
            <a:off x="1234440" y="2788920"/>
            <a:ext cx="4389120" cy="384048"/>
          </a:xfrm>
          <a:prstGeom prst="rect">
            <a:avLst/>
          </a:prstGeom>
          <a:noFill/>
          <a:ln/>
        </p:spPr>
        <p:txBody>
          <a:bodyPr wrap="square" lIns="0" tIns="0" rIns="0" bIns="0" rtlCol="0" anchor="t"/>
          <a:lstStyle/>
          <a:p>
            <a:pPr marL="0" indent="0">
              <a:lnSpc>
                <a:spcPts val="1500"/>
              </a:lnSpc>
              <a:buNone/>
            </a:pPr>
            <a:r>
              <a:rPr lang="en-US" sz="1150" dirty="0">
                <a:solidFill>
                  <a:srgbClr val="6B7C87"/>
                </a:solidFill>
                <a:latin typeface="Calibri" pitchFamily="34" charset="0"/>
                <a:ea typeface="Calibri" pitchFamily="34" charset="-122"/>
                <a:cs typeface="Calibri" pitchFamily="34" charset="-120"/>
              </a:rPr>
              <a:t>El costo de la ceremonia se amortiza en el alcance.</a:t>
            </a:r>
            <a:endParaRPr lang="en-US" sz="1150" dirty="0"/>
          </a:p>
        </p:txBody>
      </p:sp>
      <p:sp>
        <p:nvSpPr>
          <p:cNvPr id="9" name="Shape 7"/>
          <p:cNvSpPr/>
          <p:nvPr/>
        </p:nvSpPr>
        <p:spPr>
          <a:xfrm>
            <a:off x="932688" y="3493008"/>
            <a:ext cx="146304" cy="146304"/>
          </a:xfrm>
          <a:prstGeom prst="ellipse">
            <a:avLst/>
          </a:prstGeom>
          <a:solidFill>
            <a:srgbClr val="00A896"/>
          </a:solidFill>
          <a:ln/>
        </p:spPr>
        <p:txBody>
          <a:bodyPr/>
          <a:lstStyle/>
          <a:p>
            <a:endParaRPr lang="es-AR"/>
          </a:p>
        </p:txBody>
      </p:sp>
      <p:sp>
        <p:nvSpPr>
          <p:cNvPr id="10" name="Text 8"/>
          <p:cNvSpPr txBox="1"/>
          <p:nvPr/>
        </p:nvSpPr>
        <p:spPr>
          <a:xfrm>
            <a:off x="1234440" y="3401568"/>
            <a:ext cx="4389120" cy="292608"/>
          </a:xfrm>
          <a:prstGeom prst="rect">
            <a:avLst/>
          </a:prstGeom>
          <a:noFill/>
          <a:ln/>
        </p:spPr>
        <p:txBody>
          <a:bodyPr wrap="square" lIns="0" tIns="0" rIns="0" bIns="0" rtlCol="0" anchor="ctr"/>
          <a:lstStyle/>
          <a:p>
            <a:pPr marL="0" indent="0">
              <a:buNone/>
            </a:pPr>
            <a:r>
              <a:rPr lang="en-US" sz="1350" b="1" dirty="0">
                <a:solidFill>
                  <a:srgbClr val="1F2D36"/>
                </a:solidFill>
                <a:latin typeface="Calibri" pitchFamily="34" charset="0"/>
                <a:ea typeface="Calibri" pitchFamily="34" charset="-122"/>
                <a:cs typeface="Calibri" pitchFamily="34" charset="-120"/>
              </a:rPr>
              <a:t>Equipos</a:t>
            </a:r>
            <a:endParaRPr lang="en-US" sz="1350" dirty="0"/>
          </a:p>
        </p:txBody>
      </p:sp>
      <p:sp>
        <p:nvSpPr>
          <p:cNvPr id="11" name="Text 9"/>
          <p:cNvSpPr txBox="1"/>
          <p:nvPr/>
        </p:nvSpPr>
        <p:spPr>
          <a:xfrm>
            <a:off x="1234440" y="3703320"/>
            <a:ext cx="4389120" cy="384048"/>
          </a:xfrm>
          <a:prstGeom prst="rect">
            <a:avLst/>
          </a:prstGeom>
          <a:noFill/>
          <a:ln/>
        </p:spPr>
        <p:txBody>
          <a:bodyPr wrap="square" lIns="0" tIns="0" rIns="0" bIns="0" rtlCol="0" anchor="t"/>
          <a:lstStyle/>
          <a:p>
            <a:pPr marL="0" indent="0">
              <a:lnSpc>
                <a:spcPts val="1500"/>
              </a:lnSpc>
              <a:buNone/>
            </a:pPr>
            <a:r>
              <a:rPr lang="en-US" sz="1150" dirty="0">
                <a:solidFill>
                  <a:srgbClr val="6B7C87"/>
                </a:solidFill>
                <a:latin typeface="Calibri" pitchFamily="34" charset="0"/>
                <a:ea typeface="Calibri" pitchFamily="34" charset="-122"/>
                <a:cs typeface="Calibri" pitchFamily="34" charset="-120"/>
              </a:rPr>
              <a:t>La spec se discute en pull request, no en un chat privado.</a:t>
            </a:r>
            <a:endParaRPr lang="en-US" sz="1150" dirty="0"/>
          </a:p>
        </p:txBody>
      </p:sp>
      <p:sp>
        <p:nvSpPr>
          <p:cNvPr id="12" name="Shape 10"/>
          <p:cNvSpPr/>
          <p:nvPr/>
        </p:nvSpPr>
        <p:spPr>
          <a:xfrm>
            <a:off x="932688" y="4407408"/>
            <a:ext cx="146304" cy="146304"/>
          </a:xfrm>
          <a:prstGeom prst="ellipse">
            <a:avLst/>
          </a:prstGeom>
          <a:solidFill>
            <a:srgbClr val="00A896"/>
          </a:solidFill>
          <a:ln/>
        </p:spPr>
        <p:txBody>
          <a:bodyPr/>
          <a:lstStyle/>
          <a:p>
            <a:endParaRPr lang="es-AR"/>
          </a:p>
        </p:txBody>
      </p:sp>
      <p:sp>
        <p:nvSpPr>
          <p:cNvPr id="13" name="Text 11"/>
          <p:cNvSpPr txBox="1"/>
          <p:nvPr/>
        </p:nvSpPr>
        <p:spPr>
          <a:xfrm>
            <a:off x="1234440" y="4315968"/>
            <a:ext cx="4389120" cy="292608"/>
          </a:xfrm>
          <a:prstGeom prst="rect">
            <a:avLst/>
          </a:prstGeom>
          <a:noFill/>
          <a:ln/>
        </p:spPr>
        <p:txBody>
          <a:bodyPr wrap="square" lIns="0" tIns="0" rIns="0" bIns="0" rtlCol="0" anchor="ctr"/>
          <a:lstStyle/>
          <a:p>
            <a:pPr marL="0" indent="0">
              <a:buNone/>
            </a:pPr>
            <a:r>
              <a:rPr lang="en-US" sz="1350" b="1" dirty="0">
                <a:solidFill>
                  <a:srgbClr val="1F2D36"/>
                </a:solidFill>
                <a:latin typeface="Calibri" pitchFamily="34" charset="0"/>
                <a:ea typeface="Calibri" pitchFamily="34" charset="-122"/>
                <a:cs typeface="Calibri" pitchFamily="34" charset="-120"/>
              </a:rPr>
              <a:t>Dominios con reglas duras</a:t>
            </a:r>
            <a:endParaRPr lang="en-US" sz="1350" dirty="0"/>
          </a:p>
        </p:txBody>
      </p:sp>
      <p:sp>
        <p:nvSpPr>
          <p:cNvPr id="14" name="Text 12"/>
          <p:cNvSpPr txBox="1"/>
          <p:nvPr/>
        </p:nvSpPr>
        <p:spPr>
          <a:xfrm>
            <a:off x="1234440" y="4617720"/>
            <a:ext cx="4389120" cy="384048"/>
          </a:xfrm>
          <a:prstGeom prst="rect">
            <a:avLst/>
          </a:prstGeom>
          <a:noFill/>
          <a:ln/>
        </p:spPr>
        <p:txBody>
          <a:bodyPr wrap="square" lIns="0" tIns="0" rIns="0" bIns="0" rtlCol="0" anchor="t"/>
          <a:lstStyle/>
          <a:p>
            <a:pPr marL="0" indent="0">
              <a:lnSpc>
                <a:spcPts val="1500"/>
              </a:lnSpc>
              <a:buNone/>
            </a:pPr>
            <a:r>
              <a:rPr lang="en-US" sz="1150" dirty="0">
                <a:solidFill>
                  <a:srgbClr val="6B7C87"/>
                </a:solidFill>
                <a:latin typeface="Calibri" pitchFamily="34" charset="0"/>
                <a:ea typeface="Calibri" pitchFamily="34" charset="-122"/>
                <a:cs typeface="Calibri" pitchFamily="34" charset="-120"/>
              </a:rPr>
              <a:t>Compliance, datos sensibles, auditoría.</a:t>
            </a:r>
            <a:endParaRPr lang="en-US" sz="1150" dirty="0"/>
          </a:p>
        </p:txBody>
      </p:sp>
      <p:sp>
        <p:nvSpPr>
          <p:cNvPr id="15" name="Shape 13"/>
          <p:cNvSpPr/>
          <p:nvPr/>
        </p:nvSpPr>
        <p:spPr>
          <a:xfrm>
            <a:off x="932688" y="5321808"/>
            <a:ext cx="146304" cy="146304"/>
          </a:xfrm>
          <a:prstGeom prst="ellipse">
            <a:avLst/>
          </a:prstGeom>
          <a:solidFill>
            <a:srgbClr val="00A896"/>
          </a:solidFill>
          <a:ln/>
        </p:spPr>
        <p:txBody>
          <a:bodyPr/>
          <a:lstStyle/>
          <a:p>
            <a:endParaRPr lang="es-AR"/>
          </a:p>
        </p:txBody>
      </p:sp>
      <p:sp>
        <p:nvSpPr>
          <p:cNvPr id="16" name="Text 14"/>
          <p:cNvSpPr txBox="1"/>
          <p:nvPr/>
        </p:nvSpPr>
        <p:spPr>
          <a:xfrm>
            <a:off x="1234440" y="5230368"/>
            <a:ext cx="4389120" cy="292608"/>
          </a:xfrm>
          <a:prstGeom prst="rect">
            <a:avLst/>
          </a:prstGeom>
          <a:noFill/>
          <a:ln/>
        </p:spPr>
        <p:txBody>
          <a:bodyPr wrap="square" lIns="0" tIns="0" rIns="0" bIns="0" rtlCol="0" anchor="ctr"/>
          <a:lstStyle/>
          <a:p>
            <a:pPr marL="0" indent="0">
              <a:buNone/>
            </a:pPr>
            <a:r>
              <a:rPr lang="en-US" sz="1350" b="1" dirty="0">
                <a:solidFill>
                  <a:srgbClr val="1F2D36"/>
                </a:solidFill>
                <a:latin typeface="Calibri" pitchFamily="34" charset="0"/>
                <a:ea typeface="Calibri" pitchFamily="34" charset="-122"/>
                <a:cs typeface="Calibri" pitchFamily="34" charset="-120"/>
              </a:rPr>
              <a:t>Proyectos largos</a:t>
            </a:r>
            <a:endParaRPr lang="en-US" sz="1350" dirty="0"/>
          </a:p>
        </p:txBody>
      </p:sp>
      <p:sp>
        <p:nvSpPr>
          <p:cNvPr id="17" name="Text 15"/>
          <p:cNvSpPr txBox="1"/>
          <p:nvPr/>
        </p:nvSpPr>
        <p:spPr>
          <a:xfrm>
            <a:off x="1234440" y="5532120"/>
            <a:ext cx="4389120" cy="384048"/>
          </a:xfrm>
          <a:prstGeom prst="rect">
            <a:avLst/>
          </a:prstGeom>
          <a:noFill/>
          <a:ln/>
        </p:spPr>
        <p:txBody>
          <a:bodyPr wrap="square" lIns="0" tIns="0" rIns="0" bIns="0" rtlCol="0" anchor="t"/>
          <a:lstStyle/>
          <a:p>
            <a:pPr marL="0" indent="0">
              <a:lnSpc>
                <a:spcPts val="1500"/>
              </a:lnSpc>
              <a:buNone/>
            </a:pPr>
            <a:r>
              <a:rPr lang="en-US" sz="1150" dirty="0">
                <a:solidFill>
                  <a:srgbClr val="6B7C87"/>
                </a:solidFill>
                <a:latin typeface="Calibri" pitchFamily="34" charset="0"/>
                <a:ea typeface="Calibri" pitchFamily="34" charset="-122"/>
                <a:cs typeface="Calibri" pitchFamily="34" charset="-120"/>
              </a:rPr>
              <a:t>El registro de decisiones sobrevive a la rotación.</a:t>
            </a:r>
            <a:endParaRPr lang="en-US" sz="1150" dirty="0"/>
          </a:p>
        </p:txBody>
      </p:sp>
      <p:sp>
        <p:nvSpPr>
          <p:cNvPr id="18" name="Shape 16"/>
          <p:cNvSpPr/>
          <p:nvPr/>
        </p:nvSpPr>
        <p:spPr>
          <a:xfrm>
            <a:off x="6208776" y="1600200"/>
            <a:ext cx="5431536" cy="4434840"/>
          </a:xfrm>
          <a:prstGeom prst="roundRect">
            <a:avLst>
              <a:gd name="adj" fmla="val 1237"/>
            </a:avLst>
          </a:prstGeom>
          <a:solidFill>
            <a:srgbClr val="F2F4F5"/>
          </a:solidFill>
          <a:ln/>
        </p:spPr>
        <p:txBody>
          <a:bodyPr/>
          <a:lstStyle/>
          <a:p>
            <a:endParaRPr lang="es-AR"/>
          </a:p>
        </p:txBody>
      </p:sp>
      <p:sp>
        <p:nvSpPr>
          <p:cNvPr id="19" name="Text 17"/>
          <p:cNvSpPr txBox="1"/>
          <p:nvPr/>
        </p:nvSpPr>
        <p:spPr>
          <a:xfrm>
            <a:off x="6574536" y="1874520"/>
            <a:ext cx="4663440" cy="365760"/>
          </a:xfrm>
          <a:prstGeom prst="rect">
            <a:avLst/>
          </a:prstGeom>
          <a:noFill/>
          <a:ln/>
        </p:spPr>
        <p:txBody>
          <a:bodyPr wrap="square" lIns="0" tIns="0" rIns="0" bIns="0" rtlCol="0" anchor="ctr"/>
          <a:lstStyle/>
          <a:p>
            <a:pPr marL="0" indent="0">
              <a:buNone/>
            </a:pPr>
            <a:r>
              <a:rPr lang="en-US" sz="1800" b="1" dirty="0">
                <a:solidFill>
                  <a:srgbClr val="9A5B2C"/>
                </a:solidFill>
                <a:latin typeface="Calibri" pitchFamily="34" charset="0"/>
                <a:ea typeface="Calibri" pitchFamily="34" charset="-122"/>
                <a:cs typeface="Calibri" pitchFamily="34" charset="-120"/>
              </a:rPr>
              <a:t>Estorba</a:t>
            </a:r>
            <a:endParaRPr lang="en-US" sz="1800" dirty="0"/>
          </a:p>
        </p:txBody>
      </p:sp>
      <p:sp>
        <p:nvSpPr>
          <p:cNvPr id="20" name="Shape 18"/>
          <p:cNvSpPr/>
          <p:nvPr/>
        </p:nvSpPr>
        <p:spPr>
          <a:xfrm>
            <a:off x="6592824" y="2578608"/>
            <a:ext cx="146304" cy="146304"/>
          </a:xfrm>
          <a:prstGeom prst="ellipse">
            <a:avLst/>
          </a:prstGeom>
          <a:solidFill>
            <a:srgbClr val="E08A3C"/>
          </a:solidFill>
          <a:ln/>
        </p:spPr>
        <p:txBody>
          <a:bodyPr/>
          <a:lstStyle/>
          <a:p>
            <a:endParaRPr lang="es-AR"/>
          </a:p>
        </p:txBody>
      </p:sp>
      <p:sp>
        <p:nvSpPr>
          <p:cNvPr id="21" name="Text 19"/>
          <p:cNvSpPr txBox="1"/>
          <p:nvPr/>
        </p:nvSpPr>
        <p:spPr>
          <a:xfrm>
            <a:off x="6894576" y="2487168"/>
            <a:ext cx="4389120" cy="292608"/>
          </a:xfrm>
          <a:prstGeom prst="rect">
            <a:avLst/>
          </a:prstGeom>
          <a:noFill/>
          <a:ln/>
        </p:spPr>
        <p:txBody>
          <a:bodyPr wrap="square" lIns="0" tIns="0" rIns="0" bIns="0" rtlCol="0" anchor="ctr"/>
          <a:lstStyle/>
          <a:p>
            <a:pPr marL="0" indent="0">
              <a:buNone/>
            </a:pPr>
            <a:r>
              <a:rPr lang="en-US" sz="1350" b="1" dirty="0">
                <a:solidFill>
                  <a:srgbClr val="1F2D36"/>
                </a:solidFill>
                <a:latin typeface="Calibri" pitchFamily="34" charset="0"/>
                <a:ea typeface="Calibri" pitchFamily="34" charset="-122"/>
                <a:cs typeface="Calibri" pitchFamily="34" charset="-120"/>
              </a:rPr>
              <a:t>Scripts y fixes chicos</a:t>
            </a:r>
            <a:endParaRPr lang="en-US" sz="1350" dirty="0"/>
          </a:p>
        </p:txBody>
      </p:sp>
      <p:sp>
        <p:nvSpPr>
          <p:cNvPr id="22" name="Text 20"/>
          <p:cNvSpPr txBox="1"/>
          <p:nvPr/>
        </p:nvSpPr>
        <p:spPr>
          <a:xfrm>
            <a:off x="6894576" y="2788920"/>
            <a:ext cx="4389120" cy="384048"/>
          </a:xfrm>
          <a:prstGeom prst="rect">
            <a:avLst/>
          </a:prstGeom>
          <a:noFill/>
          <a:ln/>
        </p:spPr>
        <p:txBody>
          <a:bodyPr wrap="square" lIns="0" tIns="0" rIns="0" bIns="0" rtlCol="0" anchor="t"/>
          <a:lstStyle/>
          <a:p>
            <a:pPr marL="0" indent="0">
              <a:lnSpc>
                <a:spcPts val="1500"/>
              </a:lnSpc>
              <a:buNone/>
            </a:pPr>
            <a:r>
              <a:rPr lang="en-US" sz="1150" dirty="0">
                <a:solidFill>
                  <a:srgbClr val="6B7C87"/>
                </a:solidFill>
                <a:latin typeface="Calibri" pitchFamily="34" charset="0"/>
                <a:ea typeface="Calibri" pitchFamily="34" charset="-122"/>
                <a:cs typeface="Calibri" pitchFamily="34" charset="-120"/>
              </a:rPr>
              <a:t>Cuatro fases para veinte líneas es sobredimensionado.</a:t>
            </a:r>
            <a:endParaRPr lang="en-US" sz="1150" dirty="0"/>
          </a:p>
        </p:txBody>
      </p:sp>
      <p:sp>
        <p:nvSpPr>
          <p:cNvPr id="23" name="Shape 21"/>
          <p:cNvSpPr/>
          <p:nvPr/>
        </p:nvSpPr>
        <p:spPr>
          <a:xfrm>
            <a:off x="6592824" y="3493008"/>
            <a:ext cx="146304" cy="146304"/>
          </a:xfrm>
          <a:prstGeom prst="ellipse">
            <a:avLst/>
          </a:prstGeom>
          <a:solidFill>
            <a:srgbClr val="E08A3C"/>
          </a:solidFill>
          <a:ln/>
        </p:spPr>
        <p:txBody>
          <a:bodyPr/>
          <a:lstStyle/>
          <a:p>
            <a:endParaRPr lang="es-AR"/>
          </a:p>
        </p:txBody>
      </p:sp>
      <p:sp>
        <p:nvSpPr>
          <p:cNvPr id="24" name="Text 22"/>
          <p:cNvSpPr txBox="1"/>
          <p:nvPr/>
        </p:nvSpPr>
        <p:spPr>
          <a:xfrm>
            <a:off x="6894576" y="3401568"/>
            <a:ext cx="4389120" cy="292608"/>
          </a:xfrm>
          <a:prstGeom prst="rect">
            <a:avLst/>
          </a:prstGeom>
          <a:noFill/>
          <a:ln/>
        </p:spPr>
        <p:txBody>
          <a:bodyPr wrap="square" lIns="0" tIns="0" rIns="0" bIns="0" rtlCol="0" anchor="ctr"/>
          <a:lstStyle/>
          <a:p>
            <a:pPr marL="0" indent="0">
              <a:buNone/>
            </a:pPr>
            <a:r>
              <a:rPr lang="en-US" sz="1350" b="1" dirty="0">
                <a:solidFill>
                  <a:srgbClr val="1F2D36"/>
                </a:solidFill>
                <a:latin typeface="Calibri" pitchFamily="34" charset="0"/>
                <a:ea typeface="Calibri" pitchFamily="34" charset="-122"/>
                <a:cs typeface="Calibri" pitchFamily="34" charset="-120"/>
              </a:rPr>
              <a:t>Exploración y prototipos</a:t>
            </a:r>
            <a:endParaRPr lang="en-US" sz="1350" dirty="0"/>
          </a:p>
        </p:txBody>
      </p:sp>
      <p:sp>
        <p:nvSpPr>
          <p:cNvPr id="25" name="Text 23"/>
          <p:cNvSpPr txBox="1"/>
          <p:nvPr/>
        </p:nvSpPr>
        <p:spPr>
          <a:xfrm>
            <a:off x="6894576" y="3703320"/>
            <a:ext cx="4389120" cy="384048"/>
          </a:xfrm>
          <a:prstGeom prst="rect">
            <a:avLst/>
          </a:prstGeom>
          <a:noFill/>
          <a:ln/>
        </p:spPr>
        <p:txBody>
          <a:bodyPr wrap="square" lIns="0" tIns="0" rIns="0" bIns="0" rtlCol="0" anchor="t"/>
          <a:lstStyle/>
          <a:p>
            <a:pPr marL="0" indent="0">
              <a:lnSpc>
                <a:spcPts val="1500"/>
              </a:lnSpc>
              <a:buNone/>
            </a:pPr>
            <a:r>
              <a:rPr lang="en-US" sz="1150" dirty="0">
                <a:solidFill>
                  <a:srgbClr val="6B7C87"/>
                </a:solidFill>
                <a:latin typeface="Calibri" pitchFamily="34" charset="0"/>
                <a:ea typeface="Calibri" pitchFamily="34" charset="-122"/>
                <a:cs typeface="Calibri" pitchFamily="34" charset="-120"/>
              </a:rPr>
              <a:t>Especificar lo que todavía no entendés es trabajo perdido.</a:t>
            </a:r>
            <a:endParaRPr lang="en-US" sz="1150" dirty="0"/>
          </a:p>
        </p:txBody>
      </p:sp>
      <p:sp>
        <p:nvSpPr>
          <p:cNvPr id="26" name="Shape 24"/>
          <p:cNvSpPr/>
          <p:nvPr/>
        </p:nvSpPr>
        <p:spPr>
          <a:xfrm>
            <a:off x="6592824" y="4407408"/>
            <a:ext cx="146304" cy="146304"/>
          </a:xfrm>
          <a:prstGeom prst="ellipse">
            <a:avLst/>
          </a:prstGeom>
          <a:solidFill>
            <a:srgbClr val="E08A3C"/>
          </a:solidFill>
          <a:ln/>
        </p:spPr>
        <p:txBody>
          <a:bodyPr/>
          <a:lstStyle/>
          <a:p>
            <a:endParaRPr lang="es-AR"/>
          </a:p>
        </p:txBody>
      </p:sp>
      <p:sp>
        <p:nvSpPr>
          <p:cNvPr id="27" name="Text 25"/>
          <p:cNvSpPr txBox="1"/>
          <p:nvPr/>
        </p:nvSpPr>
        <p:spPr>
          <a:xfrm>
            <a:off x="6894576" y="4315968"/>
            <a:ext cx="4389120" cy="292608"/>
          </a:xfrm>
          <a:prstGeom prst="rect">
            <a:avLst/>
          </a:prstGeom>
          <a:noFill/>
          <a:ln/>
        </p:spPr>
        <p:txBody>
          <a:bodyPr wrap="square" lIns="0" tIns="0" rIns="0" bIns="0" rtlCol="0" anchor="ctr"/>
          <a:lstStyle/>
          <a:p>
            <a:pPr marL="0" indent="0">
              <a:buNone/>
            </a:pPr>
            <a:r>
              <a:rPr lang="en-US" sz="1350" b="1" dirty="0">
                <a:solidFill>
                  <a:srgbClr val="1F2D36"/>
                </a:solidFill>
                <a:latin typeface="Calibri" pitchFamily="34" charset="0"/>
                <a:ea typeface="Calibri" pitchFamily="34" charset="-122"/>
                <a:cs typeface="Calibri" pitchFamily="34" charset="-120"/>
              </a:rPr>
              <a:t>Presupuesto de tokens ajustado</a:t>
            </a:r>
            <a:endParaRPr lang="en-US" sz="1350" dirty="0"/>
          </a:p>
        </p:txBody>
      </p:sp>
      <p:sp>
        <p:nvSpPr>
          <p:cNvPr id="28" name="Text 26"/>
          <p:cNvSpPr txBox="1"/>
          <p:nvPr/>
        </p:nvSpPr>
        <p:spPr>
          <a:xfrm>
            <a:off x="6894576" y="4617720"/>
            <a:ext cx="4389120" cy="384048"/>
          </a:xfrm>
          <a:prstGeom prst="rect">
            <a:avLst/>
          </a:prstGeom>
          <a:noFill/>
          <a:ln/>
        </p:spPr>
        <p:txBody>
          <a:bodyPr wrap="square" lIns="0" tIns="0" rIns="0" bIns="0" rtlCol="0" anchor="t"/>
          <a:lstStyle/>
          <a:p>
            <a:pPr marL="0" indent="0">
              <a:lnSpc>
                <a:spcPts val="1500"/>
              </a:lnSpc>
              <a:buNone/>
            </a:pPr>
            <a:r>
              <a:rPr lang="en-US" sz="1150" dirty="0">
                <a:solidFill>
                  <a:srgbClr val="6B7C87"/>
                </a:solidFill>
                <a:latin typeface="Calibri" pitchFamily="34" charset="0"/>
                <a:ea typeface="Calibri" pitchFamily="34" charset="-122"/>
                <a:cs typeface="Calibri" pitchFamily="34" charset="-120"/>
              </a:rPr>
              <a:t>El flujo completo consume bastante más que un prompt.</a:t>
            </a:r>
            <a:endParaRPr lang="en-US" sz="1150" dirty="0"/>
          </a:p>
        </p:txBody>
      </p:sp>
      <p:sp>
        <p:nvSpPr>
          <p:cNvPr id="29" name="Shape 27"/>
          <p:cNvSpPr/>
          <p:nvPr/>
        </p:nvSpPr>
        <p:spPr>
          <a:xfrm>
            <a:off x="6592824" y="5321808"/>
            <a:ext cx="146304" cy="146304"/>
          </a:xfrm>
          <a:prstGeom prst="ellipse">
            <a:avLst/>
          </a:prstGeom>
          <a:solidFill>
            <a:srgbClr val="E08A3C"/>
          </a:solidFill>
          <a:ln/>
        </p:spPr>
        <p:txBody>
          <a:bodyPr/>
          <a:lstStyle/>
          <a:p>
            <a:endParaRPr lang="es-AR"/>
          </a:p>
        </p:txBody>
      </p:sp>
      <p:sp>
        <p:nvSpPr>
          <p:cNvPr id="30" name="Text 28"/>
          <p:cNvSpPr txBox="1"/>
          <p:nvPr/>
        </p:nvSpPr>
        <p:spPr>
          <a:xfrm>
            <a:off x="6894576" y="5230368"/>
            <a:ext cx="4389120" cy="292608"/>
          </a:xfrm>
          <a:prstGeom prst="rect">
            <a:avLst/>
          </a:prstGeom>
          <a:noFill/>
          <a:ln/>
        </p:spPr>
        <p:txBody>
          <a:bodyPr wrap="square" lIns="0" tIns="0" rIns="0" bIns="0" rtlCol="0" anchor="ctr"/>
          <a:lstStyle/>
          <a:p>
            <a:pPr marL="0" indent="0">
              <a:buNone/>
            </a:pPr>
            <a:r>
              <a:rPr lang="en-US" sz="1350" b="1" dirty="0">
                <a:solidFill>
                  <a:srgbClr val="1F2D36"/>
                </a:solidFill>
                <a:latin typeface="Calibri" pitchFamily="34" charset="0"/>
                <a:ea typeface="Calibri" pitchFamily="34" charset="-122"/>
                <a:cs typeface="Calibri" pitchFamily="34" charset="-120"/>
              </a:rPr>
              <a:t>Specs vagas</a:t>
            </a:r>
            <a:endParaRPr lang="en-US" sz="1350" dirty="0"/>
          </a:p>
        </p:txBody>
      </p:sp>
      <p:sp>
        <p:nvSpPr>
          <p:cNvPr id="31" name="Text 29"/>
          <p:cNvSpPr txBox="1"/>
          <p:nvPr/>
        </p:nvSpPr>
        <p:spPr>
          <a:xfrm>
            <a:off x="6894576" y="5532120"/>
            <a:ext cx="4389120" cy="384048"/>
          </a:xfrm>
          <a:prstGeom prst="rect">
            <a:avLst/>
          </a:prstGeom>
          <a:noFill/>
          <a:ln/>
        </p:spPr>
        <p:txBody>
          <a:bodyPr wrap="square" lIns="0" tIns="0" rIns="0" bIns="0" rtlCol="0" anchor="t"/>
          <a:lstStyle/>
          <a:p>
            <a:pPr marL="0" indent="0">
              <a:lnSpc>
                <a:spcPts val="1500"/>
              </a:lnSpc>
              <a:buNone/>
            </a:pPr>
            <a:r>
              <a:rPr lang="en-US" sz="1150" dirty="0">
                <a:solidFill>
                  <a:srgbClr val="6B7C87"/>
                </a:solidFill>
                <a:latin typeface="Calibri" pitchFamily="34" charset="0"/>
                <a:ea typeface="Calibri" pitchFamily="34" charset="-122"/>
                <a:cs typeface="Calibri" pitchFamily="34" charset="-120"/>
              </a:rPr>
              <a:t>Si la spec es floja, el plan también. Basura entra, basura sale.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32B"/>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0A896"/>
                </a:solidFill>
                <a:latin typeface="Calibri" pitchFamily="34" charset="0"/>
                <a:ea typeface="Calibri" pitchFamily="34" charset="-122"/>
                <a:cs typeface="Calibri" pitchFamily="34" charset="-120"/>
              </a:rPr>
              <a:t>PRÓXIMO PASO</a:t>
            </a:r>
            <a:endParaRPr lang="en-US" sz="1100" dirty="0"/>
          </a:p>
        </p:txBody>
      </p:sp>
      <p:sp>
        <p:nvSpPr>
          <p:cNvPr id="3" name="Text 1"/>
          <p:cNvSpPr txBox="1"/>
          <p:nvPr/>
        </p:nvSpPr>
        <p:spPr>
          <a:xfrm>
            <a:off x="548640" y="384048"/>
            <a:ext cx="11094415" cy="6858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Cómo lo probamos</a:t>
            </a:r>
            <a:endParaRPr lang="en-US" sz="3400" dirty="0"/>
          </a:p>
        </p:txBody>
      </p:sp>
      <p:sp>
        <p:nvSpPr>
          <p:cNvPr id="4" name="Shape 2"/>
          <p:cNvSpPr/>
          <p:nvPr/>
        </p:nvSpPr>
        <p:spPr>
          <a:xfrm>
            <a:off x="548640" y="1627632"/>
            <a:ext cx="6035040" cy="3703320"/>
          </a:xfrm>
          <a:prstGeom prst="roundRect">
            <a:avLst>
              <a:gd name="adj" fmla="val 1481"/>
            </a:avLst>
          </a:prstGeom>
          <a:solidFill>
            <a:srgbClr val="1F333D"/>
          </a:solidFill>
          <a:ln/>
        </p:spPr>
        <p:txBody>
          <a:bodyPr/>
          <a:lstStyle/>
          <a:p>
            <a:endParaRPr lang="es-AR"/>
          </a:p>
        </p:txBody>
      </p:sp>
      <p:sp>
        <p:nvSpPr>
          <p:cNvPr id="5" name="Text 3"/>
          <p:cNvSpPr txBox="1"/>
          <p:nvPr/>
        </p:nvSpPr>
        <p:spPr>
          <a:xfrm>
            <a:off x="960120" y="1901952"/>
            <a:ext cx="4572000" cy="256032"/>
          </a:xfrm>
          <a:prstGeom prst="rect">
            <a:avLst/>
          </a:prstGeom>
          <a:noFill/>
          <a:ln/>
        </p:spPr>
        <p:txBody>
          <a:bodyPr wrap="square" lIns="0" tIns="0" rIns="0" bIns="0" rtlCol="0" anchor="ctr"/>
          <a:lstStyle/>
          <a:p>
            <a:pPr marL="0" indent="0">
              <a:buNone/>
            </a:pPr>
            <a:r>
              <a:rPr lang="en-US" sz="1000" b="1" kern="0" spc="200" dirty="0">
                <a:solidFill>
                  <a:srgbClr val="6B7C87"/>
                </a:solidFill>
                <a:latin typeface="Calibri" pitchFamily="34" charset="0"/>
                <a:ea typeface="Calibri" pitchFamily="34" charset="-122"/>
                <a:cs typeface="Calibri" pitchFamily="34" charset="-120"/>
              </a:rPr>
              <a:t>TERMINAL</a:t>
            </a:r>
            <a:endParaRPr lang="en-US" sz="1000" dirty="0"/>
          </a:p>
        </p:txBody>
      </p:sp>
      <p:sp>
        <p:nvSpPr>
          <p:cNvPr id="6" name="Text 4"/>
          <p:cNvSpPr txBox="1"/>
          <p:nvPr/>
        </p:nvSpPr>
        <p:spPr>
          <a:xfrm>
            <a:off x="960120" y="2331720"/>
            <a:ext cx="5349240" cy="2834640"/>
          </a:xfrm>
          <a:prstGeom prst="rect">
            <a:avLst/>
          </a:prstGeom>
          <a:noFill/>
          <a:ln/>
        </p:spPr>
        <p:txBody>
          <a:bodyPr wrap="square" lIns="0" tIns="0" rIns="0" bIns="0" rtlCol="0" anchor="t"/>
          <a:lstStyle/>
          <a:p>
            <a:pPr marL="0" indent="0">
              <a:lnSpc>
                <a:spcPts val="2000"/>
              </a:lnSpc>
              <a:buNone/>
            </a:pPr>
            <a:r>
              <a:rPr lang="en-US" sz="1200" dirty="0">
                <a:solidFill>
                  <a:srgbClr val="00A896"/>
                </a:solidFill>
                <a:latin typeface="Courier New" pitchFamily="34" charset="0"/>
                <a:ea typeface="Courier New" pitchFamily="34" charset="-122"/>
                <a:cs typeface="Courier New" pitchFamily="34" charset="-120"/>
              </a:rPr>
              <a:t>uv tool install specify-cli \</a:t>
            </a:r>
            <a:endParaRPr lang="en-US" sz="1200" dirty="0"/>
          </a:p>
          <a:p>
            <a:pPr marL="0" indent="0">
              <a:lnSpc>
                <a:spcPts val="2000"/>
              </a:lnSpc>
              <a:buNone/>
            </a:pPr>
            <a:r>
              <a:rPr lang="en-US" sz="1200" dirty="0">
                <a:solidFill>
                  <a:srgbClr val="00A896"/>
                </a:solidFill>
                <a:latin typeface="Courier New" pitchFamily="34" charset="0"/>
                <a:ea typeface="Courier New" pitchFamily="34" charset="-122"/>
                <a:cs typeface="Courier New" pitchFamily="34" charset="-120"/>
              </a:rPr>
              <a:t>  --from git+https://github.com/\</a:t>
            </a:r>
            <a:endParaRPr lang="en-US" sz="1200" dirty="0"/>
          </a:p>
          <a:p>
            <a:pPr marL="0" indent="0">
              <a:lnSpc>
                <a:spcPts val="2000"/>
              </a:lnSpc>
              <a:buNone/>
            </a:pPr>
            <a:r>
              <a:rPr lang="en-US" sz="1200" dirty="0">
                <a:solidFill>
                  <a:srgbClr val="00A896"/>
                </a:solidFill>
                <a:latin typeface="Courier New" pitchFamily="34" charset="0"/>
                <a:ea typeface="Courier New" pitchFamily="34" charset="-122"/>
                <a:cs typeface="Courier New" pitchFamily="34" charset="-120"/>
              </a:rPr>
              <a:t>  github/spec-kit.git</a:t>
            </a:r>
            <a:endParaRPr lang="en-US" sz="1200" dirty="0"/>
          </a:p>
          <a:p>
            <a:pPr marL="0" indent="0">
              <a:lnSpc>
                <a:spcPts val="2000"/>
              </a:lnSpc>
              <a:buNone/>
            </a:pPr>
            <a:endParaRPr lang="en-US" sz="1200" dirty="0"/>
          </a:p>
          <a:p>
            <a:pPr marL="0" indent="0">
              <a:lnSpc>
                <a:spcPts val="2000"/>
              </a:lnSpc>
              <a:buNone/>
            </a:pPr>
            <a:r>
              <a:rPr lang="en-US" sz="1200" dirty="0">
                <a:solidFill>
                  <a:srgbClr val="FFFFFF"/>
                </a:solidFill>
                <a:latin typeface="Courier New" pitchFamily="34" charset="0"/>
                <a:ea typeface="Courier New" pitchFamily="34" charset="-122"/>
                <a:cs typeface="Courier New" pitchFamily="34" charset="-120"/>
              </a:rPr>
              <a:t>specify init piloto</a:t>
            </a:r>
            <a:endParaRPr lang="en-US" sz="1200" dirty="0"/>
          </a:p>
          <a:p>
            <a:pPr marL="0" indent="0">
              <a:lnSpc>
                <a:spcPts val="2000"/>
              </a:lnSpc>
              <a:buNone/>
            </a:pPr>
            <a:r>
              <a:rPr lang="en-US" sz="1200" dirty="0">
                <a:solidFill>
                  <a:srgbClr val="FFFFFF"/>
                </a:solidFill>
                <a:latin typeface="Courier New" pitchFamily="34" charset="0"/>
                <a:ea typeface="Courier New" pitchFamily="34" charset="-122"/>
                <a:cs typeface="Courier New" pitchFamily="34" charset="-120"/>
              </a:rPr>
              <a:t>specify integration list</a:t>
            </a:r>
            <a:endParaRPr lang="en-US" sz="1200" dirty="0"/>
          </a:p>
          <a:p>
            <a:pPr marL="0" indent="0">
              <a:lnSpc>
                <a:spcPts val="2000"/>
              </a:lnSpc>
              <a:buNone/>
            </a:pPr>
            <a:endParaRPr lang="en-US" sz="1200" dirty="0"/>
          </a:p>
          <a:p>
            <a:pPr marL="0" indent="0">
              <a:lnSpc>
                <a:spcPts val="2000"/>
              </a:lnSpc>
              <a:buNone/>
            </a:pPr>
            <a:r>
              <a:rPr lang="en-US" sz="1200" dirty="0">
                <a:solidFill>
                  <a:srgbClr val="E08A3C"/>
                </a:solidFill>
                <a:latin typeface="Courier New" pitchFamily="34" charset="0"/>
                <a:ea typeface="Courier New" pitchFamily="34" charset="-122"/>
                <a:cs typeface="Courier New" pitchFamily="34" charset="-120"/>
              </a:rPr>
              <a:t>/speckit-constitution ...</a:t>
            </a:r>
            <a:endParaRPr lang="en-US" sz="1200" dirty="0"/>
          </a:p>
          <a:p>
            <a:pPr marL="0" indent="0">
              <a:lnSpc>
                <a:spcPts val="2000"/>
              </a:lnSpc>
              <a:buNone/>
            </a:pPr>
            <a:r>
              <a:rPr lang="en-US" sz="1200" dirty="0">
                <a:solidFill>
                  <a:srgbClr val="FFFFFF"/>
                </a:solidFill>
                <a:latin typeface="Courier New" pitchFamily="34" charset="0"/>
                <a:ea typeface="Courier New" pitchFamily="34" charset="-122"/>
                <a:cs typeface="Courier New" pitchFamily="34" charset="-120"/>
              </a:rPr>
              <a:t>/speckit-specify ...</a:t>
            </a:r>
            <a:endParaRPr lang="en-US" sz="1200" dirty="0"/>
          </a:p>
        </p:txBody>
      </p:sp>
      <p:sp>
        <p:nvSpPr>
          <p:cNvPr id="7" name="Shape 5"/>
          <p:cNvSpPr/>
          <p:nvPr/>
        </p:nvSpPr>
        <p:spPr>
          <a:xfrm>
            <a:off x="6903720" y="1865376"/>
            <a:ext cx="402336" cy="402336"/>
          </a:xfrm>
          <a:prstGeom prst="ellipse">
            <a:avLst/>
          </a:prstGeom>
          <a:solidFill>
            <a:srgbClr val="00A896"/>
          </a:solidFill>
          <a:ln/>
        </p:spPr>
        <p:txBody>
          <a:bodyPr/>
          <a:lstStyle/>
          <a:p>
            <a:endParaRPr lang="es-AR"/>
          </a:p>
        </p:txBody>
      </p:sp>
      <p:sp>
        <p:nvSpPr>
          <p:cNvPr id="8" name="Text 6"/>
          <p:cNvSpPr txBox="1"/>
          <p:nvPr/>
        </p:nvSpPr>
        <p:spPr>
          <a:xfrm>
            <a:off x="6903720" y="186537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7498080" y="1810512"/>
            <a:ext cx="4114800" cy="32918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Elegir una feature piloto</a:t>
            </a:r>
            <a:endParaRPr lang="en-US" sz="1600" dirty="0"/>
          </a:p>
        </p:txBody>
      </p:sp>
      <p:sp>
        <p:nvSpPr>
          <p:cNvPr id="10" name="Text 8"/>
          <p:cNvSpPr txBox="1"/>
          <p:nvPr/>
        </p:nvSpPr>
        <p:spPr>
          <a:xfrm>
            <a:off x="7498080" y="2176272"/>
            <a:ext cx="4114800" cy="594360"/>
          </a:xfrm>
          <a:prstGeom prst="rect">
            <a:avLst/>
          </a:prstGeom>
          <a:noFill/>
          <a:ln/>
        </p:spPr>
        <p:txBody>
          <a:bodyPr wrap="square" lIns="0" tIns="0" rIns="0" bIns="0" rtlCol="0" anchor="t"/>
          <a:lstStyle/>
          <a:p>
            <a:pPr marL="0" indent="0">
              <a:lnSpc>
                <a:spcPts val="1600"/>
              </a:lnSpc>
              <a:buNone/>
            </a:pPr>
            <a:r>
              <a:rPr lang="en-US" sz="1200" dirty="0">
                <a:solidFill>
                  <a:srgbClr val="8FA3AA"/>
                </a:solidFill>
                <a:latin typeface="Calibri" pitchFamily="34" charset="0"/>
                <a:ea typeface="Calibri" pitchFamily="34" charset="-122"/>
                <a:cs typeface="Calibri" pitchFamily="34" charset="-120"/>
              </a:rPr>
              <a:t>Mediana, con reglas de negocio reales. Ni el fix de una línea ni el rediseño del core.</a:t>
            </a:r>
            <a:endParaRPr lang="en-US" sz="1200" dirty="0"/>
          </a:p>
        </p:txBody>
      </p:sp>
      <p:sp>
        <p:nvSpPr>
          <p:cNvPr id="11" name="Shape 9"/>
          <p:cNvSpPr/>
          <p:nvPr/>
        </p:nvSpPr>
        <p:spPr>
          <a:xfrm>
            <a:off x="6903720" y="3099816"/>
            <a:ext cx="402336" cy="402336"/>
          </a:xfrm>
          <a:prstGeom prst="ellipse">
            <a:avLst/>
          </a:prstGeom>
          <a:solidFill>
            <a:srgbClr val="00A896"/>
          </a:solidFill>
          <a:ln/>
        </p:spPr>
        <p:txBody>
          <a:bodyPr/>
          <a:lstStyle/>
          <a:p>
            <a:endParaRPr lang="es-AR"/>
          </a:p>
        </p:txBody>
      </p:sp>
      <p:sp>
        <p:nvSpPr>
          <p:cNvPr id="12" name="Text 10"/>
          <p:cNvSpPr txBox="1"/>
          <p:nvPr/>
        </p:nvSpPr>
        <p:spPr>
          <a:xfrm>
            <a:off x="6903720" y="309981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7498080" y="3044952"/>
            <a:ext cx="4114800" cy="32918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Escribir la constitución corta</a:t>
            </a:r>
            <a:endParaRPr lang="en-US" sz="1600" dirty="0"/>
          </a:p>
        </p:txBody>
      </p:sp>
      <p:sp>
        <p:nvSpPr>
          <p:cNvPr id="14" name="Text 12"/>
          <p:cNvSpPr txBox="1"/>
          <p:nvPr/>
        </p:nvSpPr>
        <p:spPr>
          <a:xfrm>
            <a:off x="7498080" y="3410712"/>
            <a:ext cx="4114800" cy="594360"/>
          </a:xfrm>
          <a:prstGeom prst="rect">
            <a:avLst/>
          </a:prstGeom>
          <a:noFill/>
          <a:ln/>
        </p:spPr>
        <p:txBody>
          <a:bodyPr wrap="square" lIns="0" tIns="0" rIns="0" bIns="0" rtlCol="0" anchor="t"/>
          <a:lstStyle/>
          <a:p>
            <a:pPr marL="0" indent="0">
              <a:lnSpc>
                <a:spcPts val="1600"/>
              </a:lnSpc>
              <a:buNone/>
            </a:pPr>
            <a:r>
              <a:rPr lang="en-US" sz="1200" dirty="0">
                <a:solidFill>
                  <a:srgbClr val="8FA3AA"/>
                </a:solidFill>
                <a:latin typeface="Calibri" pitchFamily="34" charset="0"/>
                <a:ea typeface="Calibri" pitchFamily="34" charset="-122"/>
                <a:cs typeface="Calibri" pitchFamily="34" charset="-120"/>
              </a:rPr>
              <a:t>Cinco principios. Crecer solo cuando una violación real lo justifique.</a:t>
            </a:r>
            <a:endParaRPr lang="en-US" sz="1200" dirty="0"/>
          </a:p>
        </p:txBody>
      </p:sp>
      <p:sp>
        <p:nvSpPr>
          <p:cNvPr id="15" name="Shape 13"/>
          <p:cNvSpPr/>
          <p:nvPr/>
        </p:nvSpPr>
        <p:spPr>
          <a:xfrm>
            <a:off x="6903720" y="4334256"/>
            <a:ext cx="402336" cy="402336"/>
          </a:xfrm>
          <a:prstGeom prst="ellipse">
            <a:avLst/>
          </a:prstGeom>
          <a:solidFill>
            <a:srgbClr val="00A896"/>
          </a:solidFill>
          <a:ln/>
        </p:spPr>
        <p:txBody>
          <a:bodyPr/>
          <a:lstStyle/>
          <a:p>
            <a:endParaRPr lang="es-AR"/>
          </a:p>
        </p:txBody>
      </p:sp>
      <p:sp>
        <p:nvSpPr>
          <p:cNvPr id="16" name="Text 14"/>
          <p:cNvSpPr txBox="1"/>
          <p:nvPr/>
        </p:nvSpPr>
        <p:spPr>
          <a:xfrm>
            <a:off x="6903720" y="4334256"/>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7498080" y="4279392"/>
            <a:ext cx="4114800" cy="329184"/>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Medir la vuelta completa</a:t>
            </a:r>
            <a:endParaRPr lang="en-US" sz="1600" dirty="0"/>
          </a:p>
        </p:txBody>
      </p:sp>
      <p:sp>
        <p:nvSpPr>
          <p:cNvPr id="18" name="Text 16"/>
          <p:cNvSpPr txBox="1"/>
          <p:nvPr/>
        </p:nvSpPr>
        <p:spPr>
          <a:xfrm>
            <a:off x="7498080" y="4645152"/>
            <a:ext cx="4114800" cy="594360"/>
          </a:xfrm>
          <a:prstGeom prst="rect">
            <a:avLst/>
          </a:prstGeom>
          <a:noFill/>
          <a:ln/>
        </p:spPr>
        <p:txBody>
          <a:bodyPr wrap="square" lIns="0" tIns="0" rIns="0" bIns="0" rtlCol="0" anchor="t"/>
          <a:lstStyle/>
          <a:p>
            <a:pPr marL="0" indent="0">
              <a:lnSpc>
                <a:spcPts val="1600"/>
              </a:lnSpc>
              <a:buNone/>
            </a:pPr>
            <a:r>
              <a:rPr lang="en-US" sz="1200" dirty="0">
                <a:solidFill>
                  <a:srgbClr val="8FA3AA"/>
                </a:solidFill>
                <a:latin typeface="Calibri" pitchFamily="34" charset="0"/>
                <a:ea typeface="Calibri" pitchFamily="34" charset="-122"/>
                <a:cs typeface="Calibri" pitchFamily="34" charset="-120"/>
              </a:rPr>
              <a:t>Tiempo, tokens y retrabajo frente a nuestro flujo actual. Decidir con datos.</a:t>
            </a:r>
            <a:endParaRPr lang="en-US" sz="1200" dirty="0"/>
          </a:p>
        </p:txBody>
      </p:sp>
      <p:sp>
        <p:nvSpPr>
          <p:cNvPr id="19" name="Text 17"/>
          <p:cNvSpPr txBox="1"/>
          <p:nvPr/>
        </p:nvSpPr>
        <p:spPr>
          <a:xfrm>
            <a:off x="548640" y="5760720"/>
            <a:ext cx="11091672" cy="320040"/>
          </a:xfrm>
          <a:prstGeom prst="rect">
            <a:avLst/>
          </a:prstGeom>
          <a:noFill/>
          <a:ln/>
        </p:spPr>
        <p:txBody>
          <a:bodyPr wrap="square" lIns="0" tIns="0" rIns="0" bIns="0" rtlCol="0" anchor="ctr"/>
          <a:lstStyle/>
          <a:p>
            <a:pPr marL="0" indent="0">
              <a:buNone/>
            </a:pPr>
            <a:r>
              <a:rPr lang="en-US" sz="1150" dirty="0">
                <a:solidFill>
                  <a:srgbClr val="6B7C87"/>
                </a:solidFill>
                <a:latin typeface="Courier New" pitchFamily="34" charset="0"/>
                <a:ea typeface="Courier New" pitchFamily="34" charset="-122"/>
                <a:cs typeface="Courier New" pitchFamily="34" charset="-120"/>
              </a:rPr>
              <a:t>github.com/github/spec-kit   ·   github.github.com/spec-kit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232B"/>
        </a:solidFill>
        <a:effectLst/>
      </p:bgPr>
    </p:bg>
    <p:spTree>
      <p:nvGrpSpPr>
        <p:cNvPr id="1" name=""/>
        <p:cNvGrpSpPr/>
        <p:nvPr/>
      </p:nvGrpSpPr>
      <p:grpSpPr>
        <a:xfrm>
          <a:off x="0" y="0"/>
          <a:ext cx="0" cy="0"/>
          <a:chOff x="0" y="0"/>
          <a:chExt cx="0" cy="0"/>
        </a:xfrm>
      </p:grpSpPr>
      <p:sp>
        <p:nvSpPr>
          <p:cNvPr id="2" name="Text 0"/>
          <p:cNvSpPr txBox="1"/>
          <p:nvPr/>
        </p:nvSpPr>
        <p:spPr>
          <a:xfrm>
            <a:off x="548640" y="128016"/>
            <a:ext cx="11094415" cy="256032"/>
          </a:xfrm>
          <a:prstGeom prst="rect">
            <a:avLst/>
          </a:prstGeom>
          <a:noFill/>
          <a:ln/>
        </p:spPr>
        <p:txBody>
          <a:bodyPr wrap="square" lIns="0" tIns="0" rIns="0" bIns="0" rtlCol="0" anchor="ctr"/>
          <a:lstStyle/>
          <a:p>
            <a:pPr marL="0" indent="0">
              <a:buNone/>
            </a:pPr>
            <a:r>
              <a:rPr lang="en-US" sz="1100" b="1" kern="0" spc="200" dirty="0">
                <a:solidFill>
                  <a:srgbClr val="00A896"/>
                </a:solidFill>
                <a:latin typeface="Calibri" pitchFamily="34" charset="0"/>
                <a:ea typeface="Calibri" pitchFamily="34" charset="-122"/>
                <a:cs typeface="Calibri" pitchFamily="34" charset="-120"/>
              </a:rPr>
              <a:t>CIERRE</a:t>
            </a:r>
            <a:endParaRPr lang="en-US" sz="1100" dirty="0"/>
          </a:p>
        </p:txBody>
      </p:sp>
      <p:sp>
        <p:nvSpPr>
          <p:cNvPr id="3" name="Text 1"/>
          <p:cNvSpPr txBox="1"/>
          <p:nvPr/>
        </p:nvSpPr>
        <p:spPr>
          <a:xfrm>
            <a:off x="822960" y="2011680"/>
            <a:ext cx="4206240" cy="914400"/>
          </a:xfrm>
          <a:prstGeom prst="rect">
            <a:avLst/>
          </a:prstGeom>
          <a:noFill/>
          <a:ln/>
        </p:spPr>
        <p:txBody>
          <a:bodyPr wrap="square" lIns="0" tIns="0" rIns="0" bIns="0" rtlCol="0" anchor="ctr"/>
          <a:lstStyle/>
          <a:p>
            <a:pPr marL="0" indent="0">
              <a:buNone/>
            </a:pPr>
            <a:r>
              <a:rPr lang="en-US" sz="4600" b="1" dirty="0">
                <a:solidFill>
                  <a:srgbClr val="FFFFFF"/>
                </a:solidFill>
                <a:latin typeface="Calibri" pitchFamily="34" charset="0"/>
                <a:ea typeface="Calibri" pitchFamily="34" charset="-122"/>
                <a:cs typeface="Calibri" pitchFamily="34" charset="-120"/>
              </a:rPr>
              <a:t>¿Preguntas?</a:t>
            </a:r>
            <a:endParaRPr lang="en-US" sz="4600" dirty="0"/>
          </a:p>
        </p:txBody>
      </p:sp>
      <p:sp>
        <p:nvSpPr>
          <p:cNvPr id="4" name="Text 2"/>
          <p:cNvSpPr txBox="1"/>
          <p:nvPr/>
        </p:nvSpPr>
        <p:spPr>
          <a:xfrm>
            <a:off x="822960" y="3108960"/>
            <a:ext cx="4023360" cy="1371600"/>
          </a:xfrm>
          <a:prstGeom prst="rect">
            <a:avLst/>
          </a:prstGeom>
          <a:noFill/>
          <a:ln/>
        </p:spPr>
        <p:txBody>
          <a:bodyPr wrap="square" lIns="0" tIns="0" rIns="0" bIns="0" rtlCol="0" anchor="t"/>
          <a:lstStyle/>
          <a:p>
            <a:pPr marL="0" indent="0">
              <a:lnSpc>
                <a:spcPts val="2100"/>
              </a:lnSpc>
              <a:buNone/>
            </a:pPr>
            <a:r>
              <a:rPr lang="en-US" sz="1400" dirty="0">
                <a:solidFill>
                  <a:srgbClr val="8FA3AA"/>
                </a:solidFill>
                <a:latin typeface="Calibri" pitchFamily="34" charset="0"/>
                <a:ea typeface="Calibri" pitchFamily="34" charset="-122"/>
                <a:cs typeface="Calibri" pitchFamily="34" charset="-120"/>
              </a:rPr>
              <a:t>Lo que quede abierto lo llevamos a la feature piloto: es más barato responderlo con una vuelta real que discutirlo en abstracto.</a:t>
            </a:r>
            <a:endParaRPr lang="en-US" sz="1400" dirty="0"/>
          </a:p>
        </p:txBody>
      </p:sp>
      <p:sp>
        <p:nvSpPr>
          <p:cNvPr id="5" name="Shape 3"/>
          <p:cNvSpPr/>
          <p:nvPr/>
        </p:nvSpPr>
        <p:spPr>
          <a:xfrm>
            <a:off x="5394960" y="1417320"/>
            <a:ext cx="6245352" cy="4709160"/>
          </a:xfrm>
          <a:prstGeom prst="roundRect">
            <a:avLst>
              <a:gd name="adj" fmla="val 1165"/>
            </a:avLst>
          </a:prstGeom>
          <a:solidFill>
            <a:srgbClr val="1F333D"/>
          </a:solidFill>
          <a:ln/>
        </p:spPr>
        <p:txBody>
          <a:bodyPr/>
          <a:lstStyle/>
          <a:p>
            <a:endParaRPr lang="es-AR"/>
          </a:p>
        </p:txBody>
      </p:sp>
      <p:sp>
        <p:nvSpPr>
          <p:cNvPr id="6" name="Text 4"/>
          <p:cNvSpPr txBox="1"/>
          <p:nvPr/>
        </p:nvSpPr>
        <p:spPr>
          <a:xfrm>
            <a:off x="5806440" y="1691640"/>
            <a:ext cx="5394960" cy="256032"/>
          </a:xfrm>
          <a:prstGeom prst="rect">
            <a:avLst/>
          </a:prstGeom>
          <a:noFill/>
          <a:ln/>
        </p:spPr>
        <p:txBody>
          <a:bodyPr wrap="square" lIns="0" tIns="0" rIns="0" bIns="0" rtlCol="0" anchor="ctr"/>
          <a:lstStyle/>
          <a:p>
            <a:pPr marL="0" indent="0">
              <a:buNone/>
            </a:pPr>
            <a:r>
              <a:rPr lang="en-US" sz="1000" b="1" kern="0" spc="200" dirty="0">
                <a:solidFill>
                  <a:srgbClr val="00A896"/>
                </a:solidFill>
                <a:latin typeface="Calibri" pitchFamily="34" charset="0"/>
                <a:ea typeface="Calibri" pitchFamily="34" charset="-122"/>
                <a:cs typeface="Calibri" pitchFamily="34" charset="-120"/>
              </a:rPr>
              <a:t>REFERENCIAS</a:t>
            </a:r>
            <a:endParaRPr lang="en-US" sz="1000" dirty="0"/>
          </a:p>
        </p:txBody>
      </p:sp>
      <p:sp>
        <p:nvSpPr>
          <p:cNvPr id="7" name="Text 5"/>
          <p:cNvSpPr txBox="1"/>
          <p:nvPr/>
        </p:nvSpPr>
        <p:spPr>
          <a:xfrm>
            <a:off x="5806440" y="2148840"/>
            <a:ext cx="539496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Quickstart — los dos caminos y el orden de los gates</a:t>
            </a:r>
            <a:endParaRPr lang="en-US" sz="1250" dirty="0"/>
          </a:p>
        </p:txBody>
      </p:sp>
      <p:sp>
        <p:nvSpPr>
          <p:cNvPr id="8" name="Text 6"/>
          <p:cNvSpPr txBox="1"/>
          <p:nvPr/>
        </p:nvSpPr>
        <p:spPr>
          <a:xfrm>
            <a:off x="5806440" y="2441448"/>
            <a:ext cx="5394960" cy="384048"/>
          </a:xfrm>
          <a:prstGeom prst="rect">
            <a:avLst/>
          </a:prstGeom>
          <a:noFill/>
          <a:ln/>
        </p:spPr>
        <p:txBody>
          <a:bodyPr wrap="square" lIns="0" tIns="0" rIns="0" bIns="0" rtlCol="0" anchor="t"/>
          <a:lstStyle/>
          <a:p>
            <a:pPr marL="0" indent="0">
              <a:lnSpc>
                <a:spcPts val="1300"/>
              </a:lnSpc>
              <a:buNone/>
            </a:pPr>
            <a:r>
              <a:rPr lang="en-US" sz="950" dirty="0">
                <a:solidFill>
                  <a:srgbClr val="00A896"/>
                </a:solidFill>
                <a:latin typeface="Courier New" pitchFamily="34" charset="0"/>
                <a:ea typeface="Courier New" pitchFamily="34" charset="-122"/>
                <a:cs typeface="Courier New" pitchFamily="34" charset="-120"/>
              </a:rPr>
              <a:t>github.github.com/spec-kit/quickstart.html</a:t>
            </a:r>
            <a:endParaRPr lang="en-US" sz="950" dirty="0"/>
          </a:p>
        </p:txBody>
      </p:sp>
      <p:sp>
        <p:nvSpPr>
          <p:cNvPr id="9" name="Text 7"/>
          <p:cNvSpPr txBox="1"/>
          <p:nvPr/>
        </p:nvSpPr>
        <p:spPr>
          <a:xfrm>
            <a:off x="5806440" y="3108960"/>
            <a:ext cx="539496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Repositorio oficial del toolkit</a:t>
            </a:r>
            <a:endParaRPr lang="en-US" sz="1250" dirty="0"/>
          </a:p>
        </p:txBody>
      </p:sp>
      <p:sp>
        <p:nvSpPr>
          <p:cNvPr id="10" name="Text 8"/>
          <p:cNvSpPr txBox="1"/>
          <p:nvPr/>
        </p:nvSpPr>
        <p:spPr>
          <a:xfrm>
            <a:off x="5806440" y="3401568"/>
            <a:ext cx="5394960" cy="384048"/>
          </a:xfrm>
          <a:prstGeom prst="rect">
            <a:avLst/>
          </a:prstGeom>
          <a:noFill/>
          <a:ln/>
        </p:spPr>
        <p:txBody>
          <a:bodyPr wrap="square" lIns="0" tIns="0" rIns="0" bIns="0" rtlCol="0" anchor="t"/>
          <a:lstStyle/>
          <a:p>
            <a:pPr marL="0" indent="0">
              <a:lnSpc>
                <a:spcPts val="1300"/>
              </a:lnSpc>
              <a:buNone/>
            </a:pPr>
            <a:r>
              <a:rPr lang="en-US" sz="950" dirty="0">
                <a:solidFill>
                  <a:srgbClr val="00A896"/>
                </a:solidFill>
                <a:latin typeface="Courier New" pitchFamily="34" charset="0"/>
                <a:ea typeface="Courier New" pitchFamily="34" charset="-122"/>
                <a:cs typeface="Courier New" pitchFamily="34" charset="-120"/>
              </a:rPr>
              <a:t>github.com/github/spec-kit</a:t>
            </a:r>
            <a:endParaRPr lang="en-US" sz="950" dirty="0"/>
          </a:p>
        </p:txBody>
      </p:sp>
      <p:sp>
        <p:nvSpPr>
          <p:cNvPr id="11" name="Text 9"/>
          <p:cNvSpPr txBox="1"/>
          <p:nvPr/>
        </p:nvSpPr>
        <p:spPr>
          <a:xfrm>
            <a:off x="5806440" y="4069080"/>
            <a:ext cx="539496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Referencia de comandos, extensiones y presets</a:t>
            </a:r>
            <a:endParaRPr lang="en-US" sz="1250" dirty="0"/>
          </a:p>
        </p:txBody>
      </p:sp>
      <p:sp>
        <p:nvSpPr>
          <p:cNvPr id="12" name="Text 10"/>
          <p:cNvSpPr txBox="1"/>
          <p:nvPr/>
        </p:nvSpPr>
        <p:spPr>
          <a:xfrm>
            <a:off x="5806440" y="4361688"/>
            <a:ext cx="5394960" cy="384048"/>
          </a:xfrm>
          <a:prstGeom prst="rect">
            <a:avLst/>
          </a:prstGeom>
          <a:noFill/>
          <a:ln/>
        </p:spPr>
        <p:txBody>
          <a:bodyPr wrap="square" lIns="0" tIns="0" rIns="0" bIns="0" rtlCol="0" anchor="t"/>
          <a:lstStyle/>
          <a:p>
            <a:pPr marL="0" indent="0">
              <a:lnSpc>
                <a:spcPts val="1300"/>
              </a:lnSpc>
              <a:buNone/>
            </a:pPr>
            <a:r>
              <a:rPr lang="en-US" sz="950" dirty="0">
                <a:solidFill>
                  <a:srgbClr val="00A896"/>
                </a:solidFill>
                <a:latin typeface="Courier New" pitchFamily="34" charset="0"/>
                <a:ea typeface="Courier New" pitchFamily="34" charset="-122"/>
                <a:cs typeface="Courier New" pitchFamily="34" charset="-120"/>
              </a:rPr>
              <a:t>github.github.com/spec-kit/reference/overview.html</a:t>
            </a:r>
            <a:endParaRPr lang="en-US" sz="950" dirty="0"/>
          </a:p>
        </p:txBody>
      </p:sp>
      <p:sp>
        <p:nvSpPr>
          <p:cNvPr id="13" name="Text 11"/>
          <p:cNvSpPr txBox="1"/>
          <p:nvPr/>
        </p:nvSpPr>
        <p:spPr>
          <a:xfrm>
            <a:off x="5806440" y="5029200"/>
            <a:ext cx="5394960" cy="2743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GitHub Blog — el anuncio y la filosofía de SDD</a:t>
            </a:r>
            <a:endParaRPr lang="en-US" sz="1250" dirty="0"/>
          </a:p>
        </p:txBody>
      </p:sp>
      <p:sp>
        <p:nvSpPr>
          <p:cNvPr id="14" name="Text 12"/>
          <p:cNvSpPr txBox="1"/>
          <p:nvPr/>
        </p:nvSpPr>
        <p:spPr>
          <a:xfrm>
            <a:off x="5806440" y="5321808"/>
            <a:ext cx="5394960" cy="384048"/>
          </a:xfrm>
          <a:prstGeom prst="rect">
            <a:avLst/>
          </a:prstGeom>
          <a:noFill/>
          <a:ln/>
        </p:spPr>
        <p:txBody>
          <a:bodyPr wrap="square" lIns="0" tIns="0" rIns="0" bIns="0" rtlCol="0" anchor="t"/>
          <a:lstStyle/>
          <a:p>
            <a:pPr marL="0" indent="0">
              <a:lnSpc>
                <a:spcPts val="1300"/>
              </a:lnSpc>
              <a:buNone/>
            </a:pPr>
            <a:r>
              <a:rPr lang="en-US" sz="950" dirty="0">
                <a:solidFill>
                  <a:srgbClr val="00A896"/>
                </a:solidFill>
                <a:latin typeface="Courier New" pitchFamily="34" charset="0"/>
                <a:ea typeface="Courier New" pitchFamily="34" charset="-122"/>
                <a:cs typeface="Courier New" pitchFamily="34" charset="-120"/>
              </a:rPr>
              <a:t>github.blog/ai-and-ml/generative-ai/spec-driven-</a:t>
            </a:r>
            <a:endParaRPr lang="en-US" sz="950" dirty="0"/>
          </a:p>
          <a:p>
            <a:pPr marL="0" indent="0">
              <a:lnSpc>
                <a:spcPts val="1300"/>
              </a:lnSpc>
              <a:buNone/>
            </a:pPr>
            <a:r>
              <a:rPr lang="en-US" sz="950" dirty="0">
                <a:solidFill>
                  <a:srgbClr val="00A896"/>
                </a:solidFill>
                <a:latin typeface="Courier New" pitchFamily="34" charset="0"/>
                <a:ea typeface="Courier New" pitchFamily="34" charset="-122"/>
                <a:cs typeface="Courier New" pitchFamily="34" charset="-120"/>
              </a:rPr>
              <a:t>development-with-ai-get-started-with-a-new-open-source-toolkit/</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1970</Words>
  <Application>Microsoft Office PowerPoint</Application>
  <PresentationFormat>Panorámica</PresentationFormat>
  <Paragraphs>272</Paragraphs>
  <Slides>13</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Spec-Driven Development con Spec Kit</dc:title>
  <dc:subject>PptxGenJS Presentation</dc:subject>
  <dc:creator>Raul</dc:creator>
  <cp:lastModifiedBy>Raul Basilio Palavecino</cp:lastModifiedBy>
  <cp:revision>2</cp:revision>
  <dcterms:created xsi:type="dcterms:W3CDTF">2026-09-04T17:39:41Z</dcterms:created>
  <dcterms:modified xsi:type="dcterms:W3CDTF">2026-09-08T17:52:30Z</dcterms:modified>
</cp:coreProperties>
</file>